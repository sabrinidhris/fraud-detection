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72" r:id="rId5"/>
    <p:sldId id="260" r:id="rId6"/>
    <p:sldId id="257" r:id="rId7"/>
    <p:sldId id="261" r:id="rId8"/>
    <p:sldId id="258" r:id="rId9"/>
    <p:sldId id="259" r:id="rId10"/>
    <p:sldId id="262" r:id="rId11"/>
    <p:sldId id="263" r:id="rId12"/>
    <p:sldId id="264" r:id="rId13"/>
    <p:sldId id="267" r:id="rId14"/>
    <p:sldId id="265" r:id="rId15"/>
    <p:sldId id="266" r:id="rId16"/>
    <p:sldId id="268" r:id="rId17"/>
    <p:sldId id="276" r:id="rId18"/>
    <p:sldId id="270" r:id="rId19"/>
    <p:sldId id="269" r:id="rId20"/>
    <p:sldId id="274" r:id="rId21"/>
    <p:sldId id="275" r:id="rId22"/>
    <p:sldId id="271"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Class</c:v>
                </c:pt>
              </c:strCache>
            </c:strRef>
          </c:tx>
          <c:spPr>
            <a:solidFill>
              <a:schemeClr val="accent1"/>
            </a:solidFill>
            <a:ln w="9525" cap="flat">
              <a:solidFill>
                <a:srgbClr val="F9F9F9"/>
              </a:solidFill>
              <a:prstDash val="solid"/>
              <a:round/>
            </a:ln>
            <a:effectLst/>
          </c:spPr>
          <c:explosion val="0"/>
          <c:dPt>
            <c:idx val="0"/>
            <c:bubble3D val="0"/>
            <c:spPr>
              <a:solidFill>
                <a:srgbClr val="1E2761"/>
              </a:solidFill>
              <a:effectLst/>
            </c:spPr>
          </c:dPt>
          <c:dPt>
            <c:idx val="1"/>
            <c:bubble3D val="0"/>
            <c:spPr>
              <a:solidFill>
                <a:srgbClr val="C0392B"/>
              </a:solidFill>
              <a:effectLst/>
            </c:spPr>
          </c:dPt>
          <c:dLbls>
            <c:dLbl>
              <c:idx val="0"/>
              <c:layout/>
              <c:numFmt formatCode="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showLegendKey val="0"/>
              <c:showVal val="0"/>
              <c:showCatName val="0"/>
              <c:showSerName val="0"/>
              <c:showPercent val="0"/>
              <c:showBubbleSize val="0"/>
              <c:extLst>
                <c:ext xmlns:c15="http://schemas.microsoft.com/office/drawing/2012/chart" uri="{CE6537A1-D6FC-4f65-9D91-7224C49458BB}"/>
              </c:extLst>
            </c:dLbl>
            <c:dLbl>
              <c:idx val="1"/>
              <c:layout/>
              <c:numFmt formatCode="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showLegendKey val="0"/>
              <c:showVal val="0"/>
              <c:showCatName val="0"/>
              <c:showSerName val="0"/>
              <c:showPercent val="0"/>
              <c:showBubbleSize val="0"/>
              <c:extLst>
                <c:ext xmlns:c15="http://schemas.microsoft.com/office/drawing/2012/chart" uri="{CE6537A1-D6FC-4f65-9D91-7224C49458BB}"/>
              </c:extLst>
            </c:dLbl>
            <c:numFmt formatCode="0.0%"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rgbClr val="000000"/>
                    </a:solidFill>
                    <a:latin typeface="Arial" panose="020B0604020202020204"/>
                    <a:ea typeface="+mn-ea"/>
                    <a:cs typeface="+mn-cs"/>
                  </a:defRPr>
                </a:pPr>
              </a:p>
            </c:txP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Sheet1!$A$2:$A$3</c:f>
              <c:strCache>
                <c:ptCount val="2"/>
                <c:pt idx="0">
                  <c:v>Not Fraud</c:v>
                </c:pt>
                <c:pt idx="1">
                  <c:v>Fraud</c:v>
                </c:pt>
              </c:strCache>
            </c:strRef>
          </c:cat>
          <c:val>
            <c:numRef>
              <c:f>Sheet1!$B$2:$B$3</c:f>
              <c:numCache>
                <c:formatCode>General</c:formatCode>
                <c:ptCount val="2"/>
                <c:pt idx="0">
                  <c:v>89.75</c:v>
                </c:pt>
                <c:pt idx="1">
                  <c:v>10.25</c:v>
                </c:pt>
              </c:numCache>
            </c:numRef>
          </c:val>
        </c:ser>
        <c:dLbls>
          <c:showLegendKey val="0"/>
          <c:showVal val="0"/>
          <c:showCatName val="1"/>
          <c:showSerName val="0"/>
          <c:showPercent val="1"/>
          <c:showBubbleSize val="0"/>
          <c:showLeaderLines val="1"/>
        </c:dLbls>
        <c:firstSliceAng val="0"/>
        <c:holeSize val="55"/>
      </c:doughnutChart>
      <c:spPr>
        <a:noFill/>
        <a:ln>
          <a:noFill/>
        </a:ln>
        <a:effectLst/>
      </c:spPr>
    </c:plotArea>
    <c:legend>
      <c:legendPos val="b"/>
      <c:layout/>
      <c:overlay val="0"/>
      <c:txPr>
        <a:bodyPr rot="0" spcFirstLastPara="0" vertOverflow="ellipsis" vert="horz" wrap="square" anchor="ctr" anchorCtr="1"/>
        <a:lstStyle/>
        <a:p>
          <a:pPr>
            <a:defRPr lang="en-US" sz="11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13d42b48-dec8-4715-9032-9f099f2da8c9}"/>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Count</c:v>
                </c:pt>
              </c:strCache>
            </c:strRef>
          </c:tx>
          <c:spPr>
            <a:solidFill>
              <a:srgbClr val="1E2761"/>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1B1F3B"/>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CASH_OUT</c:v>
                </c:pt>
                <c:pt idx="1">
                  <c:v>PAYMENT</c:v>
                </c:pt>
                <c:pt idx="2">
                  <c:v>CASH_IN</c:v>
                </c:pt>
                <c:pt idx="3">
                  <c:v>TRANSFER</c:v>
                </c:pt>
                <c:pt idx="4">
                  <c:v>DEBIT</c:v>
                </c:pt>
              </c:strCache>
            </c:strRef>
          </c:cat>
          <c:val>
            <c:numRef>
              <c:f>Sheet1!$B$2:$B$6</c:f>
              <c:numCache>
                <c:formatCode>General</c:formatCode>
                <c:ptCount val="5"/>
                <c:pt idx="0">
                  <c:v>4200</c:v>
                </c:pt>
                <c:pt idx="1">
                  <c:v>3800</c:v>
                </c:pt>
                <c:pt idx="2">
                  <c:v>2000</c:v>
                </c:pt>
                <c:pt idx="3">
                  <c:v>900</c:v>
                </c:pt>
                <c:pt idx="4">
                  <c:v>242</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1B1F3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b"/>
        <c:majorGridlines>
          <c:spPr>
            <a:ln w="12700" cap="flat" cmpd="sng" algn="ctr">
              <a:solidFill>
                <a:srgbClr val="E5E7F0"/>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5A6285"/>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7b44de6a-a97b-4b93-a910-e30c16c54f14}"/>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300" b="0" i="0" u="none" strike="noStrike" kern="1200" baseline="0">
                <a:solidFill>
                  <a:srgbClr val="1B1F3B"/>
                </a:solidFill>
                <a:latin typeface="Calibri" panose="020F0502020204030204"/>
                <a:ea typeface="+mn-ea"/>
                <a:cs typeface="+mn-cs"/>
              </a:defRPr>
            </a:pPr>
            <a:r>
              <a:rPr sz="1300" b="0" i="0" u="none" strike="noStrike">
                <a:solidFill>
                  <a:srgbClr val="1B1F3B"/>
                </a:solidFill>
                <a:latin typeface="Calibri" panose="020F0502020204030204"/>
              </a:rPr>
              <a:t>Fraud Rate by Transaction Type (%)</a:t>
            </a:r>
            <a:endParaRPr sz="1300" b="0" i="0" u="none" strike="noStrike">
              <a:solidFill>
                <a:srgbClr val="1B1F3B"/>
              </a:solidFill>
              <a:latin typeface="Calibri" panose="020F0502020204030204"/>
            </a:endParaRPr>
          </a:p>
        </c:rich>
      </c:tx>
      <c:layout/>
      <c:overlay val="0"/>
    </c:title>
    <c:autoTitleDeleted val="0"/>
    <c:plotArea>
      <c:layout/>
      <c:barChart>
        <c:barDir val="col"/>
        <c:grouping val="clustered"/>
        <c:varyColors val="0"/>
        <c:ser>
          <c:idx val="0"/>
          <c:order val="0"/>
          <c:tx>
            <c:strRef>
              <c:f>Sheet1!$B$1</c:f>
              <c:strCache>
                <c:ptCount val="1"/>
                <c:pt idx="0">
                  <c:v>Fraud Rate %</c:v>
                </c:pt>
              </c:strCache>
            </c:strRef>
          </c:tx>
          <c:spPr>
            <a:solidFill>
              <a:srgbClr val="1E2761"/>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1B1F3B"/>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TRANSFER</c:v>
                </c:pt>
                <c:pt idx="1">
                  <c:v>CASH_OUT</c:v>
                </c:pt>
                <c:pt idx="2">
                  <c:v>CASH_IN</c:v>
                </c:pt>
                <c:pt idx="3">
                  <c:v>PAYMENT</c:v>
                </c:pt>
                <c:pt idx="4">
                  <c:v>DEBIT</c:v>
                </c:pt>
              </c:strCache>
            </c:strRef>
          </c:cat>
          <c:val>
            <c:numRef>
              <c:f>Sheet1!$B$2:$B$6</c:f>
              <c:numCache>
                <c:formatCode>General</c:formatCode>
                <c:ptCount val="5"/>
                <c:pt idx="0">
                  <c:v>49.1</c:v>
                </c:pt>
                <c:pt idx="1">
                  <c:v>16.7</c:v>
                </c:pt>
                <c:pt idx="2">
                  <c:v>0</c:v>
                </c:pt>
                <c:pt idx="3">
                  <c:v>0</c:v>
                </c:pt>
                <c:pt idx="4">
                  <c:v>0</c:v>
                </c:pt>
              </c:numCache>
            </c:numRef>
          </c:val>
        </c:ser>
        <c:dLbls>
          <c:showLegendKey val="0"/>
          <c:showVal val="1"/>
          <c:showCatName val="0"/>
          <c:showSerName val="0"/>
          <c:showPercent val="0"/>
          <c:showBubbleSize val="0"/>
        </c:dLbls>
        <c:gapWidth val="4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50" b="0" i="0" u="none" strike="noStrike" kern="1200" baseline="0">
                <a:solidFill>
                  <a:srgbClr val="1B1F3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12700" cap="flat" cmpd="sng" algn="ctr">
              <a:solidFill>
                <a:srgbClr val="E5E7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5A6285"/>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9a460fa5-c3b9-4416-872a-30fa3d6beda7}"/>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300" b="0" i="0" u="none" strike="noStrike" kern="1200" baseline="0">
                <a:solidFill>
                  <a:srgbClr val="1B1F3B"/>
                </a:solidFill>
                <a:latin typeface="Calibri" panose="020F0502020204030204"/>
                <a:ea typeface="+mn-ea"/>
                <a:cs typeface="+mn-cs"/>
              </a:defRPr>
            </a:pPr>
            <a:r>
              <a:rPr sz="1300" b="0" i="0" u="none" strike="noStrike">
                <a:solidFill>
                  <a:srgbClr val="1B1F3B"/>
                </a:solidFill>
                <a:latin typeface="Calibri" panose="020F0502020204030204"/>
              </a:rPr>
              <a:t>Fraud-Class (1) Metrics by Model</a:t>
            </a:r>
            <a:endParaRPr sz="1300" b="0" i="0" u="none" strike="noStrike">
              <a:solidFill>
                <a:srgbClr val="1B1F3B"/>
              </a:solidFill>
              <a:latin typeface="Calibri" panose="020F0502020204030204"/>
            </a:endParaRP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5A6285"/>
            </a:solidFill>
            <a:effectLst/>
          </c:spPr>
          <c:invertIfNegative val="0"/>
          <c:dLbls>
            <c:dLbl>
              <c:idx val="0"/>
              <c:layout/>
              <c:tx>
                <c:rich>
                  <a:bodyPr rot="0" spcFirstLastPara="0" vertOverflow="ellipsis" vert="horz" wrap="square" lIns="38100" tIns="19050" rIns="38100" bIns="19050" anchor="ctr" anchorCtr="1"/>
                  <a:lstStyle/>
                  <a:p>
                    <a:pPr defTabSz="914400">
                      <a:defRPr lang="en-US" sz="900" b="0" i="0" u="none" strike="noStrike" kern="1200" baseline="0">
                        <a:solidFill>
                          <a:srgbClr val="1B1F3B"/>
                        </a:solidFill>
                        <a:latin typeface="Arial" panose="020B0604020202020204"/>
                        <a:ea typeface="+mn-ea"/>
                        <a:cs typeface="+mn-cs"/>
                      </a:defRPr>
                    </a:pPr>
                    <a:r>
                      <a:t>0.90.</a:t>
                    </a:r>
                  </a:p>
                </c:rich>
              </c:tx>
              <c:dLblPos val="outEnd"/>
              <c:showLegendKey val="0"/>
              <c:showVal val="1"/>
              <c:showCatName val="0"/>
              <c:showSerName val="0"/>
              <c:showPercent val="0"/>
              <c:showBubbleSize val="0"/>
              <c:extLst>
                <c:ext xmlns:c15="http://schemas.microsoft.com/office/drawing/2012/chart" uri="{CE6537A1-D6FC-4f65-9D91-7224C49458BB}"/>
              </c:extLst>
            </c:dLbl>
            <c:dLbl>
              <c:idx val="1"/>
              <c:layout/>
              <c:tx>
                <c:rich>
                  <a:bodyPr rot="0" spcFirstLastPara="0" vertOverflow="ellipsis" vert="horz" wrap="square" lIns="38100" tIns="19050" rIns="38100" bIns="19050" anchor="ctr" anchorCtr="1"/>
                  <a:lstStyle/>
                  <a:p>
                    <a:pPr defTabSz="914400">
                      <a:defRPr lang="en-US" sz="900" b="0" i="0" u="none" strike="noStrike" kern="1200" baseline="0">
                        <a:solidFill>
                          <a:srgbClr val="1B1F3B"/>
                        </a:solidFill>
                        <a:latin typeface="Arial" panose="020B0604020202020204"/>
                        <a:ea typeface="+mn-ea"/>
                        <a:cs typeface="+mn-cs"/>
                      </a:defRPr>
                    </a:pPr>
                    <a:r>
                      <a:t>0.89</a:t>
                    </a:r>
                  </a:p>
                </c:rich>
              </c:tx>
              <c:dLblPos val="outEnd"/>
              <c:showLegendKey val="0"/>
              <c:showVal val="1"/>
              <c:showCatName val="0"/>
              <c:showSerName val="0"/>
              <c:showPercent val="0"/>
              <c:showBubbleSize val="0"/>
              <c:extLst>
                <c:ext xmlns:c15="http://schemas.microsoft.com/office/drawing/2012/chart" uri="{CE6537A1-D6FC-4f65-9D91-7224C49458BB}"/>
              </c:extLst>
            </c:dLbl>
            <c:dLbl>
              <c:idx val="2"/>
              <c:layout/>
              <c:tx>
                <c:rich>
                  <a:bodyPr rot="0" spcFirstLastPara="0" vertOverflow="ellipsis" vert="horz" wrap="square" lIns="38100" tIns="19050" rIns="38100" bIns="19050" anchor="ctr" anchorCtr="1"/>
                  <a:lstStyle/>
                  <a:p>
                    <a:pPr defTabSz="914400">
                      <a:defRPr lang="en-US" sz="900" b="0" i="0" u="none" strike="noStrike" kern="1200" baseline="0">
                        <a:solidFill>
                          <a:srgbClr val="1B1F3B"/>
                        </a:solidFill>
                        <a:latin typeface="Arial" panose="020B0604020202020204"/>
                        <a:ea typeface="+mn-ea"/>
                        <a:cs typeface="+mn-cs"/>
                      </a:defRPr>
                    </a:pPr>
                    <a:r>
                      <a:t>0.94</a:t>
                    </a:r>
                  </a:p>
                </c:rich>
              </c:tx>
              <c:dLblPos val="outEnd"/>
              <c:showLegendKey val="0"/>
              <c:showVal val="1"/>
              <c:showCatName val="0"/>
              <c:showSerName val="0"/>
              <c:showPercent val="0"/>
              <c:showBubbleSize val="0"/>
              <c:extLst>
                <c:ext xmlns:c15="http://schemas.microsoft.com/office/drawing/2012/chart" uri="{CE6537A1-D6FC-4f65-9D91-7224C49458BB}"/>
              </c:extLst>
            </c:dLbl>
            <c:numFmt formatCode="0.0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1B1F3B"/>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Logistic Regression</c:v>
                </c:pt>
                <c:pt idx="1">
                  <c:v>Random Forest</c:v>
                </c:pt>
                <c:pt idx="2">
                  <c:v>XGBoost</c:v>
                </c:pt>
              </c:strCache>
            </c:strRef>
          </c:cat>
          <c:val>
            <c:numRef>
              <c:f>Sheet1!$B$2:$B$4</c:f>
              <c:numCache>
                <c:formatCode>General</c:formatCode>
                <c:ptCount val="3"/>
                <c:pt idx="0">
                  <c:v>0.9</c:v>
                </c:pt>
                <c:pt idx="1">
                  <c:v>0.89</c:v>
                </c:pt>
                <c:pt idx="2">
                  <c:v>0.94</c:v>
                </c:pt>
              </c:numCache>
            </c:numRef>
          </c:val>
        </c:ser>
        <c:ser>
          <c:idx val="1"/>
          <c:order val="1"/>
          <c:tx>
            <c:strRef>
              <c:f>Sheet1!$C$1</c:f>
              <c:strCache>
                <c:ptCount val="1"/>
                <c:pt idx="0">
                  <c:v>Recall</c:v>
                </c:pt>
              </c:strCache>
            </c:strRef>
          </c:tx>
          <c:spPr>
            <a:solidFill>
              <a:srgbClr val="1E2761"/>
            </a:solidFill>
            <a:effectLst/>
          </c:spPr>
          <c:invertIfNegative val="0"/>
          <c:dPt>
            <c:idx val="0"/>
            <c:invertIfNegative val="0"/>
            <c:bubble3D val="0"/>
            <c:explosion val="0"/>
          </c:dPt>
          <c:dLbls>
            <c:dLbl>
              <c:idx val="0"/>
              <c:layout/>
              <c:tx>
                <c:rich>
                  <a:bodyPr rot="0" spcFirstLastPara="0" vertOverflow="ellipsis" vert="horz" wrap="square" lIns="38100" tIns="19050" rIns="38100" bIns="19050" anchor="ctr" anchorCtr="1"/>
                  <a:lstStyle/>
                  <a:p>
                    <a:pPr defTabSz="914400">
                      <a:defRPr lang="en-US" sz="900" b="0" i="0" u="none" strike="noStrike" kern="1200" baseline="0">
                        <a:solidFill>
                          <a:srgbClr val="1B1F3B"/>
                        </a:solidFill>
                        <a:latin typeface="Arial" panose="020B0604020202020204"/>
                        <a:ea typeface="+mn-ea"/>
                        <a:cs typeface="+mn-cs"/>
                      </a:defRPr>
                    </a:pPr>
                    <a:r>
                      <a:t>0.36</a:t>
                    </a:r>
                  </a:p>
                </c:rich>
              </c:tx>
              <c:dLblPos val="outEnd"/>
              <c:showLegendKey val="0"/>
              <c:showVal val="1"/>
              <c:showCatName val="0"/>
              <c:showSerName val="0"/>
              <c:showPercent val="0"/>
              <c:showBubbleSize val="0"/>
              <c:extLst>
                <c:ext xmlns:c15="http://schemas.microsoft.com/office/drawing/2012/chart" uri="{CE6537A1-D6FC-4f65-9D91-7224C49458BB}"/>
              </c:extLst>
            </c:dLbl>
            <c:numFmt formatCode="0.0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1B1F3B"/>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Logistic Regression</c:v>
                </c:pt>
                <c:pt idx="1">
                  <c:v>Random Forest</c:v>
                </c:pt>
                <c:pt idx="2">
                  <c:v>XGBoost</c:v>
                </c:pt>
              </c:strCache>
            </c:strRef>
          </c:cat>
          <c:val>
            <c:numRef>
              <c:f>Sheet1!$C$2:$C$4</c:f>
              <c:numCache>
                <c:formatCode>General</c:formatCode>
                <c:ptCount val="3"/>
                <c:pt idx="0">
                  <c:v>0.36</c:v>
                </c:pt>
                <c:pt idx="1">
                  <c:v>0.98</c:v>
                </c:pt>
                <c:pt idx="2">
                  <c:v>0.97</c:v>
                </c:pt>
              </c:numCache>
            </c:numRef>
          </c:val>
        </c:ser>
        <c:ser>
          <c:idx val="2"/>
          <c:order val="2"/>
          <c:tx>
            <c:strRef>
              <c:f>Sheet1!$D$1</c:f>
              <c:strCache>
                <c:ptCount val="1"/>
                <c:pt idx="0">
                  <c:v>F1-Score</c:v>
                </c:pt>
              </c:strCache>
            </c:strRef>
          </c:tx>
          <c:spPr>
            <a:solidFill>
              <a:srgbClr val="6B7BC4"/>
            </a:solidFill>
            <a:effectLst/>
          </c:spPr>
          <c:invertIfNegative val="0"/>
          <c:dLbls>
            <c:dLbl>
              <c:idx val="0"/>
              <c:layout/>
              <c:tx>
                <c:rich>
                  <a:bodyPr rot="0" spcFirstLastPara="0" vertOverflow="ellipsis" vert="horz" wrap="square" lIns="38100" tIns="19050" rIns="38100" bIns="19050" anchor="ctr" anchorCtr="1"/>
                  <a:lstStyle/>
                  <a:p>
                    <a:pPr defTabSz="914400">
                      <a:defRPr lang="en-US" sz="900" b="0" i="0" u="none" strike="noStrike" kern="1200" baseline="0">
                        <a:solidFill>
                          <a:srgbClr val="1B1F3B"/>
                        </a:solidFill>
                        <a:latin typeface="Arial" panose="020B0604020202020204"/>
                        <a:ea typeface="+mn-ea"/>
                        <a:cs typeface="+mn-cs"/>
                      </a:defRPr>
                    </a:pPr>
                    <a:r>
                      <a:t>0.51</a:t>
                    </a:r>
                  </a:p>
                </c:rich>
              </c:tx>
              <c:dLblPos val="outEnd"/>
              <c:showLegendKey val="0"/>
              <c:showVal val="1"/>
              <c:showCatName val="0"/>
              <c:showSerName val="0"/>
              <c:showPercent val="0"/>
              <c:showBubbleSize val="0"/>
              <c:extLst>
                <c:ext xmlns:c15="http://schemas.microsoft.com/office/drawing/2012/chart" uri="{CE6537A1-D6FC-4f65-9D91-7224C49458BB}"/>
              </c:extLst>
            </c:dLbl>
            <c:dLbl>
              <c:idx val="1"/>
              <c:layout/>
              <c:tx>
                <c:rich>
                  <a:bodyPr rot="0" spcFirstLastPara="0" vertOverflow="ellipsis" vert="horz" wrap="square" lIns="38100" tIns="19050" rIns="38100" bIns="19050" anchor="ctr" anchorCtr="1"/>
                  <a:lstStyle/>
                  <a:p>
                    <a:pPr defTabSz="914400">
                      <a:defRPr lang="en-US" sz="900" b="0" i="0" u="none" strike="noStrike" kern="1200" baseline="0">
                        <a:solidFill>
                          <a:srgbClr val="1B1F3B"/>
                        </a:solidFill>
                        <a:latin typeface="Arial" panose="020B0604020202020204"/>
                        <a:ea typeface="+mn-ea"/>
                        <a:cs typeface="+mn-cs"/>
                      </a:defRPr>
                    </a:pPr>
                    <a:r>
                      <a:t>0.93</a:t>
                    </a:r>
                  </a:p>
                </c:rich>
              </c:tx>
              <c:dLblPos val="outEnd"/>
              <c:showLegendKey val="0"/>
              <c:showVal val="1"/>
              <c:showCatName val="0"/>
              <c:showSerName val="0"/>
              <c:showPercent val="0"/>
              <c:showBubbleSize val="0"/>
              <c:extLst>
                <c:ext xmlns:c15="http://schemas.microsoft.com/office/drawing/2012/chart" uri="{CE6537A1-D6FC-4f65-9D91-7224C49458BB}"/>
              </c:extLst>
            </c:dLbl>
            <c:numFmt formatCode="0.0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1B1F3B"/>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Logistic Regression</c:v>
                </c:pt>
                <c:pt idx="1">
                  <c:v>Random Forest</c:v>
                </c:pt>
                <c:pt idx="2">
                  <c:v>XGBoost</c:v>
                </c:pt>
              </c:strCache>
            </c:strRef>
          </c:cat>
          <c:val>
            <c:numRef>
              <c:f>Sheet1!$D$2:$D$4</c:f>
              <c:numCache>
                <c:formatCode>General</c:formatCode>
                <c:ptCount val="3"/>
                <c:pt idx="0">
                  <c:v>0.51</c:v>
                </c:pt>
                <c:pt idx="1">
                  <c:v>0.93</c:v>
                </c:pt>
                <c:pt idx="2">
                  <c:v>0.96</c:v>
                </c:pt>
              </c:numCache>
            </c:numRef>
          </c:val>
        </c:ser>
        <c:dLbls>
          <c:showLegendKey val="0"/>
          <c:showVal val="1"/>
          <c:showCatName val="0"/>
          <c:showSerName val="0"/>
          <c:showPercent val="0"/>
          <c:showBubbleSize val="0"/>
        </c:dLbls>
        <c:gapWidth val="43"/>
        <c:overlap val="1"/>
        <c:axId val="2094734554"/>
        <c:axId val="2094734552"/>
      </c:barChart>
      <c:catAx>
        <c:axId val="2094734554"/>
        <c:scaling>
          <c:orientation val="minMax"/>
        </c:scaling>
        <c:delete val="0"/>
        <c:axPos val="b"/>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1B1F3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1"/>
          <c:min val="0"/>
        </c:scaling>
        <c:delete val="0"/>
        <c:axPos val="l"/>
        <c:majorGridlines>
          <c:spPr>
            <a:ln w="12700" cap="flat" cmpd="sng" algn="ctr">
              <a:solidFill>
                <a:srgbClr val="E5E7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5A6285"/>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0a817223-c838-47ff-9d0d-b9f0e5923413}"/>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chart" Target="../charts/chart2.xml"/><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chart" Target="../charts/char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263080"/>
          </a:solidFill>
        </p:spPr>
      </p:sp>
      <p:sp>
        <p:nvSpPr>
          <p:cNvPr id="3" name="Shape 1"/>
          <p:cNvSpPr/>
          <p:nvPr/>
        </p:nvSpPr>
        <p:spPr>
          <a:xfrm>
            <a:off x="10972800" y="4206240"/>
            <a:ext cx="2926080" cy="2926080"/>
          </a:xfrm>
          <a:prstGeom prst="ellipse">
            <a:avLst/>
          </a:prstGeom>
          <a:solidFill>
            <a:srgbClr val="263080"/>
          </a:solidFill>
        </p:spPr>
      </p:sp>
      <p:sp>
        <p:nvSpPr>
          <p:cNvPr id="4" name="Text 2"/>
          <p:cNvSpPr/>
          <p:nvPr/>
        </p:nvSpPr>
        <p:spPr>
          <a:xfrm>
            <a:off x="822960" y="2331720"/>
            <a:ext cx="10515600" cy="914400"/>
          </a:xfrm>
          <a:prstGeom prst="rect">
            <a:avLst/>
          </a:prstGeom>
          <a:noFill/>
        </p:spPr>
        <p:txBody>
          <a:bodyPr wrap="square" lIns="0" tIns="0" rIns="0" bIns="0" rtlCol="0" anchor="ctr"/>
          <a:lstStyle/>
          <a:p>
            <a:pPr marL="0" indent="0" algn="l">
              <a:buNone/>
            </a:pPr>
            <a:r>
              <a:rPr lang="en-US" sz="4400" b="1" dirty="0">
                <a:solidFill>
                  <a:srgbClr val="FFFFFF"/>
                </a:solidFill>
                <a:latin typeface="Cambria" panose="02040503050406030204" pitchFamily="34" charset="0"/>
                <a:ea typeface="Cambria" panose="02040503050406030204" pitchFamily="34" charset="-122"/>
                <a:cs typeface="Cambria" panose="02040503050406030204" pitchFamily="34" charset="-120"/>
              </a:rPr>
              <a:t>FRAUD DETECTION</a:t>
            </a:r>
            <a:endParaRPr lang="en-US" sz="4400" dirty="0"/>
          </a:p>
        </p:txBody>
      </p:sp>
      <p:sp>
        <p:nvSpPr>
          <p:cNvPr id="5" name="Text 3"/>
          <p:cNvSpPr/>
          <p:nvPr/>
        </p:nvSpPr>
        <p:spPr>
          <a:xfrm>
            <a:off x="822960" y="3246120"/>
            <a:ext cx="9601200" cy="914400"/>
          </a:xfrm>
          <a:prstGeom prst="rect">
            <a:avLst/>
          </a:prstGeom>
          <a:noFill/>
        </p:spPr>
        <p:txBody>
          <a:bodyPr wrap="square" lIns="0" tIns="0" rIns="0" bIns="0" rtlCol="0" anchor="ctr"/>
          <a:lstStyle/>
          <a:p>
            <a:pPr marL="0" indent="0" algn="l">
              <a:lnSpc>
                <a:spcPct val="120000"/>
              </a:lnSpc>
              <a:buNone/>
            </a:pPr>
            <a:r>
              <a:rPr lang="en-US" sz="1700" dirty="0">
                <a:solidFill>
                  <a:srgbClr val="CADCFC"/>
                </a:solidFill>
                <a:latin typeface="Calibri" panose="020F0502020204030204" pitchFamily="34" charset="0"/>
                <a:ea typeface="Calibri" panose="020F0502020204030204" pitchFamily="34" charset="-122"/>
                <a:cs typeface="Calibri" panose="020F0502020204030204" pitchFamily="34" charset="-120"/>
              </a:rPr>
              <a:t>An End-to-End Machine Learning Pipeline for Detecting</a:t>
            </a:r>
            <a:endParaRPr lang="en-US" sz="1700" dirty="0"/>
          </a:p>
          <a:p>
            <a:pPr marL="0" indent="0" algn="l">
              <a:lnSpc>
                <a:spcPct val="120000"/>
              </a:lnSpc>
              <a:buNone/>
            </a:pPr>
            <a:r>
              <a:rPr lang="en-US" sz="1700" dirty="0">
                <a:solidFill>
                  <a:srgbClr val="CADCFC"/>
                </a:solidFill>
                <a:latin typeface="Calibri" panose="020F0502020204030204" pitchFamily="34" charset="0"/>
                <a:ea typeface="Calibri" panose="020F0502020204030204" pitchFamily="34" charset="-122"/>
                <a:cs typeface="Calibri" panose="020F0502020204030204" pitchFamily="34" charset="-120"/>
              </a:rPr>
              <a:t>Fraudulent Financial Transactions</a:t>
            </a:r>
            <a:endParaRPr lang="en-US" sz="1700" dirty="0"/>
          </a:p>
        </p:txBody>
      </p:sp>
      <p:sp>
        <p:nvSpPr>
          <p:cNvPr id="6" name="Shape 4"/>
          <p:cNvSpPr/>
          <p:nvPr/>
        </p:nvSpPr>
        <p:spPr>
          <a:xfrm>
            <a:off x="822960" y="4343400"/>
            <a:ext cx="1280160" cy="0"/>
          </a:xfrm>
          <a:prstGeom prst="line">
            <a:avLst/>
          </a:prstGeom>
          <a:noFill/>
          <a:ln w="31750">
            <a:solidFill>
              <a:srgbClr val="CADCFC"/>
            </a:solidFill>
            <a:prstDash val="solid"/>
          </a:ln>
        </p:spPr>
      </p:sp>
      <p:sp>
        <p:nvSpPr>
          <p:cNvPr id="7" name="Text 5"/>
          <p:cNvSpPr/>
          <p:nvPr/>
        </p:nvSpPr>
        <p:spPr>
          <a:xfrm>
            <a:off x="822960" y="4572000"/>
            <a:ext cx="7315200" cy="365760"/>
          </a:xfrm>
          <a:prstGeom prst="rect">
            <a:avLst/>
          </a:prstGeom>
          <a:noFill/>
        </p:spPr>
        <p:txBody>
          <a:bodyPr wrap="square" lIns="0" tIns="0" rIns="0" bIns="0" rtlCol="0" anchor="ctr"/>
          <a:lstStyle/>
          <a:p>
            <a:pPr marL="0" indent="0">
              <a:buNone/>
            </a:pPr>
            <a:r>
              <a:rPr lang="en-US" sz="1300" i="1" dirty="0">
                <a:solidFill>
                  <a:srgbClr val="CADCFC"/>
                </a:solidFill>
                <a:latin typeface="Calibri" panose="020F0502020204030204" pitchFamily="34" charset="0"/>
                <a:ea typeface="Calibri" panose="020F0502020204030204" pitchFamily="34" charset="-122"/>
                <a:cs typeface="Calibri" panose="020F0502020204030204" pitchFamily="34" charset="-120"/>
              </a:rPr>
              <a:t>MySQL  →  Python (Scikit-learn)  →  Streamlit</a:t>
            </a:r>
            <a:endParaRPr lang="en-US" sz="1300" dirty="0"/>
          </a:p>
        </p:txBody>
      </p:sp>
      <p:sp>
        <p:nvSpPr>
          <p:cNvPr id="8" name="Text 6"/>
          <p:cNvSpPr/>
          <p:nvPr/>
        </p:nvSpPr>
        <p:spPr>
          <a:xfrm>
            <a:off x="822960" y="5989320"/>
            <a:ext cx="5486400" cy="320040"/>
          </a:xfrm>
          <a:prstGeom prst="rect">
            <a:avLst/>
          </a:prstGeom>
          <a:noFill/>
        </p:spPr>
        <p:txBody>
          <a:bodyPr wrap="square" lIns="0" tIns="0" rIns="0" bIns="0" rtlCol="0" anchor="ctr"/>
          <a:lstStyle/>
          <a:p>
            <a:pPr marL="0" indent="0">
              <a:buNone/>
            </a:pPr>
            <a:r>
              <a:rPr lang="en-US" sz="1100" dirty="0">
                <a:solidFill>
                  <a:srgbClr val="8E9BD1"/>
                </a:solidFill>
                <a:latin typeface="Calibri" panose="020F0502020204030204" pitchFamily="34" charset="0"/>
                <a:ea typeface="Calibri" panose="020F0502020204030204" pitchFamily="34" charset="-122"/>
                <a:cs typeface="Calibri" panose="020F0502020204030204" pitchFamily="34" charset="-120"/>
              </a:rPr>
              <a:t>Presented by: LENOVO Project Team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93065" y="518160"/>
            <a:ext cx="11303000" cy="1111250"/>
          </a:xfrm>
          <a:prstGeom prst="rect">
            <a:avLst/>
          </a:prstGeom>
          <a:noFill/>
        </p:spPr>
        <p:txBody>
          <a:bodyPr wrap="square" rtlCol="0">
            <a:noAutofit/>
          </a:bodyPr>
          <a:p>
            <a:pPr algn="l"/>
            <a:r>
              <a:rPr lang="en-US" altLang="en-US" sz="4800" b="1">
                <a:solidFill>
                  <a:schemeClr val="accent1">
                    <a:lumMod val="50000"/>
                  </a:schemeClr>
                </a:solidFill>
                <a:latin typeface="+mj-lt"/>
                <a:cs typeface="+mj-lt"/>
                <a:sym typeface="+mn-ea"/>
              </a:rPr>
              <a:t>AGENDA</a:t>
            </a:r>
            <a:endParaRPr lang="en-US" altLang="en-US" sz="4800" b="1">
              <a:solidFill>
                <a:schemeClr val="accent1">
                  <a:lumMod val="50000"/>
                </a:schemeClr>
              </a:solidFill>
              <a:latin typeface="+mj-lt"/>
              <a:cs typeface="+mj-lt"/>
              <a:sym typeface="+mn-ea"/>
            </a:endParaRPr>
          </a:p>
        </p:txBody>
      </p:sp>
      <p:sp>
        <p:nvSpPr>
          <p:cNvPr id="3" name="Text Box 2"/>
          <p:cNvSpPr txBox="1"/>
          <p:nvPr/>
        </p:nvSpPr>
        <p:spPr>
          <a:xfrm>
            <a:off x="224790" y="1812925"/>
            <a:ext cx="11668125" cy="4758055"/>
          </a:xfrm>
          <a:prstGeom prst="rect">
            <a:avLst/>
          </a:prstGeom>
          <a:noFill/>
        </p:spPr>
        <p:txBody>
          <a:bodyPr wrap="square" rtlCol="0">
            <a:noAutofit/>
          </a:bodyPr>
          <a:p>
            <a:r>
              <a:rPr lang="en-US" altLang="en-US" sz="4400" b="1" u="sng">
                <a:sym typeface="+mn-ea"/>
              </a:rPr>
              <a:t>Objective</a:t>
            </a:r>
            <a:r>
              <a:rPr lang="en-US" altLang="en-US">
                <a:sym typeface="+mn-ea"/>
              </a:rPr>
              <a:t>.</a:t>
            </a:r>
            <a:endParaRPr lang="en-US" altLang="en-US"/>
          </a:p>
          <a:p>
            <a:pPr marL="285750" indent="-285750">
              <a:buFont typeface="Wingdings" panose="05000000000000000000" charset="0"/>
              <a:buChar char="Ø"/>
            </a:pPr>
            <a:r>
              <a:rPr lang="en-US" altLang="en-US" sz="2800">
                <a:sym typeface="+mn-ea"/>
              </a:rPr>
              <a:t>Data Overview. </a:t>
            </a:r>
            <a:endParaRPr lang="en-US" altLang="en-US" sz="2800"/>
          </a:p>
          <a:p>
            <a:pPr marL="285750" indent="-285750">
              <a:buFont typeface="Wingdings" panose="05000000000000000000" charset="0"/>
              <a:buChar char="Ø"/>
            </a:pPr>
            <a:r>
              <a:rPr lang="en-US" altLang="en-US" sz="2800">
                <a:sym typeface="+mn-ea"/>
              </a:rPr>
              <a:t>Exploratory Data Analysis. </a:t>
            </a:r>
            <a:endParaRPr lang="en-US" altLang="en-US" sz="2800"/>
          </a:p>
          <a:p>
            <a:pPr marL="285750" indent="-285750">
              <a:buFont typeface="Wingdings" panose="05000000000000000000" charset="0"/>
              <a:buChar char="Ø"/>
            </a:pPr>
            <a:r>
              <a:rPr lang="en-US" altLang="en-US" sz="2800">
                <a:sym typeface="+mn-ea"/>
              </a:rPr>
              <a:t>Project Workflow. </a:t>
            </a:r>
            <a:endParaRPr lang="en-US" altLang="en-US" sz="2800"/>
          </a:p>
          <a:p>
            <a:pPr marL="285750" indent="-285750">
              <a:buFont typeface="Wingdings" panose="05000000000000000000" charset="0"/>
              <a:buChar char="Ø"/>
            </a:pPr>
            <a:r>
              <a:rPr lang="en-US" altLang="en-US" sz="2800">
                <a:sym typeface="+mn-ea"/>
              </a:rPr>
              <a:t>Model Building .</a:t>
            </a:r>
            <a:endParaRPr lang="en-US" altLang="en-US" sz="2800"/>
          </a:p>
          <a:p>
            <a:pPr marL="285750" indent="-285750">
              <a:buFont typeface="Wingdings" panose="05000000000000000000" charset="0"/>
              <a:buChar char="Ø"/>
            </a:pPr>
            <a:r>
              <a:rPr lang="en-US" altLang="en-US" sz="2800">
                <a:sym typeface="+mn-ea"/>
              </a:rPr>
              <a:t>Model Evaluation. </a:t>
            </a:r>
            <a:endParaRPr lang="en-US" altLang="en-US" sz="2800"/>
          </a:p>
          <a:p>
            <a:pPr marL="285750" indent="-285750">
              <a:buFont typeface="Wingdings" panose="05000000000000000000" charset="0"/>
              <a:buChar char="Ø"/>
            </a:pPr>
            <a:r>
              <a:rPr lang="en-US" altLang="en-US" sz="2800">
                <a:sym typeface="+mn-ea"/>
              </a:rPr>
              <a:t>Data Leakage Investigation. </a:t>
            </a:r>
            <a:endParaRPr lang="en-US" altLang="en-US" sz="2800"/>
          </a:p>
          <a:p>
            <a:pPr marL="285750" indent="-285750">
              <a:buFont typeface="Wingdings" panose="05000000000000000000" charset="0"/>
              <a:buChar char="Ø"/>
            </a:pPr>
            <a:r>
              <a:rPr lang="en-US" altLang="en-US" sz="2800">
                <a:sym typeface="+mn-ea"/>
              </a:rPr>
              <a:t>Deployment. </a:t>
            </a:r>
            <a:endParaRPr lang="en-US" altLang="en-US" sz="2800"/>
          </a:p>
          <a:p>
            <a:pPr marL="285750" indent="-285750">
              <a:buFont typeface="Wingdings" panose="05000000000000000000" charset="0"/>
              <a:buChar char="Ø"/>
            </a:pPr>
            <a:r>
              <a:rPr lang="en-US" altLang="en-US" sz="2800">
                <a:sym typeface="+mn-ea"/>
              </a:rPr>
              <a:t>Key Insights &amp; Conclusion.</a:t>
            </a:r>
            <a:endParaRPr lang="en-US" altLang="en-US" sz="2800"/>
          </a:p>
          <a:p>
            <a:endParaRPr 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Objective</a:t>
            </a:r>
            <a:endParaRPr lang="en-US" sz="3200" dirty="0"/>
          </a:p>
        </p:txBody>
      </p:sp>
      <p:sp>
        <p:nvSpPr>
          <p:cNvPr id="3" name="Text 1"/>
          <p:cNvSpPr/>
          <p:nvPr/>
        </p:nvSpPr>
        <p:spPr>
          <a:xfrm>
            <a:off x="548640" y="1143000"/>
            <a:ext cx="6309360" cy="1920240"/>
          </a:xfrm>
          <a:prstGeom prst="rect">
            <a:avLst/>
          </a:prstGeom>
          <a:noFill/>
        </p:spPr>
        <p:txBody>
          <a:bodyPr wrap="square" lIns="0" tIns="0" rIns="0" bIns="0" rtlCol="0" anchor="ctr"/>
          <a:lstStyle/>
          <a:p>
            <a:pPr marL="0" indent="0">
              <a:lnSpc>
                <a:spcPct val="135000"/>
              </a:lnSpc>
              <a:buNone/>
            </a:pPr>
            <a:r>
              <a:rPr lang="en-US" sz="1500" dirty="0">
                <a:solidFill>
                  <a:srgbClr val="1B1F3B"/>
                </a:solidFill>
                <a:latin typeface="Calibri" panose="020F0502020204030204" pitchFamily="34" charset="0"/>
                <a:ea typeface="Calibri" panose="020F0502020204030204" pitchFamily="34" charset="-122"/>
                <a:cs typeface="Calibri" panose="020F0502020204030204" pitchFamily="34" charset="-120"/>
              </a:rPr>
              <a:t>Develop an end-to-end machine learning pipeline that extracts transaction data from a SQL database, analyzes and engineers features, trains multiple classifiers, and deploys the strongest model as an interactive fraud-screening tool.</a:t>
            </a:r>
            <a:endParaRPr lang="en-US" sz="1500" dirty="0"/>
          </a:p>
        </p:txBody>
      </p:sp>
      <p:sp>
        <p:nvSpPr>
          <p:cNvPr id="4" name="Shape 2"/>
          <p:cNvSpPr/>
          <p:nvPr/>
        </p:nvSpPr>
        <p:spPr>
          <a:xfrm>
            <a:off x="731520" y="3273552"/>
            <a:ext cx="457200" cy="457200"/>
          </a:xfrm>
          <a:prstGeom prst="ellipse">
            <a:avLst/>
          </a:prstGeom>
          <a:solidFill>
            <a:srgbClr val="1E2761"/>
          </a:solidFill>
        </p:spPr>
      </p:sp>
      <p:sp>
        <p:nvSpPr>
          <p:cNvPr id="5" name="Text 3"/>
          <p:cNvSpPr/>
          <p:nvPr/>
        </p:nvSpPr>
        <p:spPr>
          <a:xfrm>
            <a:off x="731520" y="3273552"/>
            <a:ext cx="457200" cy="457200"/>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6" name="Text 4"/>
          <p:cNvSpPr/>
          <p:nvPr/>
        </p:nvSpPr>
        <p:spPr>
          <a:xfrm>
            <a:off x="1371600" y="3246120"/>
            <a:ext cx="5303520" cy="32004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Improve Security</a:t>
            </a:r>
            <a:endParaRPr lang="en-US" sz="1400" dirty="0"/>
          </a:p>
        </p:txBody>
      </p:sp>
      <p:sp>
        <p:nvSpPr>
          <p:cNvPr id="7" name="Text 5"/>
          <p:cNvSpPr/>
          <p:nvPr/>
        </p:nvSpPr>
        <p:spPr>
          <a:xfrm>
            <a:off x="1371600" y="3547872"/>
            <a:ext cx="5303520" cy="365760"/>
          </a:xfrm>
          <a:prstGeom prst="rect">
            <a:avLst/>
          </a:prstGeom>
          <a:noFill/>
        </p:spPr>
        <p:txBody>
          <a:bodyPr wrap="square" lIns="0" tIns="0" rIns="0" bIns="0" rtlCol="0" anchor="ctr"/>
          <a:lstStyle/>
          <a:p>
            <a:pPr marL="0" indent="0">
              <a:buNone/>
            </a:pPr>
            <a:r>
              <a:rPr lang="en-US" sz="1150" dirty="0">
                <a:solidFill>
                  <a:srgbClr val="5A6285"/>
                </a:solidFill>
                <a:latin typeface="Calibri" panose="020F0502020204030204" pitchFamily="34" charset="0"/>
                <a:ea typeface="Calibri" panose="020F0502020204030204" pitchFamily="34" charset="-122"/>
                <a:cs typeface="Calibri" panose="020F0502020204030204" pitchFamily="34" charset="-120"/>
              </a:rPr>
              <a:t>Flag suspicious transactions before losses occur</a:t>
            </a:r>
            <a:endParaRPr lang="en-US" sz="1150" dirty="0"/>
          </a:p>
        </p:txBody>
      </p:sp>
      <p:sp>
        <p:nvSpPr>
          <p:cNvPr id="8" name="Shape 6"/>
          <p:cNvSpPr/>
          <p:nvPr/>
        </p:nvSpPr>
        <p:spPr>
          <a:xfrm>
            <a:off x="731520" y="4142232"/>
            <a:ext cx="457200" cy="457200"/>
          </a:xfrm>
          <a:prstGeom prst="ellipse">
            <a:avLst/>
          </a:prstGeom>
          <a:solidFill>
            <a:srgbClr val="1E2761"/>
          </a:solidFill>
        </p:spPr>
      </p:sp>
      <p:sp>
        <p:nvSpPr>
          <p:cNvPr id="9" name="Text 7"/>
          <p:cNvSpPr/>
          <p:nvPr/>
        </p:nvSpPr>
        <p:spPr>
          <a:xfrm>
            <a:off x="731520" y="4142232"/>
            <a:ext cx="457200" cy="457200"/>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10" name="Text 8"/>
          <p:cNvSpPr/>
          <p:nvPr/>
        </p:nvSpPr>
        <p:spPr>
          <a:xfrm>
            <a:off x="1371600" y="4114800"/>
            <a:ext cx="5303520" cy="32004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Reduce Financial Loss</a:t>
            </a:r>
            <a:endParaRPr lang="en-US" sz="1400" dirty="0"/>
          </a:p>
        </p:txBody>
      </p:sp>
      <p:sp>
        <p:nvSpPr>
          <p:cNvPr id="11" name="Text 9"/>
          <p:cNvSpPr/>
          <p:nvPr/>
        </p:nvSpPr>
        <p:spPr>
          <a:xfrm>
            <a:off x="1371600" y="4416552"/>
            <a:ext cx="5303520" cy="365760"/>
          </a:xfrm>
          <a:prstGeom prst="rect">
            <a:avLst/>
          </a:prstGeom>
          <a:noFill/>
        </p:spPr>
        <p:txBody>
          <a:bodyPr wrap="square" lIns="0" tIns="0" rIns="0" bIns="0" rtlCol="0" anchor="ctr"/>
          <a:lstStyle/>
          <a:p>
            <a:pPr marL="0" indent="0">
              <a:buNone/>
            </a:pPr>
            <a:r>
              <a:rPr lang="en-US" sz="1150" dirty="0">
                <a:solidFill>
                  <a:srgbClr val="5A6285"/>
                </a:solidFill>
                <a:latin typeface="Calibri" panose="020F0502020204030204" pitchFamily="34" charset="0"/>
                <a:ea typeface="Calibri" panose="020F0502020204030204" pitchFamily="34" charset="-122"/>
                <a:cs typeface="Calibri" panose="020F0502020204030204" pitchFamily="34" charset="-120"/>
              </a:rPr>
              <a:t>Catch fraud patterns human review would miss</a:t>
            </a:r>
            <a:endParaRPr lang="en-US" sz="1150" dirty="0"/>
          </a:p>
        </p:txBody>
      </p:sp>
      <p:sp>
        <p:nvSpPr>
          <p:cNvPr id="12" name="Shape 10"/>
          <p:cNvSpPr/>
          <p:nvPr/>
        </p:nvSpPr>
        <p:spPr>
          <a:xfrm>
            <a:off x="731520" y="5010912"/>
            <a:ext cx="457200" cy="457200"/>
          </a:xfrm>
          <a:prstGeom prst="ellipse">
            <a:avLst/>
          </a:prstGeom>
          <a:solidFill>
            <a:srgbClr val="1E2761"/>
          </a:solidFill>
        </p:spPr>
      </p:sp>
      <p:sp>
        <p:nvSpPr>
          <p:cNvPr id="13" name="Text 11"/>
          <p:cNvSpPr/>
          <p:nvPr/>
        </p:nvSpPr>
        <p:spPr>
          <a:xfrm>
            <a:off x="731520" y="5010912"/>
            <a:ext cx="457200" cy="457200"/>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14" name="Text 12"/>
          <p:cNvSpPr/>
          <p:nvPr/>
        </p:nvSpPr>
        <p:spPr>
          <a:xfrm>
            <a:off x="1371600" y="4983480"/>
            <a:ext cx="5303520" cy="32004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Real-Time Ready</a:t>
            </a:r>
            <a:endParaRPr lang="en-US" sz="1400" dirty="0"/>
          </a:p>
        </p:txBody>
      </p:sp>
      <p:sp>
        <p:nvSpPr>
          <p:cNvPr id="15" name="Text 13"/>
          <p:cNvSpPr/>
          <p:nvPr/>
        </p:nvSpPr>
        <p:spPr>
          <a:xfrm>
            <a:off x="1371600" y="5285232"/>
            <a:ext cx="5303520" cy="365760"/>
          </a:xfrm>
          <a:prstGeom prst="rect">
            <a:avLst/>
          </a:prstGeom>
          <a:noFill/>
        </p:spPr>
        <p:txBody>
          <a:bodyPr wrap="square" lIns="0" tIns="0" rIns="0" bIns="0" rtlCol="0" anchor="ctr"/>
          <a:lstStyle/>
          <a:p>
            <a:pPr marL="0" indent="0">
              <a:buNone/>
            </a:pPr>
            <a:r>
              <a:rPr lang="en-US" sz="1150" dirty="0">
                <a:solidFill>
                  <a:srgbClr val="5A6285"/>
                </a:solidFill>
                <a:latin typeface="Calibri" panose="020F0502020204030204" pitchFamily="34" charset="0"/>
                <a:ea typeface="Calibri" panose="020F0502020204030204" pitchFamily="34" charset="-122"/>
                <a:cs typeface="Calibri" panose="020F0502020204030204" pitchFamily="34" charset="-120"/>
              </a:rPr>
              <a:t>Model usable with only pre-transaction data</a:t>
            </a:r>
            <a:endParaRPr lang="en-US" sz="1150" dirty="0"/>
          </a:p>
        </p:txBody>
      </p:sp>
      <p:sp>
        <p:nvSpPr>
          <p:cNvPr id="16" name="Shape 14"/>
          <p:cNvSpPr/>
          <p:nvPr/>
        </p:nvSpPr>
        <p:spPr>
          <a:xfrm>
            <a:off x="7223760" y="1143000"/>
            <a:ext cx="4389120" cy="5074920"/>
          </a:xfrm>
          <a:prstGeom prst="roundRect">
            <a:avLst>
              <a:gd name="adj" fmla="val 2500"/>
            </a:avLst>
          </a:prstGeom>
          <a:solidFill>
            <a:srgbClr val="1E2761"/>
          </a:solidFill>
        </p:spPr>
      </p:sp>
      <p:sp>
        <p:nvSpPr>
          <p:cNvPr id="17" name="Text 15"/>
          <p:cNvSpPr/>
          <p:nvPr/>
        </p:nvSpPr>
        <p:spPr>
          <a:xfrm>
            <a:off x="7543800" y="1463040"/>
            <a:ext cx="3749040" cy="320040"/>
          </a:xfrm>
          <a:prstGeom prst="rect">
            <a:avLst/>
          </a:prstGeom>
          <a:noFill/>
        </p:spPr>
        <p:txBody>
          <a:bodyPr wrap="square" lIns="0" tIns="0" rIns="0" bIns="0" rtlCol="0" anchor="ctr"/>
          <a:lstStyle/>
          <a:p>
            <a:pPr marL="0" indent="0">
              <a:buNone/>
            </a:pPr>
            <a:r>
              <a:rPr lang="en-US" sz="1200" b="1" kern="0" spc="100" dirty="0">
                <a:solidFill>
                  <a:srgbClr val="CADCFC"/>
                </a:solidFill>
                <a:latin typeface="Calibri" panose="020F0502020204030204" pitchFamily="34" charset="0"/>
                <a:ea typeface="Calibri" panose="020F0502020204030204" pitchFamily="34" charset="-122"/>
                <a:cs typeface="Calibri" panose="020F0502020204030204" pitchFamily="34" charset="-120"/>
              </a:rPr>
              <a:t>WHY IT MATTERS</a:t>
            </a:r>
            <a:endParaRPr lang="en-US" sz="1200" dirty="0"/>
          </a:p>
        </p:txBody>
      </p:sp>
      <p:sp>
        <p:nvSpPr>
          <p:cNvPr id="18" name="Text 16"/>
          <p:cNvSpPr/>
          <p:nvPr/>
        </p:nvSpPr>
        <p:spPr>
          <a:xfrm>
            <a:off x="7543800" y="1874520"/>
            <a:ext cx="3749040" cy="822960"/>
          </a:xfrm>
          <a:prstGeom prst="rect">
            <a:avLst/>
          </a:prstGeom>
          <a:noFill/>
        </p:spPr>
        <p:txBody>
          <a:bodyPr wrap="square" lIns="0" tIns="0" rIns="0" bIns="0" rtlCol="0" anchor="ctr"/>
          <a:lstStyle/>
          <a:p>
            <a:pPr marL="0" indent="0">
              <a:buNone/>
            </a:pPr>
            <a:r>
              <a:rPr lang="en-US" sz="4600" b="1" dirty="0">
                <a:solidFill>
                  <a:srgbClr val="FFFFFF"/>
                </a:solidFill>
                <a:latin typeface="Cambria" panose="02040503050406030204" pitchFamily="34" charset="0"/>
                <a:ea typeface="Cambria" panose="02040503050406030204" pitchFamily="34" charset="-122"/>
                <a:cs typeface="Cambria" panose="02040503050406030204" pitchFamily="34" charset="-120"/>
              </a:rPr>
              <a:t>10.25%</a:t>
            </a:r>
            <a:endParaRPr lang="en-US" sz="4600" dirty="0"/>
          </a:p>
        </p:txBody>
      </p:sp>
      <p:sp>
        <p:nvSpPr>
          <p:cNvPr id="19" name="Text 17"/>
          <p:cNvSpPr/>
          <p:nvPr/>
        </p:nvSpPr>
        <p:spPr>
          <a:xfrm>
            <a:off x="7543800" y="2697480"/>
            <a:ext cx="3749040" cy="1005840"/>
          </a:xfrm>
          <a:prstGeom prst="rect">
            <a:avLst/>
          </a:prstGeom>
          <a:noFill/>
        </p:spPr>
        <p:txBody>
          <a:bodyPr wrap="square" lIns="0" tIns="0" rIns="0" bIns="0" rtlCol="0" anchor="ctr"/>
          <a:lstStyle/>
          <a:p>
            <a:pPr marL="0" indent="0">
              <a:lnSpc>
                <a:spcPct val="130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of transactions in this dataset are fraudulent — far above real-world rates, making reliable detection essential.</a:t>
            </a:r>
            <a:endParaRPr lang="en-US" sz="1200" dirty="0"/>
          </a:p>
        </p:txBody>
      </p:sp>
      <p:sp>
        <p:nvSpPr>
          <p:cNvPr id="20" name="Shape 18"/>
          <p:cNvSpPr/>
          <p:nvPr/>
        </p:nvSpPr>
        <p:spPr>
          <a:xfrm>
            <a:off x="7543800" y="3840480"/>
            <a:ext cx="3749040" cy="0"/>
          </a:xfrm>
          <a:prstGeom prst="line">
            <a:avLst/>
          </a:prstGeom>
          <a:noFill/>
          <a:ln w="12700">
            <a:solidFill>
              <a:srgbClr val="3D4694"/>
            </a:solidFill>
            <a:prstDash val="solid"/>
          </a:ln>
        </p:spPr>
      </p:sp>
      <p:sp>
        <p:nvSpPr>
          <p:cNvPr id="21" name="Text 19"/>
          <p:cNvSpPr/>
          <p:nvPr/>
        </p:nvSpPr>
        <p:spPr>
          <a:xfrm>
            <a:off x="7543800" y="4069080"/>
            <a:ext cx="3749040" cy="1737360"/>
          </a:xfrm>
          <a:prstGeom prst="rect">
            <a:avLst/>
          </a:prstGeom>
          <a:noFill/>
        </p:spPr>
        <p:txBody>
          <a:bodyPr wrap="square" lIns="0" tIns="0" rIns="0" bIns="0" rtlCol="0" anchor="ctr"/>
          <a:lstStyle/>
          <a:p>
            <a:pPr marL="0" indent="0">
              <a:lnSpc>
                <a:spcPct val="135000"/>
              </a:lnSpc>
              <a:buNone/>
            </a:pPr>
            <a:r>
              <a:rPr lang="en-US" sz="1200" i="1" dirty="0">
                <a:solidFill>
                  <a:srgbClr val="CADCFC"/>
                </a:solidFill>
                <a:latin typeface="Calibri" panose="020F0502020204030204" pitchFamily="34" charset="0"/>
                <a:ea typeface="Calibri" panose="020F0502020204030204" pitchFamily="34" charset="-122"/>
                <a:cs typeface="Calibri" panose="020F0502020204030204" pitchFamily="34" charset="-120"/>
              </a:rPr>
              <a:t>A single missed fraud case can cost far more than the cost of a false alarm — recall on the fraud class is the metric that matters most.</a:t>
            </a:r>
            <a:endParaRPr lang="en-US" sz="1200" dirty="0"/>
          </a:p>
        </p:txBody>
      </p:sp>
      <p:sp>
        <p:nvSpPr>
          <p:cNvPr id="23" name="Text 21"/>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Data Overview</a:t>
            </a:r>
            <a:endParaRPr lang="en-US" sz="3200" dirty="0"/>
          </a:p>
        </p:txBody>
      </p:sp>
      <p:sp>
        <p:nvSpPr>
          <p:cNvPr id="3" name="Text 1"/>
          <p:cNvSpPr/>
          <p:nvPr/>
        </p:nvSpPr>
        <p:spPr>
          <a:xfrm>
            <a:off x="548640" y="1005840"/>
            <a:ext cx="105156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Source: MySQL 'fraud_analysis' database — transactions table, loaded into pandas</a:t>
            </a:r>
            <a:endParaRPr lang="en-US" sz="1300" dirty="0"/>
          </a:p>
        </p:txBody>
      </p:sp>
      <p:sp>
        <p:nvSpPr>
          <p:cNvPr id="4" name="Shape 2"/>
          <p:cNvSpPr/>
          <p:nvPr/>
        </p:nvSpPr>
        <p:spPr>
          <a:xfrm>
            <a:off x="548640" y="1920240"/>
            <a:ext cx="2514600" cy="1737360"/>
          </a:xfrm>
          <a:prstGeom prst="roundRect">
            <a:avLst>
              <a:gd name="adj" fmla="val 6316"/>
            </a:avLst>
          </a:prstGeom>
          <a:solidFill>
            <a:schemeClr val="accent1">
              <a:lumMod val="60000"/>
              <a:lumOff val="40000"/>
            </a:schemeClr>
          </a:solidFill>
          <a:effectLst>
            <a:outerShdw blurRad="76200" dist="25400" dir="5400000" algn="bl" rotWithShape="0">
              <a:srgbClr val="1E2761">
                <a:alpha val="12000"/>
              </a:srgbClr>
            </a:outerShdw>
          </a:effectLst>
        </p:spPr>
      </p:sp>
      <p:sp>
        <p:nvSpPr>
          <p:cNvPr id="5" name="Text 3"/>
          <p:cNvSpPr/>
          <p:nvPr/>
        </p:nvSpPr>
        <p:spPr>
          <a:xfrm>
            <a:off x="548640" y="2176272"/>
            <a:ext cx="2514600" cy="685800"/>
          </a:xfrm>
          <a:prstGeom prst="rect">
            <a:avLst/>
          </a:prstGeom>
          <a:noFill/>
        </p:spPr>
        <p:txBody>
          <a:bodyPr wrap="square" lIns="0" tIns="0" rIns="0" bIns="0" rtlCol="0" anchor="ctr"/>
          <a:lstStyle/>
          <a:p>
            <a:pPr marL="0" indent="0" algn="ctr">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11,142</a:t>
            </a:r>
            <a:endParaRPr lang="en-US" sz="3000" dirty="0"/>
          </a:p>
        </p:txBody>
      </p:sp>
      <p:sp>
        <p:nvSpPr>
          <p:cNvPr id="6" name="Text 4"/>
          <p:cNvSpPr/>
          <p:nvPr/>
        </p:nvSpPr>
        <p:spPr>
          <a:xfrm>
            <a:off x="548640" y="2880360"/>
            <a:ext cx="2514600" cy="548640"/>
          </a:xfrm>
          <a:prstGeom prst="rect">
            <a:avLst/>
          </a:prstGeom>
          <a:noFill/>
        </p:spPr>
        <p:txBody>
          <a:bodyPr wrap="square" lIns="0" tIns="0" rIns="0" bIns="0" rtlCol="0" anchor="ctr"/>
          <a:lstStyle/>
          <a:p>
            <a:pPr marL="0" indent="0" algn="ctr">
              <a:buNone/>
            </a:pPr>
            <a:r>
              <a:rPr lang="en-US" sz="1200" dirty="0">
                <a:solidFill>
                  <a:srgbClr val="5A6285"/>
                </a:solidFill>
                <a:latin typeface="Calibri" panose="020F0502020204030204" pitchFamily="34" charset="0"/>
                <a:ea typeface="Calibri" panose="020F0502020204030204" pitchFamily="34" charset="-122"/>
                <a:cs typeface="Calibri" panose="020F0502020204030204" pitchFamily="34" charset="-120"/>
              </a:rPr>
              <a:t>Total Transactions</a:t>
            </a:r>
            <a:endParaRPr lang="en-US" sz="1200" dirty="0"/>
          </a:p>
        </p:txBody>
      </p:sp>
      <p:sp>
        <p:nvSpPr>
          <p:cNvPr id="7" name="Shape 5"/>
          <p:cNvSpPr/>
          <p:nvPr/>
        </p:nvSpPr>
        <p:spPr>
          <a:xfrm>
            <a:off x="3383280" y="1920240"/>
            <a:ext cx="2514600" cy="1737360"/>
          </a:xfrm>
          <a:prstGeom prst="roundRect">
            <a:avLst>
              <a:gd name="adj" fmla="val 6316"/>
            </a:avLst>
          </a:prstGeom>
          <a:solidFill>
            <a:schemeClr val="accent1">
              <a:lumMod val="60000"/>
              <a:lumOff val="40000"/>
            </a:schemeClr>
          </a:solidFill>
          <a:effectLst>
            <a:outerShdw blurRad="76200" dist="25400" dir="5400000" algn="bl" rotWithShape="0">
              <a:srgbClr val="1E2761">
                <a:alpha val="12000"/>
              </a:srgbClr>
            </a:outerShdw>
          </a:effectLst>
        </p:spPr>
      </p:sp>
      <p:sp>
        <p:nvSpPr>
          <p:cNvPr id="8" name="Text 6"/>
          <p:cNvSpPr/>
          <p:nvPr/>
        </p:nvSpPr>
        <p:spPr>
          <a:xfrm>
            <a:off x="3383280" y="2176272"/>
            <a:ext cx="2514600" cy="685800"/>
          </a:xfrm>
          <a:prstGeom prst="rect">
            <a:avLst/>
          </a:prstGeom>
          <a:noFill/>
        </p:spPr>
        <p:txBody>
          <a:bodyPr wrap="square" lIns="0" tIns="0" rIns="0" bIns="0" rtlCol="0" anchor="ctr"/>
          <a:lstStyle/>
          <a:p>
            <a:pPr marL="0" indent="0" algn="ctr">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10</a:t>
            </a:r>
            <a:endParaRPr lang="en-US" sz="3000" dirty="0"/>
          </a:p>
        </p:txBody>
      </p:sp>
      <p:sp>
        <p:nvSpPr>
          <p:cNvPr id="9" name="Text 7"/>
          <p:cNvSpPr/>
          <p:nvPr/>
        </p:nvSpPr>
        <p:spPr>
          <a:xfrm>
            <a:off x="3383280" y="2880360"/>
            <a:ext cx="2514600" cy="548640"/>
          </a:xfrm>
          <a:prstGeom prst="rect">
            <a:avLst/>
          </a:prstGeom>
          <a:noFill/>
        </p:spPr>
        <p:txBody>
          <a:bodyPr wrap="square" lIns="0" tIns="0" rIns="0" bIns="0" rtlCol="0" anchor="ctr"/>
          <a:lstStyle/>
          <a:p>
            <a:pPr marL="0" indent="0" algn="ctr">
              <a:buNone/>
            </a:pPr>
            <a:r>
              <a:rPr lang="en-US" sz="1200" dirty="0">
                <a:solidFill>
                  <a:srgbClr val="5A6285"/>
                </a:solidFill>
                <a:latin typeface="Calibri" panose="020F0502020204030204" pitchFamily="34" charset="0"/>
                <a:ea typeface="Calibri" panose="020F0502020204030204" pitchFamily="34" charset="-122"/>
                <a:cs typeface="Calibri" panose="020F0502020204030204" pitchFamily="34" charset="-120"/>
              </a:rPr>
              <a:t>Raw Columns</a:t>
            </a:r>
            <a:endParaRPr lang="en-US" sz="1200" dirty="0"/>
          </a:p>
        </p:txBody>
      </p:sp>
      <p:sp>
        <p:nvSpPr>
          <p:cNvPr id="10" name="Shape 8"/>
          <p:cNvSpPr/>
          <p:nvPr/>
        </p:nvSpPr>
        <p:spPr>
          <a:xfrm>
            <a:off x="6217920" y="1920240"/>
            <a:ext cx="2514600" cy="1737360"/>
          </a:xfrm>
          <a:prstGeom prst="roundRect">
            <a:avLst>
              <a:gd name="adj" fmla="val 6316"/>
            </a:avLst>
          </a:prstGeom>
          <a:solidFill>
            <a:schemeClr val="accent1">
              <a:lumMod val="60000"/>
              <a:lumOff val="40000"/>
            </a:schemeClr>
          </a:solidFill>
          <a:effectLst>
            <a:outerShdw blurRad="76200" dist="25400" dir="5400000" algn="bl" rotWithShape="0">
              <a:srgbClr val="1E2761">
                <a:alpha val="12000"/>
              </a:srgbClr>
            </a:outerShdw>
          </a:effectLst>
        </p:spPr>
      </p:sp>
      <p:sp>
        <p:nvSpPr>
          <p:cNvPr id="11" name="Text 9"/>
          <p:cNvSpPr/>
          <p:nvPr/>
        </p:nvSpPr>
        <p:spPr>
          <a:xfrm>
            <a:off x="6217920" y="2176272"/>
            <a:ext cx="2514600" cy="685800"/>
          </a:xfrm>
          <a:prstGeom prst="rect">
            <a:avLst/>
          </a:prstGeom>
          <a:solidFill>
            <a:schemeClr val="accent1">
              <a:lumMod val="60000"/>
              <a:lumOff val="40000"/>
            </a:schemeClr>
          </a:solidFill>
          <a:effectLst>
            <a:outerShdw blurRad="76200" dist="25400" dir="5400000" algn="bl" rotWithShape="0">
              <a:srgbClr val="1E2761">
                <a:alpha val="12000"/>
              </a:srgbClr>
            </a:outerShdw>
          </a:effectLst>
        </p:spPr>
        <p:txBody>
          <a:bodyPr wrap="square" lIns="0" tIns="0" rIns="0" bIns="0" rtlCol="0" anchor="ctr"/>
          <a:lstStyle/>
          <a:p>
            <a:pPr marL="0" indent="0" algn="ctr">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10.25%</a:t>
            </a:r>
            <a:endParaRPr lang="en-US" sz="3000" dirty="0"/>
          </a:p>
        </p:txBody>
      </p:sp>
      <p:sp>
        <p:nvSpPr>
          <p:cNvPr id="12" name="Text 10"/>
          <p:cNvSpPr/>
          <p:nvPr/>
        </p:nvSpPr>
        <p:spPr>
          <a:xfrm>
            <a:off x="6217920" y="2880360"/>
            <a:ext cx="2514600" cy="548640"/>
          </a:xfrm>
          <a:prstGeom prst="rect">
            <a:avLst/>
          </a:prstGeom>
          <a:noFill/>
        </p:spPr>
        <p:txBody>
          <a:bodyPr wrap="square" lIns="0" tIns="0" rIns="0" bIns="0" rtlCol="0" anchor="ctr"/>
          <a:lstStyle/>
          <a:p>
            <a:pPr marL="0" indent="0" algn="ctr">
              <a:buNone/>
            </a:pPr>
            <a:r>
              <a:rPr lang="en-US" sz="12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Rate</a:t>
            </a:r>
            <a:endParaRPr lang="en-US" sz="1200" dirty="0"/>
          </a:p>
        </p:txBody>
      </p:sp>
      <p:sp>
        <p:nvSpPr>
          <p:cNvPr id="13" name="Shape 11"/>
          <p:cNvSpPr/>
          <p:nvPr/>
        </p:nvSpPr>
        <p:spPr>
          <a:xfrm>
            <a:off x="9052560" y="1920240"/>
            <a:ext cx="2514600" cy="1737360"/>
          </a:xfrm>
          <a:prstGeom prst="roundRect">
            <a:avLst>
              <a:gd name="adj" fmla="val 6316"/>
            </a:avLst>
          </a:prstGeom>
          <a:solidFill>
            <a:schemeClr val="accent1">
              <a:lumMod val="60000"/>
              <a:lumOff val="40000"/>
            </a:schemeClr>
          </a:solidFill>
          <a:effectLst>
            <a:outerShdw blurRad="76200" dist="25400" dir="5400000" algn="bl" rotWithShape="0">
              <a:srgbClr val="1E2761">
                <a:alpha val="12000"/>
              </a:srgbClr>
            </a:outerShdw>
          </a:effectLst>
        </p:spPr>
      </p:sp>
      <p:sp>
        <p:nvSpPr>
          <p:cNvPr id="14" name="Text 12"/>
          <p:cNvSpPr/>
          <p:nvPr/>
        </p:nvSpPr>
        <p:spPr>
          <a:xfrm>
            <a:off x="9052560" y="2176272"/>
            <a:ext cx="2514600" cy="685800"/>
          </a:xfrm>
          <a:prstGeom prst="rect">
            <a:avLst/>
          </a:prstGeom>
          <a:noFill/>
        </p:spPr>
        <p:txBody>
          <a:bodyPr wrap="square" lIns="0" tIns="0" rIns="0" bIns="0" rtlCol="0" anchor="ctr"/>
          <a:lstStyle/>
          <a:p>
            <a:pPr marL="0" indent="0" algn="ctr">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5</a:t>
            </a:r>
            <a:endParaRPr lang="en-US" sz="3000" dirty="0"/>
          </a:p>
        </p:txBody>
      </p:sp>
      <p:sp>
        <p:nvSpPr>
          <p:cNvPr id="15" name="Text 13"/>
          <p:cNvSpPr/>
          <p:nvPr/>
        </p:nvSpPr>
        <p:spPr>
          <a:xfrm>
            <a:off x="9052560" y="2880360"/>
            <a:ext cx="2514600" cy="548640"/>
          </a:xfrm>
          <a:prstGeom prst="rect">
            <a:avLst/>
          </a:prstGeom>
          <a:noFill/>
        </p:spPr>
        <p:txBody>
          <a:bodyPr wrap="square" lIns="0" tIns="0" rIns="0" bIns="0" rtlCol="0" anchor="ctr"/>
          <a:lstStyle/>
          <a:p>
            <a:pPr marL="0" indent="0" algn="ctr">
              <a:buNone/>
            </a:pPr>
            <a:r>
              <a:rPr lang="en-US" sz="1200" dirty="0">
                <a:solidFill>
                  <a:srgbClr val="5A6285"/>
                </a:solidFill>
                <a:latin typeface="Calibri" panose="020F0502020204030204" pitchFamily="34" charset="0"/>
                <a:ea typeface="Calibri" panose="020F0502020204030204" pitchFamily="34" charset="-122"/>
                <a:cs typeface="Calibri" panose="020F0502020204030204" pitchFamily="34" charset="-120"/>
              </a:rPr>
              <a:t>Transaction Types</a:t>
            </a:r>
            <a:endParaRPr lang="en-US" sz="1200" dirty="0"/>
          </a:p>
        </p:txBody>
      </p:sp>
      <p:sp>
        <p:nvSpPr>
          <p:cNvPr id="27" name="Text 25"/>
          <p:cNvSpPr/>
          <p:nvPr/>
        </p:nvSpPr>
        <p:spPr>
          <a:xfrm>
            <a:off x="456565" y="4131310"/>
            <a:ext cx="10973435" cy="2281555"/>
          </a:xfrm>
          <a:prstGeom prst="rect">
            <a:avLst/>
          </a:prstGeom>
          <a:noFill/>
        </p:spPr>
        <p:txBody>
          <a:bodyPr wrap="square" lIns="0" tIns="0" rIns="0" bIns="0" rtlCol="0" anchor="ctr"/>
          <a:lstStyle/>
          <a:p>
            <a:pPr marL="0" indent="0">
              <a:buNone/>
            </a:pPr>
            <a:endParaRPr lang="en-US" sz="1200" dirty="0"/>
          </a:p>
        </p:txBody>
      </p:sp>
      <p:sp>
        <p:nvSpPr>
          <p:cNvPr id="29" name="Text 27"/>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
        <p:nvSpPr>
          <p:cNvPr id="30" name="Text Box 29"/>
          <p:cNvSpPr txBox="1"/>
          <p:nvPr/>
        </p:nvSpPr>
        <p:spPr>
          <a:xfrm>
            <a:off x="548005" y="3905250"/>
            <a:ext cx="10892790" cy="2665730"/>
          </a:xfrm>
          <a:prstGeom prst="rect">
            <a:avLst/>
          </a:prstGeom>
          <a:noFill/>
        </p:spPr>
        <p:txBody>
          <a:bodyPr wrap="square" rtlCol="0">
            <a:noAutofit/>
          </a:bodyPr>
          <a:p>
            <a:pPr marL="285750" indent="-285750">
              <a:spcAft>
                <a:spcPts val="1200"/>
              </a:spcAft>
              <a:buFont typeface="Wingdings" panose="05000000000000000000" charset="0"/>
              <a:buChar char="§"/>
              <a:defRPr sz="1800" b="0">
                <a:solidFill>
                  <a:srgbClr val="232A32"/>
                </a:solidFill>
              </a:defRPr>
            </a:pPr>
            <a:r>
              <a:rPr>
                <a:sym typeface="+mn-ea"/>
              </a:rPr>
              <a:t>Transaction types: PAYMENT, CASH_IN, CASH_OUT, TRANSFER and DEBIT.</a:t>
            </a:r>
            <a:endParaRPr>
              <a:sym typeface="+mn-ea"/>
            </a:endParaRPr>
          </a:p>
          <a:p>
            <a:pPr marL="285750" indent="-285750">
              <a:spcAft>
                <a:spcPts val="1200"/>
              </a:spcAft>
              <a:buFont typeface="Wingdings" panose="05000000000000000000" charset="0"/>
              <a:buChar char="§"/>
              <a:defRPr sz="1800" b="0">
                <a:solidFill>
                  <a:srgbClr val="232A32"/>
                </a:solidFill>
              </a:defRPr>
            </a:pPr>
            <a:r>
              <a:rPr>
                <a:sym typeface="+mn-ea"/>
              </a:rPr>
              <a:t>Numerical fields include amount and sender/receiver balances before and after the transaction.</a:t>
            </a:r>
            <a:endParaRPr>
              <a:sym typeface="+mn-ea"/>
            </a:endParaRPr>
          </a:p>
          <a:p>
            <a:pPr marL="285750" indent="-285750">
              <a:spcAft>
                <a:spcPts val="1200"/>
              </a:spcAft>
              <a:buFont typeface="Wingdings" panose="05000000000000000000" charset="0"/>
              <a:buChar char="§"/>
              <a:defRPr sz="1800" b="0">
                <a:solidFill>
                  <a:srgbClr val="232A32"/>
                </a:solidFill>
              </a:defRPr>
            </a:pPr>
            <a:r>
              <a:rPr>
                <a:sym typeface="+mn-ea"/>
              </a:rPr>
              <a:t>Identifier fields include nameOrig and nameDest; these are not directly used as numeric predictors.</a:t>
            </a:r>
            <a:endParaRPr>
              <a:sym typeface="+mn-ea"/>
            </a:endParaRPr>
          </a:p>
          <a:p>
            <a:pPr marL="285750" indent="-285750">
              <a:spcAft>
                <a:spcPts val="1200"/>
              </a:spcAft>
              <a:buFont typeface="Wingdings" panose="05000000000000000000" charset="0"/>
              <a:buChar char="§"/>
              <a:defRPr sz="1800" b="0">
                <a:solidFill>
                  <a:srgbClr val="232A32"/>
                </a:solidFill>
              </a:defRPr>
            </a:pPr>
            <a:r>
              <a:rPr>
                <a:sym typeface="+mn-ea"/>
              </a:rPr>
              <a:t>No missing values were found in the supplied dataset.</a:t>
            </a:r>
            <a:endParaRPr>
              <a:sym typeface="+mn-ea"/>
            </a:endParaRPr>
          </a:p>
          <a:p>
            <a:pPr marL="285750" indent="-285750">
              <a:spcAft>
                <a:spcPts val="1200"/>
              </a:spcAft>
              <a:buFont typeface="Wingdings" panose="05000000000000000000" charset="0"/>
              <a:buChar char="§"/>
              <a:defRPr sz="1800" b="0">
                <a:solidFill>
                  <a:srgbClr val="232A32"/>
                </a:solidFill>
              </a:defRPr>
            </a:pPr>
            <a:r>
              <a:rPr>
                <a:sym typeface="+mn-ea"/>
              </a:rPr>
              <a:t>Fraud represents approximately 10.25% of records, making class imbalance an important modeling consideration.</a:t>
            </a:r>
            <a:endParaRPr>
              <a:sym typeface="+mn-ea"/>
            </a:endParaRPr>
          </a:p>
          <a:p>
            <a:pPr marL="285750" indent="-285750">
              <a:buFont typeface="Wingdings" panose="05000000000000000000" charset="0"/>
              <a:buChar char="§"/>
            </a:pP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Project Workflow</a:t>
            </a:r>
            <a:endParaRPr lang="en-US" sz="3200" dirty="0"/>
          </a:p>
        </p:txBody>
      </p:sp>
      <p:sp>
        <p:nvSpPr>
          <p:cNvPr id="3" name="Text 1"/>
          <p:cNvSpPr/>
          <p:nvPr/>
        </p:nvSpPr>
        <p:spPr>
          <a:xfrm>
            <a:off x="548640" y="1005840"/>
            <a:ext cx="91440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A seven-stage pipeline from raw SQL data to a deployed prediction app</a:t>
            </a:r>
            <a:endParaRPr lang="en-US" sz="1300" dirty="0"/>
          </a:p>
        </p:txBody>
      </p:sp>
      <p:sp>
        <p:nvSpPr>
          <p:cNvPr id="4" name="Shape 2"/>
          <p:cNvSpPr/>
          <p:nvPr/>
        </p:nvSpPr>
        <p:spPr>
          <a:xfrm>
            <a:off x="640080" y="2377440"/>
            <a:ext cx="1417320" cy="1188720"/>
          </a:xfrm>
          <a:prstGeom prst="roundRect">
            <a:avLst>
              <a:gd name="adj" fmla="val 7692"/>
            </a:avLst>
          </a:prstGeom>
          <a:solidFill>
            <a:srgbClr val="F4F6FC"/>
          </a:solidFill>
          <a:effectLst>
            <a:outerShdw blurRad="63500" dist="25400" dir="5400000" algn="bl" rotWithShape="0">
              <a:srgbClr val="1E2761">
                <a:alpha val="10000"/>
              </a:srgbClr>
            </a:outerShdw>
          </a:effectLst>
        </p:spPr>
      </p:sp>
      <p:sp>
        <p:nvSpPr>
          <p:cNvPr id="5" name="Shape 3"/>
          <p:cNvSpPr/>
          <p:nvPr/>
        </p:nvSpPr>
        <p:spPr>
          <a:xfrm>
            <a:off x="1165860" y="2487168"/>
            <a:ext cx="365760" cy="365760"/>
          </a:xfrm>
          <a:prstGeom prst="ellipse">
            <a:avLst/>
          </a:prstGeom>
          <a:solidFill>
            <a:srgbClr val="1E2761"/>
          </a:solidFill>
        </p:spPr>
      </p:sp>
      <p:sp>
        <p:nvSpPr>
          <p:cNvPr id="6" name="Text 4"/>
          <p:cNvSpPr/>
          <p:nvPr/>
        </p:nvSpPr>
        <p:spPr>
          <a:xfrm>
            <a:off x="1165860" y="2487168"/>
            <a:ext cx="365760" cy="36576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400" dirty="0"/>
          </a:p>
        </p:txBody>
      </p:sp>
      <p:sp>
        <p:nvSpPr>
          <p:cNvPr id="7" name="Text 5"/>
          <p:cNvSpPr/>
          <p:nvPr/>
        </p:nvSpPr>
        <p:spPr>
          <a:xfrm>
            <a:off x="685800" y="2926080"/>
            <a:ext cx="1325880" cy="594360"/>
          </a:xfrm>
          <a:prstGeom prst="rect">
            <a:avLst/>
          </a:prstGeom>
          <a:noFill/>
        </p:spPr>
        <p:txBody>
          <a:bodyPr wrap="square" lIns="0" tIns="0" rIns="0" bIns="0" rtlCol="0" anchor="ctr"/>
          <a:lstStyle/>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Load Data</a:t>
            </a:r>
            <a:endParaRPr lang="en-US" sz="1050" dirty="0"/>
          </a:p>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from MySQL</a:t>
            </a:r>
            <a:endParaRPr lang="en-US" sz="1050" dirty="0"/>
          </a:p>
        </p:txBody>
      </p:sp>
      <p:sp>
        <p:nvSpPr>
          <p:cNvPr id="8" name="Text 6"/>
          <p:cNvSpPr/>
          <p:nvPr/>
        </p:nvSpPr>
        <p:spPr>
          <a:xfrm>
            <a:off x="2057400" y="2377440"/>
            <a:ext cx="164592" cy="1188720"/>
          </a:xfrm>
          <a:prstGeom prst="rect">
            <a:avLst/>
          </a:prstGeom>
          <a:noFill/>
        </p:spPr>
        <p:txBody>
          <a:bodyPr wrap="square" lIns="0" tIns="0" rIns="0" bIns="0" rtlCol="0" anchor="ctr"/>
          <a:lstStyle/>
          <a:p>
            <a:pPr marL="0" indent="0" algn="ctr">
              <a:buNone/>
            </a:pPr>
            <a:r>
              <a:rPr lang="en-US" sz="1600" dirty="0">
                <a:solidFill>
                  <a:srgbClr val="5A6285"/>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9" name="Shape 7"/>
          <p:cNvSpPr/>
          <p:nvPr/>
        </p:nvSpPr>
        <p:spPr>
          <a:xfrm>
            <a:off x="2221992" y="2377440"/>
            <a:ext cx="1417320" cy="1188720"/>
          </a:xfrm>
          <a:prstGeom prst="roundRect">
            <a:avLst>
              <a:gd name="adj" fmla="val 7692"/>
            </a:avLst>
          </a:prstGeom>
          <a:solidFill>
            <a:srgbClr val="F4F6FC"/>
          </a:solidFill>
          <a:effectLst>
            <a:outerShdw blurRad="63500" dist="25400" dir="5400000" algn="bl" rotWithShape="0">
              <a:srgbClr val="1E2761">
                <a:alpha val="10000"/>
              </a:srgbClr>
            </a:outerShdw>
          </a:effectLst>
        </p:spPr>
      </p:sp>
      <p:sp>
        <p:nvSpPr>
          <p:cNvPr id="10" name="Shape 8"/>
          <p:cNvSpPr/>
          <p:nvPr/>
        </p:nvSpPr>
        <p:spPr>
          <a:xfrm>
            <a:off x="2747772" y="2487168"/>
            <a:ext cx="365760" cy="365760"/>
          </a:xfrm>
          <a:prstGeom prst="ellipse">
            <a:avLst/>
          </a:prstGeom>
          <a:solidFill>
            <a:srgbClr val="1E2761"/>
          </a:solidFill>
        </p:spPr>
      </p:sp>
      <p:sp>
        <p:nvSpPr>
          <p:cNvPr id="11" name="Text 9"/>
          <p:cNvSpPr/>
          <p:nvPr/>
        </p:nvSpPr>
        <p:spPr>
          <a:xfrm>
            <a:off x="2747772" y="2487168"/>
            <a:ext cx="365760" cy="36576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400" dirty="0"/>
          </a:p>
        </p:txBody>
      </p:sp>
      <p:sp>
        <p:nvSpPr>
          <p:cNvPr id="12" name="Text 10"/>
          <p:cNvSpPr/>
          <p:nvPr/>
        </p:nvSpPr>
        <p:spPr>
          <a:xfrm>
            <a:off x="2267712" y="2926080"/>
            <a:ext cx="1325880" cy="594360"/>
          </a:xfrm>
          <a:prstGeom prst="rect">
            <a:avLst/>
          </a:prstGeom>
          <a:noFill/>
        </p:spPr>
        <p:txBody>
          <a:bodyPr wrap="square" lIns="0" tIns="0" rIns="0" bIns="0" rtlCol="0" anchor="ctr"/>
          <a:lstStyle/>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Exploratory</a:t>
            </a:r>
            <a:endParaRPr lang="en-US" sz="1050" dirty="0"/>
          </a:p>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Data Analysis</a:t>
            </a:r>
            <a:endParaRPr lang="en-US" sz="1050" dirty="0"/>
          </a:p>
        </p:txBody>
      </p:sp>
      <p:sp>
        <p:nvSpPr>
          <p:cNvPr id="13" name="Text 11"/>
          <p:cNvSpPr/>
          <p:nvPr/>
        </p:nvSpPr>
        <p:spPr>
          <a:xfrm>
            <a:off x="3639312" y="2377440"/>
            <a:ext cx="164592" cy="1188720"/>
          </a:xfrm>
          <a:prstGeom prst="rect">
            <a:avLst/>
          </a:prstGeom>
          <a:noFill/>
        </p:spPr>
        <p:txBody>
          <a:bodyPr wrap="square" lIns="0" tIns="0" rIns="0" bIns="0" rtlCol="0" anchor="ctr"/>
          <a:lstStyle/>
          <a:p>
            <a:pPr marL="0" indent="0" algn="ctr">
              <a:buNone/>
            </a:pPr>
            <a:r>
              <a:rPr lang="en-US" sz="1600" dirty="0">
                <a:solidFill>
                  <a:srgbClr val="5A6285"/>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14" name="Shape 12"/>
          <p:cNvSpPr/>
          <p:nvPr/>
        </p:nvSpPr>
        <p:spPr>
          <a:xfrm>
            <a:off x="3803904" y="2377440"/>
            <a:ext cx="1417320" cy="1188720"/>
          </a:xfrm>
          <a:prstGeom prst="roundRect">
            <a:avLst>
              <a:gd name="adj" fmla="val 7692"/>
            </a:avLst>
          </a:prstGeom>
          <a:solidFill>
            <a:srgbClr val="F4F6FC"/>
          </a:solidFill>
          <a:effectLst>
            <a:outerShdw blurRad="63500" dist="25400" dir="5400000" algn="bl" rotWithShape="0">
              <a:srgbClr val="1E2761">
                <a:alpha val="10000"/>
              </a:srgbClr>
            </a:outerShdw>
          </a:effectLst>
        </p:spPr>
      </p:sp>
      <p:sp>
        <p:nvSpPr>
          <p:cNvPr id="15" name="Shape 13"/>
          <p:cNvSpPr/>
          <p:nvPr/>
        </p:nvSpPr>
        <p:spPr>
          <a:xfrm>
            <a:off x="4329684" y="2487168"/>
            <a:ext cx="365760" cy="365760"/>
          </a:xfrm>
          <a:prstGeom prst="ellipse">
            <a:avLst/>
          </a:prstGeom>
          <a:solidFill>
            <a:srgbClr val="1E2761"/>
          </a:solidFill>
        </p:spPr>
      </p:sp>
      <p:sp>
        <p:nvSpPr>
          <p:cNvPr id="16" name="Text 14"/>
          <p:cNvSpPr/>
          <p:nvPr/>
        </p:nvSpPr>
        <p:spPr>
          <a:xfrm>
            <a:off x="4329684" y="2487168"/>
            <a:ext cx="365760" cy="36576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400" dirty="0"/>
          </a:p>
        </p:txBody>
      </p:sp>
      <p:sp>
        <p:nvSpPr>
          <p:cNvPr id="17" name="Text 15"/>
          <p:cNvSpPr/>
          <p:nvPr/>
        </p:nvSpPr>
        <p:spPr>
          <a:xfrm>
            <a:off x="3849624" y="2926080"/>
            <a:ext cx="1325880" cy="594360"/>
          </a:xfrm>
          <a:prstGeom prst="rect">
            <a:avLst/>
          </a:prstGeom>
          <a:noFill/>
        </p:spPr>
        <p:txBody>
          <a:bodyPr wrap="square" lIns="0" tIns="0" rIns="0" bIns="0" rtlCol="0" anchor="ctr"/>
          <a:lstStyle/>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Feature</a:t>
            </a:r>
            <a:endParaRPr lang="en-US" sz="1050" dirty="0"/>
          </a:p>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Engineering</a:t>
            </a:r>
            <a:endParaRPr lang="en-US" sz="1050" dirty="0"/>
          </a:p>
        </p:txBody>
      </p:sp>
      <p:sp>
        <p:nvSpPr>
          <p:cNvPr id="18" name="Text 16"/>
          <p:cNvSpPr/>
          <p:nvPr/>
        </p:nvSpPr>
        <p:spPr>
          <a:xfrm>
            <a:off x="5221224" y="2377440"/>
            <a:ext cx="164592" cy="1188720"/>
          </a:xfrm>
          <a:prstGeom prst="rect">
            <a:avLst/>
          </a:prstGeom>
          <a:noFill/>
        </p:spPr>
        <p:txBody>
          <a:bodyPr wrap="square" lIns="0" tIns="0" rIns="0" bIns="0" rtlCol="0" anchor="ctr"/>
          <a:lstStyle/>
          <a:p>
            <a:pPr marL="0" indent="0" algn="ctr">
              <a:buNone/>
            </a:pPr>
            <a:r>
              <a:rPr lang="en-US" sz="1600" dirty="0">
                <a:solidFill>
                  <a:srgbClr val="5A6285"/>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19" name="Shape 17"/>
          <p:cNvSpPr/>
          <p:nvPr/>
        </p:nvSpPr>
        <p:spPr>
          <a:xfrm>
            <a:off x="5385816" y="2377440"/>
            <a:ext cx="1417320" cy="1188720"/>
          </a:xfrm>
          <a:prstGeom prst="roundRect">
            <a:avLst>
              <a:gd name="adj" fmla="val 7692"/>
            </a:avLst>
          </a:prstGeom>
          <a:solidFill>
            <a:srgbClr val="F4F6FC"/>
          </a:solidFill>
          <a:effectLst>
            <a:outerShdw blurRad="63500" dist="25400" dir="5400000" algn="bl" rotWithShape="0">
              <a:srgbClr val="1E2761">
                <a:alpha val="10000"/>
              </a:srgbClr>
            </a:outerShdw>
          </a:effectLst>
        </p:spPr>
      </p:sp>
      <p:sp>
        <p:nvSpPr>
          <p:cNvPr id="20" name="Shape 18"/>
          <p:cNvSpPr/>
          <p:nvPr/>
        </p:nvSpPr>
        <p:spPr>
          <a:xfrm>
            <a:off x="5911596" y="2487168"/>
            <a:ext cx="365760" cy="365760"/>
          </a:xfrm>
          <a:prstGeom prst="ellipse">
            <a:avLst/>
          </a:prstGeom>
          <a:solidFill>
            <a:srgbClr val="1E2761"/>
          </a:solidFill>
        </p:spPr>
      </p:sp>
      <p:sp>
        <p:nvSpPr>
          <p:cNvPr id="21" name="Text 19"/>
          <p:cNvSpPr/>
          <p:nvPr/>
        </p:nvSpPr>
        <p:spPr>
          <a:xfrm>
            <a:off x="5911596" y="2487168"/>
            <a:ext cx="365760" cy="36576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400" dirty="0"/>
          </a:p>
        </p:txBody>
      </p:sp>
      <p:sp>
        <p:nvSpPr>
          <p:cNvPr id="22" name="Text 20"/>
          <p:cNvSpPr/>
          <p:nvPr/>
        </p:nvSpPr>
        <p:spPr>
          <a:xfrm>
            <a:off x="5431536" y="2926080"/>
            <a:ext cx="1325880" cy="594360"/>
          </a:xfrm>
          <a:prstGeom prst="rect">
            <a:avLst/>
          </a:prstGeom>
          <a:noFill/>
        </p:spPr>
        <p:txBody>
          <a:bodyPr wrap="square" lIns="0" tIns="0" rIns="0" bIns="0" rtlCol="0" anchor="ctr"/>
          <a:lstStyle/>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Preprocessing</a:t>
            </a:r>
            <a:endParaRPr lang="en-US" sz="1050" dirty="0"/>
          </a:p>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(Encode &amp; Scale)</a:t>
            </a:r>
            <a:endParaRPr lang="en-US" sz="1050" dirty="0"/>
          </a:p>
        </p:txBody>
      </p:sp>
      <p:sp>
        <p:nvSpPr>
          <p:cNvPr id="23" name="Text 21"/>
          <p:cNvSpPr/>
          <p:nvPr/>
        </p:nvSpPr>
        <p:spPr>
          <a:xfrm>
            <a:off x="6803136" y="2377440"/>
            <a:ext cx="164592" cy="1188720"/>
          </a:xfrm>
          <a:prstGeom prst="rect">
            <a:avLst/>
          </a:prstGeom>
          <a:noFill/>
        </p:spPr>
        <p:txBody>
          <a:bodyPr wrap="square" lIns="0" tIns="0" rIns="0" bIns="0" rtlCol="0" anchor="ctr"/>
          <a:lstStyle/>
          <a:p>
            <a:pPr marL="0" indent="0" algn="ctr">
              <a:buNone/>
            </a:pPr>
            <a:r>
              <a:rPr lang="en-US" sz="1600" dirty="0">
                <a:solidFill>
                  <a:srgbClr val="5A6285"/>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24" name="Shape 22"/>
          <p:cNvSpPr/>
          <p:nvPr/>
        </p:nvSpPr>
        <p:spPr>
          <a:xfrm>
            <a:off x="6967728" y="2377440"/>
            <a:ext cx="1417320" cy="1188720"/>
          </a:xfrm>
          <a:prstGeom prst="roundRect">
            <a:avLst>
              <a:gd name="adj" fmla="val 7692"/>
            </a:avLst>
          </a:prstGeom>
          <a:solidFill>
            <a:srgbClr val="F4F6FC"/>
          </a:solidFill>
          <a:effectLst>
            <a:outerShdw blurRad="63500" dist="25400" dir="5400000" algn="bl" rotWithShape="0">
              <a:srgbClr val="1E2761">
                <a:alpha val="10000"/>
              </a:srgbClr>
            </a:outerShdw>
          </a:effectLst>
        </p:spPr>
      </p:sp>
      <p:sp>
        <p:nvSpPr>
          <p:cNvPr id="25" name="Shape 23"/>
          <p:cNvSpPr/>
          <p:nvPr/>
        </p:nvSpPr>
        <p:spPr>
          <a:xfrm>
            <a:off x="7493508" y="2487168"/>
            <a:ext cx="365760" cy="365760"/>
          </a:xfrm>
          <a:prstGeom prst="ellipse">
            <a:avLst/>
          </a:prstGeom>
          <a:solidFill>
            <a:srgbClr val="1E2761"/>
          </a:solidFill>
        </p:spPr>
      </p:sp>
      <p:sp>
        <p:nvSpPr>
          <p:cNvPr id="26" name="Text 24"/>
          <p:cNvSpPr/>
          <p:nvPr/>
        </p:nvSpPr>
        <p:spPr>
          <a:xfrm>
            <a:off x="7493508" y="2487168"/>
            <a:ext cx="365760" cy="36576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1400" dirty="0"/>
          </a:p>
        </p:txBody>
      </p:sp>
      <p:sp>
        <p:nvSpPr>
          <p:cNvPr id="27" name="Text 25"/>
          <p:cNvSpPr/>
          <p:nvPr/>
        </p:nvSpPr>
        <p:spPr>
          <a:xfrm>
            <a:off x="7013448" y="2926080"/>
            <a:ext cx="1325880" cy="594360"/>
          </a:xfrm>
          <a:prstGeom prst="rect">
            <a:avLst/>
          </a:prstGeom>
          <a:noFill/>
        </p:spPr>
        <p:txBody>
          <a:bodyPr wrap="square" lIns="0" tIns="0" rIns="0" bIns="0" rtlCol="0" anchor="ctr"/>
          <a:lstStyle/>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Train Models</a:t>
            </a:r>
            <a:endParaRPr lang="en-US" sz="1050" dirty="0"/>
          </a:p>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(LR / RF / XGB)</a:t>
            </a:r>
            <a:endParaRPr lang="en-US" sz="1050" dirty="0"/>
          </a:p>
        </p:txBody>
      </p:sp>
      <p:sp>
        <p:nvSpPr>
          <p:cNvPr id="28" name="Text 26"/>
          <p:cNvSpPr/>
          <p:nvPr/>
        </p:nvSpPr>
        <p:spPr>
          <a:xfrm>
            <a:off x="8385048" y="2377440"/>
            <a:ext cx="164592" cy="1188720"/>
          </a:xfrm>
          <a:prstGeom prst="rect">
            <a:avLst/>
          </a:prstGeom>
          <a:noFill/>
        </p:spPr>
        <p:txBody>
          <a:bodyPr wrap="square" lIns="0" tIns="0" rIns="0" bIns="0" rtlCol="0" anchor="ctr"/>
          <a:lstStyle/>
          <a:p>
            <a:pPr marL="0" indent="0" algn="ctr">
              <a:buNone/>
            </a:pPr>
            <a:r>
              <a:rPr lang="en-US" sz="1600" dirty="0">
                <a:solidFill>
                  <a:srgbClr val="5A6285"/>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29" name="Shape 27"/>
          <p:cNvSpPr/>
          <p:nvPr/>
        </p:nvSpPr>
        <p:spPr>
          <a:xfrm>
            <a:off x="8549640" y="2377440"/>
            <a:ext cx="1417320" cy="1188720"/>
          </a:xfrm>
          <a:prstGeom prst="roundRect">
            <a:avLst>
              <a:gd name="adj" fmla="val 7692"/>
            </a:avLst>
          </a:prstGeom>
          <a:solidFill>
            <a:srgbClr val="F4F6FC"/>
          </a:solidFill>
          <a:effectLst>
            <a:outerShdw blurRad="63500" dist="25400" dir="5400000" algn="bl" rotWithShape="0">
              <a:srgbClr val="1E2761">
                <a:alpha val="10000"/>
              </a:srgbClr>
            </a:outerShdw>
          </a:effectLst>
        </p:spPr>
      </p:sp>
      <p:sp>
        <p:nvSpPr>
          <p:cNvPr id="30" name="Shape 28"/>
          <p:cNvSpPr/>
          <p:nvPr/>
        </p:nvSpPr>
        <p:spPr>
          <a:xfrm>
            <a:off x="9075420" y="2487168"/>
            <a:ext cx="365760" cy="365760"/>
          </a:xfrm>
          <a:prstGeom prst="ellipse">
            <a:avLst/>
          </a:prstGeom>
          <a:solidFill>
            <a:srgbClr val="1E2761"/>
          </a:solidFill>
        </p:spPr>
      </p:sp>
      <p:sp>
        <p:nvSpPr>
          <p:cNvPr id="31" name="Text 29"/>
          <p:cNvSpPr/>
          <p:nvPr/>
        </p:nvSpPr>
        <p:spPr>
          <a:xfrm>
            <a:off x="9075420" y="2487168"/>
            <a:ext cx="365760" cy="36576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604020202020204" pitchFamily="34" charset="0"/>
                <a:ea typeface="Arial" panose="020B0604020202020204" pitchFamily="34" charset="-122"/>
                <a:cs typeface="Arial" panose="020B0604020202020204" pitchFamily="34" charset="-120"/>
              </a:rPr>
              <a:t>6</a:t>
            </a:r>
            <a:endParaRPr lang="en-US" sz="1400" dirty="0"/>
          </a:p>
        </p:txBody>
      </p:sp>
      <p:sp>
        <p:nvSpPr>
          <p:cNvPr id="32" name="Text 30"/>
          <p:cNvSpPr/>
          <p:nvPr/>
        </p:nvSpPr>
        <p:spPr>
          <a:xfrm>
            <a:off x="8595360" y="2926080"/>
            <a:ext cx="1325880" cy="594360"/>
          </a:xfrm>
          <a:prstGeom prst="rect">
            <a:avLst/>
          </a:prstGeom>
          <a:noFill/>
        </p:spPr>
        <p:txBody>
          <a:bodyPr wrap="square" lIns="0" tIns="0" rIns="0" bIns="0" rtlCol="0" anchor="ctr"/>
          <a:lstStyle/>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Evaluate &amp;</a:t>
            </a:r>
            <a:endParaRPr lang="en-US" sz="1050" dirty="0"/>
          </a:p>
          <a:p>
            <a:pPr marL="0" indent="0" algn="ctr">
              <a:lnSpc>
                <a:spcPct val="105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Compare</a:t>
            </a:r>
            <a:endParaRPr lang="en-US" sz="1050" dirty="0"/>
          </a:p>
        </p:txBody>
      </p:sp>
      <p:sp>
        <p:nvSpPr>
          <p:cNvPr id="33" name="Text 31"/>
          <p:cNvSpPr/>
          <p:nvPr/>
        </p:nvSpPr>
        <p:spPr>
          <a:xfrm>
            <a:off x="9966960" y="2377440"/>
            <a:ext cx="164592" cy="1188720"/>
          </a:xfrm>
          <a:prstGeom prst="rect">
            <a:avLst/>
          </a:prstGeom>
          <a:noFill/>
        </p:spPr>
        <p:txBody>
          <a:bodyPr wrap="square" lIns="0" tIns="0" rIns="0" bIns="0" rtlCol="0" anchor="ctr"/>
          <a:lstStyle/>
          <a:p>
            <a:pPr marL="0" indent="0" algn="ctr">
              <a:buNone/>
            </a:pPr>
            <a:r>
              <a:rPr lang="en-US" sz="1600" dirty="0">
                <a:solidFill>
                  <a:srgbClr val="5A6285"/>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34" name="Shape 32"/>
          <p:cNvSpPr/>
          <p:nvPr/>
        </p:nvSpPr>
        <p:spPr>
          <a:xfrm>
            <a:off x="10131552" y="2377440"/>
            <a:ext cx="1417320" cy="1188720"/>
          </a:xfrm>
          <a:prstGeom prst="roundRect">
            <a:avLst>
              <a:gd name="adj" fmla="val 7692"/>
            </a:avLst>
          </a:prstGeom>
          <a:solidFill>
            <a:srgbClr val="1E2761"/>
          </a:solidFill>
          <a:effectLst>
            <a:outerShdw blurRad="63500" dist="25400" dir="5400000" algn="bl" rotWithShape="0">
              <a:srgbClr val="1E2761">
                <a:alpha val="10000"/>
              </a:srgbClr>
            </a:outerShdw>
          </a:effectLst>
        </p:spPr>
      </p:sp>
      <p:sp>
        <p:nvSpPr>
          <p:cNvPr id="35" name="Shape 33"/>
          <p:cNvSpPr/>
          <p:nvPr/>
        </p:nvSpPr>
        <p:spPr>
          <a:xfrm>
            <a:off x="10657332" y="2487168"/>
            <a:ext cx="365760" cy="365760"/>
          </a:xfrm>
          <a:prstGeom prst="ellipse">
            <a:avLst/>
          </a:prstGeom>
          <a:solidFill>
            <a:srgbClr val="CADCFC"/>
          </a:solidFill>
        </p:spPr>
      </p:sp>
      <p:sp>
        <p:nvSpPr>
          <p:cNvPr id="36" name="Text 34"/>
          <p:cNvSpPr/>
          <p:nvPr/>
        </p:nvSpPr>
        <p:spPr>
          <a:xfrm>
            <a:off x="10657332" y="2487168"/>
            <a:ext cx="365760" cy="365760"/>
          </a:xfrm>
          <a:prstGeom prst="rect">
            <a:avLst/>
          </a:prstGeom>
          <a:noFill/>
        </p:spPr>
        <p:txBody>
          <a:bodyPr wrap="square" lIns="0" tIns="0" rIns="0" bIns="0" rtlCol="0" anchor="ctr"/>
          <a:lstStyle/>
          <a:p>
            <a:pPr marL="0" indent="0" algn="ctr">
              <a:buNone/>
            </a:pPr>
            <a:r>
              <a:rPr lang="en-US" sz="1400" b="1" dirty="0">
                <a:solidFill>
                  <a:srgbClr val="1E2761"/>
                </a:solidFill>
                <a:latin typeface="Arial" panose="020B0604020202020204" pitchFamily="34" charset="0"/>
                <a:ea typeface="Arial" panose="020B0604020202020204" pitchFamily="34" charset="-122"/>
                <a:cs typeface="Arial" panose="020B0604020202020204" pitchFamily="34" charset="-120"/>
              </a:rPr>
              <a:t>7</a:t>
            </a:r>
            <a:endParaRPr lang="en-US" sz="1400" dirty="0"/>
          </a:p>
        </p:txBody>
      </p:sp>
      <p:sp>
        <p:nvSpPr>
          <p:cNvPr id="37" name="Text 35"/>
          <p:cNvSpPr/>
          <p:nvPr/>
        </p:nvSpPr>
        <p:spPr>
          <a:xfrm>
            <a:off x="10177272" y="2926080"/>
            <a:ext cx="1325880" cy="594360"/>
          </a:xfrm>
          <a:prstGeom prst="rect">
            <a:avLst/>
          </a:prstGeom>
          <a:noFill/>
        </p:spPr>
        <p:txBody>
          <a:bodyPr wrap="square" lIns="0" tIns="0" rIns="0" bIns="0" rtlCol="0" anchor="ctr"/>
          <a:lstStyle/>
          <a:p>
            <a:pPr marL="0" indent="0" algn="ctr">
              <a:lnSpc>
                <a:spcPct val="105000"/>
              </a:lnSpc>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Deploy</a:t>
            </a:r>
            <a:endParaRPr lang="en-US" sz="1050" dirty="0"/>
          </a:p>
          <a:p>
            <a:pPr marL="0" indent="0" algn="ctr">
              <a:lnSpc>
                <a:spcPct val="105000"/>
              </a:lnSpc>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(Streamlit)</a:t>
            </a:r>
            <a:endParaRPr lang="en-US" sz="1050" dirty="0"/>
          </a:p>
        </p:txBody>
      </p:sp>
      <p:sp>
        <p:nvSpPr>
          <p:cNvPr id="38" name="Shape 36"/>
          <p:cNvSpPr/>
          <p:nvPr/>
        </p:nvSpPr>
        <p:spPr>
          <a:xfrm>
            <a:off x="548640" y="4206240"/>
            <a:ext cx="3520440" cy="1737360"/>
          </a:xfrm>
          <a:prstGeom prst="roundRect">
            <a:avLst>
              <a:gd name="adj" fmla="val 5263"/>
            </a:avLst>
          </a:prstGeom>
          <a:solidFill>
            <a:srgbClr val="F4F6FC"/>
          </a:solidFill>
        </p:spPr>
      </p:sp>
      <p:sp>
        <p:nvSpPr>
          <p:cNvPr id="39" name="Text 37"/>
          <p:cNvSpPr/>
          <p:nvPr/>
        </p:nvSpPr>
        <p:spPr>
          <a:xfrm>
            <a:off x="777240" y="4389120"/>
            <a:ext cx="3063240" cy="365760"/>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EDA &amp; Visualization</a:t>
            </a:r>
            <a:endParaRPr lang="en-US" sz="1300" dirty="0"/>
          </a:p>
        </p:txBody>
      </p:sp>
      <p:sp>
        <p:nvSpPr>
          <p:cNvPr id="40" name="Text 38"/>
          <p:cNvSpPr/>
          <p:nvPr/>
        </p:nvSpPr>
        <p:spPr>
          <a:xfrm>
            <a:off x="777240" y="4773168"/>
            <a:ext cx="3063240" cy="1051560"/>
          </a:xfrm>
          <a:prstGeom prst="rect">
            <a:avLst/>
          </a:prstGeom>
          <a:noFill/>
        </p:spPr>
        <p:txBody>
          <a:bodyPr wrap="square" lIns="0" tIns="0" rIns="0" bIns="0" rtlCol="0" anchor="ctr"/>
          <a:lstStyle/>
          <a:p>
            <a:pPr marL="0" indent="0">
              <a:lnSpc>
                <a:spcPct val="130000"/>
              </a:lnSpc>
              <a:buNone/>
            </a:pPr>
            <a:r>
              <a:rPr lang="en-US" sz="1100" dirty="0">
                <a:solidFill>
                  <a:srgbClr val="5A6285"/>
                </a:solidFill>
                <a:latin typeface="Calibri" panose="020F0502020204030204" pitchFamily="34" charset="0"/>
                <a:ea typeface="Calibri" panose="020F0502020204030204" pitchFamily="34" charset="-122"/>
                <a:cs typeface="Calibri" panose="020F0502020204030204" pitchFamily="34" charset="-120"/>
              </a:rPr>
              <a:t>Correlation heatmaps to understand which features relate to fraud</a:t>
            </a:r>
            <a:endParaRPr lang="en-US" sz="1100" dirty="0"/>
          </a:p>
        </p:txBody>
      </p:sp>
      <p:sp>
        <p:nvSpPr>
          <p:cNvPr id="41" name="Shape 39"/>
          <p:cNvSpPr/>
          <p:nvPr/>
        </p:nvSpPr>
        <p:spPr>
          <a:xfrm>
            <a:off x="4343400" y="4206240"/>
            <a:ext cx="3520440" cy="1737360"/>
          </a:xfrm>
          <a:prstGeom prst="roundRect">
            <a:avLst>
              <a:gd name="adj" fmla="val 5263"/>
            </a:avLst>
          </a:prstGeom>
          <a:solidFill>
            <a:srgbClr val="F4F6FC"/>
          </a:solidFill>
        </p:spPr>
      </p:sp>
      <p:sp>
        <p:nvSpPr>
          <p:cNvPr id="42" name="Text 40"/>
          <p:cNvSpPr/>
          <p:nvPr/>
        </p:nvSpPr>
        <p:spPr>
          <a:xfrm>
            <a:off x="4572000" y="4389120"/>
            <a:ext cx="3063240" cy="365760"/>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Feature Engineering</a:t>
            </a:r>
            <a:endParaRPr lang="en-US" sz="1300" dirty="0"/>
          </a:p>
        </p:txBody>
      </p:sp>
      <p:sp>
        <p:nvSpPr>
          <p:cNvPr id="43" name="Text 41"/>
          <p:cNvSpPr/>
          <p:nvPr/>
        </p:nvSpPr>
        <p:spPr>
          <a:xfrm>
            <a:off x="4572000" y="4773168"/>
            <a:ext cx="3063240" cy="1051560"/>
          </a:xfrm>
          <a:prstGeom prst="rect">
            <a:avLst/>
          </a:prstGeom>
          <a:noFill/>
        </p:spPr>
        <p:txBody>
          <a:bodyPr wrap="square" lIns="0" tIns="0" rIns="0" bIns="0" rtlCol="0" anchor="ctr"/>
          <a:lstStyle/>
          <a:p>
            <a:pPr marL="0" indent="0">
              <a:lnSpc>
                <a:spcPct val="130000"/>
              </a:lnSpc>
              <a:buNone/>
            </a:pPr>
            <a:r>
              <a:rPr lang="en-US" sz="1100" dirty="0">
                <a:solidFill>
                  <a:srgbClr val="5A6285"/>
                </a:solidFill>
                <a:latin typeface="Calibri" panose="020F0502020204030204" pitchFamily="34" charset="0"/>
                <a:ea typeface="Calibri" panose="020F0502020204030204" pitchFamily="34" charset="-122"/>
                <a:cs typeface="Calibri" panose="020F0502020204030204" pitchFamily="34" charset="-120"/>
              </a:rPr>
              <a:t>Tested engineered balance-change features; later removed after leakage check</a:t>
            </a:r>
            <a:endParaRPr lang="en-US" sz="1100" dirty="0"/>
          </a:p>
        </p:txBody>
      </p:sp>
      <p:sp>
        <p:nvSpPr>
          <p:cNvPr id="44" name="Shape 42"/>
          <p:cNvSpPr/>
          <p:nvPr/>
        </p:nvSpPr>
        <p:spPr>
          <a:xfrm>
            <a:off x="8138160" y="4206240"/>
            <a:ext cx="3520440" cy="1737360"/>
          </a:xfrm>
          <a:prstGeom prst="roundRect">
            <a:avLst>
              <a:gd name="adj" fmla="val 5263"/>
            </a:avLst>
          </a:prstGeom>
          <a:solidFill>
            <a:srgbClr val="F4F6FC"/>
          </a:solidFill>
        </p:spPr>
      </p:sp>
      <p:sp>
        <p:nvSpPr>
          <p:cNvPr id="45" name="Text 43"/>
          <p:cNvSpPr/>
          <p:nvPr/>
        </p:nvSpPr>
        <p:spPr>
          <a:xfrm>
            <a:off x="8366760" y="4389120"/>
            <a:ext cx="3063240" cy="365760"/>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Preprocessing</a:t>
            </a:r>
            <a:endParaRPr lang="en-US" sz="1300" dirty="0"/>
          </a:p>
        </p:txBody>
      </p:sp>
      <p:sp>
        <p:nvSpPr>
          <p:cNvPr id="46" name="Text 44"/>
          <p:cNvSpPr/>
          <p:nvPr/>
        </p:nvSpPr>
        <p:spPr>
          <a:xfrm>
            <a:off x="8366760" y="4773168"/>
            <a:ext cx="3063240" cy="1051560"/>
          </a:xfrm>
          <a:prstGeom prst="rect">
            <a:avLst/>
          </a:prstGeom>
          <a:noFill/>
        </p:spPr>
        <p:txBody>
          <a:bodyPr wrap="square" lIns="0" tIns="0" rIns="0" bIns="0" rtlCol="0" anchor="ctr"/>
          <a:lstStyle/>
          <a:p>
            <a:pPr marL="0" indent="0">
              <a:lnSpc>
                <a:spcPct val="130000"/>
              </a:lnSpc>
              <a:buNone/>
            </a:pPr>
            <a:r>
              <a:rPr lang="en-US" sz="1100" dirty="0">
                <a:solidFill>
                  <a:srgbClr val="5A6285"/>
                </a:solidFill>
                <a:latin typeface="Calibri" panose="020F0502020204030204" pitchFamily="34" charset="0"/>
                <a:ea typeface="Calibri" panose="020F0502020204030204" pitchFamily="34" charset="-122"/>
                <a:cs typeface="Calibri" panose="020F0502020204030204" pitchFamily="34" charset="-120"/>
              </a:rPr>
              <a:t>One-hot encoding for 'type', StandardScaler for numeric columns</a:t>
            </a:r>
            <a:endParaRPr lang="en-US" sz="1100" dirty="0"/>
          </a:p>
        </p:txBody>
      </p:sp>
      <p:sp>
        <p:nvSpPr>
          <p:cNvPr id="47" name="Text 45"/>
          <p:cNvSpPr/>
          <p:nvPr/>
        </p:nvSpPr>
        <p:spPr>
          <a:xfrm>
            <a:off x="457200" y="6537960"/>
            <a:ext cx="5486400" cy="274320"/>
          </a:xfrm>
          <a:prstGeom prst="rect">
            <a:avLst/>
          </a:prstGeom>
          <a:noFill/>
        </p:spPr>
        <p:txBody>
          <a:bodyPr wrap="square" lIns="0" tIns="0" rIns="0" bIns="0" rtlCol="0" anchor="ctr"/>
          <a:lstStyle/>
          <a:p>
            <a:pPr marL="0" indent="0" algn="l">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DETECTION ML PIPELINE</a:t>
            </a:r>
            <a:endParaRPr lang="en-US" sz="900" dirty="0"/>
          </a:p>
        </p:txBody>
      </p:sp>
      <p:sp>
        <p:nvSpPr>
          <p:cNvPr id="48" name="Text 46"/>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Exploratory Data Analysis</a:t>
            </a:r>
            <a:endParaRPr lang="en-US" sz="3200" dirty="0"/>
          </a:p>
        </p:txBody>
      </p:sp>
      <p:sp>
        <p:nvSpPr>
          <p:cNvPr id="3" name="Text 1"/>
          <p:cNvSpPr/>
          <p:nvPr/>
        </p:nvSpPr>
        <p:spPr>
          <a:xfrm>
            <a:off x="548640" y="1005840"/>
            <a:ext cx="96012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Understanding class balance and transaction volume before modeling</a:t>
            </a:r>
            <a:endParaRPr lang="en-US" sz="1300" dirty="0"/>
          </a:p>
        </p:txBody>
      </p:sp>
      <p:sp>
        <p:nvSpPr>
          <p:cNvPr id="4" name="Text 2"/>
          <p:cNvSpPr/>
          <p:nvPr/>
        </p:nvSpPr>
        <p:spPr>
          <a:xfrm>
            <a:off x="548640" y="1600200"/>
            <a:ext cx="530352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Class Distribution</a:t>
            </a:r>
            <a:endParaRPr lang="en-US" sz="1400" dirty="0"/>
          </a:p>
        </p:txBody>
      </p:sp>
      <p:graphicFrame>
        <p:nvGraphicFramePr>
          <p:cNvPr id="5" name="Chart 0"/>
          <p:cNvGraphicFramePr/>
          <p:nvPr/>
        </p:nvGraphicFramePr>
        <p:xfrm>
          <a:off x="548640" y="2011680"/>
          <a:ext cx="5120640" cy="3931920"/>
        </p:xfrm>
        <a:graphic>
          <a:graphicData uri="http://schemas.openxmlformats.org/drawingml/2006/chart">
            <c:chart xmlns:c="http://schemas.openxmlformats.org/drawingml/2006/chart" xmlns:r="http://schemas.openxmlformats.org/officeDocument/2006/relationships" r:id="rId1"/>
          </a:graphicData>
        </a:graphic>
      </p:graphicFrame>
      <p:sp>
        <p:nvSpPr>
          <p:cNvPr id="6" name="Text 3"/>
          <p:cNvSpPr/>
          <p:nvPr/>
        </p:nvSpPr>
        <p:spPr>
          <a:xfrm>
            <a:off x="548640" y="3429000"/>
            <a:ext cx="5120640" cy="548640"/>
          </a:xfrm>
          <a:prstGeom prst="rect">
            <a:avLst/>
          </a:prstGeom>
          <a:noFill/>
        </p:spPr>
        <p:txBody>
          <a:bodyPr wrap="square" lIns="0" tIns="0" rIns="0" bIns="0" rtlCol="0" anchor="ctr"/>
          <a:lstStyle/>
          <a:p>
            <a:pPr marL="0" indent="0" algn="ctr">
              <a:buNone/>
            </a:pPr>
            <a:r>
              <a:rPr lang="en-US" sz="2600" b="1" dirty="0">
                <a:solidFill>
                  <a:srgbClr val="C0392B"/>
                </a:solidFill>
                <a:latin typeface="Cambria" panose="02040503050406030204" pitchFamily="34" charset="0"/>
                <a:ea typeface="Cambria" panose="02040503050406030204" pitchFamily="34" charset="-122"/>
                <a:cs typeface="Cambria" panose="02040503050406030204" pitchFamily="34" charset="-120"/>
              </a:rPr>
              <a:t>10.25%</a:t>
            </a:r>
            <a:endParaRPr lang="en-US" sz="2600" dirty="0"/>
          </a:p>
        </p:txBody>
      </p:sp>
      <p:sp>
        <p:nvSpPr>
          <p:cNvPr id="7" name="Text 4"/>
          <p:cNvSpPr/>
          <p:nvPr/>
        </p:nvSpPr>
        <p:spPr>
          <a:xfrm>
            <a:off x="548640" y="3931920"/>
            <a:ext cx="5120640" cy="320040"/>
          </a:xfrm>
          <a:prstGeom prst="rect">
            <a:avLst/>
          </a:prstGeom>
          <a:noFill/>
        </p:spPr>
        <p:txBody>
          <a:bodyPr wrap="square" lIns="0" tIns="0" rIns="0" bIns="0" rtlCol="0" anchor="ctr"/>
          <a:lstStyle/>
          <a:p>
            <a:pPr marL="0" indent="0" algn="ctr">
              <a:buNone/>
            </a:pPr>
            <a:r>
              <a:rPr lang="en-US" sz="11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rate</a:t>
            </a:r>
            <a:endParaRPr lang="en-US" sz="1100" dirty="0"/>
          </a:p>
        </p:txBody>
      </p:sp>
      <p:sp>
        <p:nvSpPr>
          <p:cNvPr id="8" name="Text 5"/>
          <p:cNvSpPr/>
          <p:nvPr/>
        </p:nvSpPr>
        <p:spPr>
          <a:xfrm>
            <a:off x="6309360" y="1600200"/>
            <a:ext cx="530352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Transactions by Type</a:t>
            </a:r>
            <a:endParaRPr lang="en-US" sz="1400" dirty="0"/>
          </a:p>
        </p:txBody>
      </p:sp>
      <p:graphicFrame>
        <p:nvGraphicFramePr>
          <p:cNvPr id="9" name="Chart 1"/>
          <p:cNvGraphicFramePr/>
          <p:nvPr/>
        </p:nvGraphicFramePr>
        <p:xfrm>
          <a:off x="6309360" y="2011680"/>
          <a:ext cx="5303520" cy="393192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 8"/>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1800"/>
            <a:ext cx="91440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EDA: Where Fraud Concentrates</a:t>
            </a:r>
            <a:endParaRPr lang="en-US" sz="3200" dirty="0"/>
          </a:p>
        </p:txBody>
      </p:sp>
      <p:sp>
        <p:nvSpPr>
          <p:cNvPr id="3" name="Text 1"/>
          <p:cNvSpPr/>
          <p:nvPr/>
        </p:nvSpPr>
        <p:spPr>
          <a:xfrm>
            <a:off x="548640" y="1005840"/>
            <a:ext cx="100584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rate by transaction type — the key relationship driving model performance</a:t>
            </a:r>
            <a:endParaRPr lang="en-US" sz="1300" dirty="0"/>
          </a:p>
        </p:txBody>
      </p:sp>
      <p:graphicFrame>
        <p:nvGraphicFramePr>
          <p:cNvPr id="4" name="Chart 0"/>
          <p:cNvGraphicFramePr/>
          <p:nvPr/>
        </p:nvGraphicFramePr>
        <p:xfrm>
          <a:off x="548640" y="1691640"/>
          <a:ext cx="7040880" cy="438912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863840" y="1691640"/>
            <a:ext cx="3749040" cy="4389120"/>
          </a:xfrm>
          <a:prstGeom prst="roundRect">
            <a:avLst>
              <a:gd name="adj" fmla="val 2927"/>
            </a:avLst>
          </a:prstGeom>
          <a:solidFill>
            <a:srgbClr val="1E2761"/>
          </a:solidFill>
        </p:spPr>
      </p:sp>
      <p:sp>
        <p:nvSpPr>
          <p:cNvPr id="6" name="Text 3"/>
          <p:cNvSpPr/>
          <p:nvPr/>
        </p:nvSpPr>
        <p:spPr>
          <a:xfrm>
            <a:off x="8138160" y="1965960"/>
            <a:ext cx="3200400" cy="320040"/>
          </a:xfrm>
          <a:prstGeom prst="rect">
            <a:avLst/>
          </a:prstGeom>
          <a:noFill/>
        </p:spPr>
        <p:txBody>
          <a:bodyPr wrap="square" lIns="0" tIns="0" rIns="0" bIns="0" rtlCol="0" anchor="ctr"/>
          <a:lstStyle/>
          <a:p>
            <a:pPr marL="0" indent="0">
              <a:buNone/>
            </a:pPr>
            <a:r>
              <a:rPr lang="en-US" sz="1200" b="1" kern="0" spc="100" dirty="0">
                <a:solidFill>
                  <a:srgbClr val="CADCFC"/>
                </a:solidFill>
                <a:latin typeface="Calibri" panose="020F0502020204030204" pitchFamily="34" charset="0"/>
                <a:ea typeface="Calibri" panose="020F0502020204030204" pitchFamily="34" charset="-122"/>
                <a:cs typeface="Calibri" panose="020F0502020204030204" pitchFamily="34" charset="-120"/>
              </a:rPr>
              <a:t>EDA FINDINGS</a:t>
            </a:r>
            <a:endParaRPr lang="en-US" sz="1200" dirty="0"/>
          </a:p>
        </p:txBody>
      </p:sp>
      <p:sp>
        <p:nvSpPr>
          <p:cNvPr id="7" name="Shape 4"/>
          <p:cNvSpPr/>
          <p:nvPr/>
        </p:nvSpPr>
        <p:spPr>
          <a:xfrm>
            <a:off x="8211312" y="2432304"/>
            <a:ext cx="310896" cy="310896"/>
          </a:xfrm>
          <a:prstGeom prst="ellipse">
            <a:avLst/>
          </a:prstGeom>
          <a:solidFill>
            <a:srgbClr val="CADCFC"/>
          </a:solidFill>
        </p:spPr>
      </p:sp>
      <p:sp>
        <p:nvSpPr>
          <p:cNvPr id="8" name="Text 5"/>
          <p:cNvSpPr/>
          <p:nvPr/>
        </p:nvSpPr>
        <p:spPr>
          <a:xfrm>
            <a:off x="8211312" y="2432304"/>
            <a:ext cx="310896" cy="310896"/>
          </a:xfrm>
          <a:prstGeom prst="rect">
            <a:avLst/>
          </a:prstGeom>
          <a:noFill/>
        </p:spPr>
        <p:txBody>
          <a:bodyPr wrap="square" lIns="0" tIns="0" rIns="0" bIns="0" rtlCol="0" anchor="ctr"/>
          <a:lstStyle/>
          <a:p>
            <a:pPr marL="0" indent="0" algn="ctr">
              <a:buNone/>
            </a:pPr>
            <a:r>
              <a:rPr lang="en-US" sz="1600" b="1" dirty="0">
                <a:solidFill>
                  <a:srgbClr val="1E2761"/>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9" name="Text 6"/>
          <p:cNvSpPr/>
          <p:nvPr/>
        </p:nvSpPr>
        <p:spPr>
          <a:xfrm>
            <a:off x="8551545" y="2377440"/>
            <a:ext cx="2788920" cy="797560"/>
          </a:xfrm>
          <a:prstGeom prst="rect">
            <a:avLst/>
          </a:prstGeom>
          <a:noFill/>
        </p:spPr>
        <p:txBody>
          <a:bodyPr wrap="square" lIns="0" tIns="0" rIns="0" bIns="0" rtlCol="0" anchor="ctr"/>
          <a:lstStyle/>
          <a:p>
            <a:pPr marL="0" indent="0">
              <a:lnSpc>
                <a:spcPct val="130000"/>
              </a:lnSpc>
              <a:buNone/>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Fraud appears only in TRANSFER and CASH_OUT transactions — never in CASH_IN, PAYMENT, or DEBIT</a:t>
            </a:r>
            <a:endParaRPr lang="en-US" sz="1150" dirty="0"/>
          </a:p>
        </p:txBody>
      </p:sp>
      <p:sp>
        <p:nvSpPr>
          <p:cNvPr id="10" name="Shape 7"/>
          <p:cNvSpPr/>
          <p:nvPr/>
        </p:nvSpPr>
        <p:spPr>
          <a:xfrm>
            <a:off x="8211312" y="3621024"/>
            <a:ext cx="310896" cy="310896"/>
          </a:xfrm>
          <a:prstGeom prst="ellipse">
            <a:avLst/>
          </a:prstGeom>
          <a:solidFill>
            <a:srgbClr val="CADCFC"/>
          </a:solidFill>
        </p:spPr>
      </p:sp>
      <p:sp>
        <p:nvSpPr>
          <p:cNvPr id="11" name="Text 8"/>
          <p:cNvSpPr/>
          <p:nvPr/>
        </p:nvSpPr>
        <p:spPr>
          <a:xfrm>
            <a:off x="8211312" y="3621024"/>
            <a:ext cx="310896" cy="310896"/>
          </a:xfrm>
          <a:prstGeom prst="rect">
            <a:avLst/>
          </a:prstGeom>
          <a:noFill/>
        </p:spPr>
        <p:txBody>
          <a:bodyPr wrap="square" lIns="0" tIns="0" rIns="0" bIns="0" rtlCol="0" anchor="ctr"/>
          <a:lstStyle/>
          <a:p>
            <a:pPr marL="0" indent="0" algn="ctr">
              <a:buNone/>
            </a:pPr>
            <a:r>
              <a:rPr lang="en-US" sz="1600" b="1" dirty="0">
                <a:solidFill>
                  <a:srgbClr val="1E2761"/>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12" name="Text 9"/>
          <p:cNvSpPr/>
          <p:nvPr/>
        </p:nvSpPr>
        <p:spPr>
          <a:xfrm>
            <a:off x="8552815" y="3565525"/>
            <a:ext cx="2922905" cy="752475"/>
          </a:xfrm>
          <a:prstGeom prst="rect">
            <a:avLst/>
          </a:prstGeom>
          <a:noFill/>
        </p:spPr>
        <p:txBody>
          <a:bodyPr wrap="square" lIns="0" tIns="0" rIns="0" bIns="0" rtlCol="0" anchor="ctr"/>
          <a:lstStyle/>
          <a:p>
            <a:pPr marL="0" indent="0">
              <a:lnSpc>
                <a:spcPct val="130000"/>
              </a:lnSpc>
              <a:buNone/>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TRANSFER carries the highest fraud concentration at roughly 4 in 10 transactions</a:t>
            </a:r>
            <a:endParaRPr lang="en-US" sz="1150" dirty="0"/>
          </a:p>
        </p:txBody>
      </p:sp>
      <p:sp>
        <p:nvSpPr>
          <p:cNvPr id="13" name="Shape 10"/>
          <p:cNvSpPr/>
          <p:nvPr/>
        </p:nvSpPr>
        <p:spPr>
          <a:xfrm>
            <a:off x="8211312" y="4809744"/>
            <a:ext cx="310896" cy="310896"/>
          </a:xfrm>
          <a:prstGeom prst="ellipse">
            <a:avLst/>
          </a:prstGeom>
          <a:solidFill>
            <a:srgbClr val="CADCFC"/>
          </a:solidFill>
        </p:spPr>
      </p:sp>
      <p:sp>
        <p:nvSpPr>
          <p:cNvPr id="14" name="Text 11"/>
          <p:cNvSpPr/>
          <p:nvPr/>
        </p:nvSpPr>
        <p:spPr>
          <a:xfrm>
            <a:off x="8211312" y="4809744"/>
            <a:ext cx="310896" cy="310896"/>
          </a:xfrm>
          <a:prstGeom prst="rect">
            <a:avLst/>
          </a:prstGeom>
          <a:noFill/>
        </p:spPr>
        <p:txBody>
          <a:bodyPr wrap="square" lIns="0" tIns="0" rIns="0" bIns="0" rtlCol="0" anchor="ctr"/>
          <a:lstStyle/>
          <a:p>
            <a:pPr marL="0" indent="0" algn="ctr">
              <a:buNone/>
            </a:pPr>
            <a:r>
              <a:rPr lang="en-US" sz="1600" b="1" dirty="0">
                <a:solidFill>
                  <a:srgbClr val="1E2761"/>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15" name="Text 12"/>
          <p:cNvSpPr/>
          <p:nvPr/>
        </p:nvSpPr>
        <p:spPr>
          <a:xfrm>
            <a:off x="8552180" y="4766310"/>
            <a:ext cx="2923540" cy="644525"/>
          </a:xfrm>
          <a:prstGeom prst="rect">
            <a:avLst/>
          </a:prstGeom>
          <a:noFill/>
        </p:spPr>
        <p:txBody>
          <a:bodyPr wrap="square" lIns="0" tIns="0" rIns="0" bIns="0" rtlCol="0" anchor="ctr"/>
          <a:lstStyle/>
          <a:p>
            <a:pPr marL="0" indent="0">
              <a:lnSpc>
                <a:spcPct val="130000"/>
              </a:lnSpc>
              <a:buNone/>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Fraudulent transfers tend to involve larger amounts and often empty the origin balance</a:t>
            </a:r>
            <a:endParaRPr lang="en-US" sz="1150" dirty="0"/>
          </a:p>
        </p:txBody>
      </p:sp>
      <p:sp>
        <p:nvSpPr>
          <p:cNvPr id="18" name="Text 15"/>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Models Compared</a:t>
            </a:r>
            <a:endParaRPr lang="en-US" sz="3200" dirty="0"/>
          </a:p>
        </p:txBody>
      </p:sp>
      <p:sp>
        <p:nvSpPr>
          <p:cNvPr id="3" name="Text 1"/>
          <p:cNvSpPr/>
          <p:nvPr/>
        </p:nvSpPr>
        <p:spPr>
          <a:xfrm>
            <a:off x="548640" y="1005840"/>
            <a:ext cx="91440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Three classifiers trained and evaluated on the same train/test split</a:t>
            </a:r>
            <a:endParaRPr lang="en-US" sz="1300" dirty="0"/>
          </a:p>
        </p:txBody>
      </p:sp>
      <p:sp>
        <p:nvSpPr>
          <p:cNvPr id="4" name="Shape 2"/>
          <p:cNvSpPr/>
          <p:nvPr/>
        </p:nvSpPr>
        <p:spPr>
          <a:xfrm>
            <a:off x="548640" y="1828800"/>
            <a:ext cx="3520440" cy="4114800"/>
          </a:xfrm>
          <a:prstGeom prst="roundRect">
            <a:avLst>
              <a:gd name="adj" fmla="val 3117"/>
            </a:avLst>
          </a:prstGeom>
          <a:solidFill>
            <a:srgbClr val="F4F6FC"/>
          </a:solidFill>
          <a:effectLst>
            <a:outerShdw blurRad="76200" dist="25400" dir="5400000" algn="bl" rotWithShape="0">
              <a:srgbClr val="1E2761">
                <a:alpha val="12000"/>
              </a:srgbClr>
            </a:outerShdw>
          </a:effectLst>
        </p:spPr>
      </p:sp>
      <p:sp>
        <p:nvSpPr>
          <p:cNvPr id="5" name="Shape 3"/>
          <p:cNvSpPr/>
          <p:nvPr/>
        </p:nvSpPr>
        <p:spPr>
          <a:xfrm>
            <a:off x="822960" y="2103120"/>
            <a:ext cx="1737360" cy="347472"/>
          </a:xfrm>
          <a:prstGeom prst="roundRect">
            <a:avLst>
              <a:gd name="adj" fmla="val 50000"/>
            </a:avLst>
          </a:prstGeom>
          <a:solidFill>
            <a:srgbClr val="1E2761"/>
          </a:solidFill>
        </p:spPr>
      </p:sp>
      <p:sp>
        <p:nvSpPr>
          <p:cNvPr id="6" name="Text 4"/>
          <p:cNvSpPr/>
          <p:nvPr/>
        </p:nvSpPr>
        <p:spPr>
          <a:xfrm>
            <a:off x="822960" y="2103120"/>
            <a:ext cx="1737360" cy="347472"/>
          </a:xfrm>
          <a:prstGeom prst="rect">
            <a:avLst/>
          </a:prstGeom>
          <a:noFill/>
        </p:spPr>
        <p:txBody>
          <a:bodyPr wrap="square" lIns="0" tIns="0" rIns="0" bIns="0" rtlCol="0" anchor="ctr"/>
          <a:lstStyle/>
          <a:p>
            <a:pPr marL="0" indent="0" algn="ctr">
              <a:buNone/>
            </a:pPr>
            <a:r>
              <a:rPr lang="en-US" sz="10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BASELINE</a:t>
            </a:r>
            <a:endParaRPr lang="en-US" sz="1000" dirty="0"/>
          </a:p>
        </p:txBody>
      </p:sp>
      <p:sp>
        <p:nvSpPr>
          <p:cNvPr id="7" name="Text 5"/>
          <p:cNvSpPr/>
          <p:nvPr/>
        </p:nvSpPr>
        <p:spPr>
          <a:xfrm>
            <a:off x="822960" y="2651760"/>
            <a:ext cx="2971800" cy="640080"/>
          </a:xfrm>
          <a:prstGeom prst="rect">
            <a:avLst/>
          </a:prstGeom>
          <a:noFill/>
        </p:spPr>
        <p:txBody>
          <a:bodyPr wrap="square" lIns="0" tIns="0" rIns="0" bIns="0" rtlCol="0" anchor="ctr"/>
          <a:lstStyle/>
          <a:p>
            <a:pPr marL="0" indent="0">
              <a:buNone/>
            </a:pPr>
            <a:r>
              <a:rPr lang="en-US" sz="1900" b="1" dirty="0">
                <a:solidFill>
                  <a:srgbClr val="1E2761"/>
                </a:solidFill>
                <a:latin typeface="Cambria" panose="02040503050406030204" pitchFamily="34" charset="0"/>
                <a:ea typeface="Cambria" panose="02040503050406030204" pitchFamily="34" charset="-122"/>
                <a:cs typeface="Cambria" panose="02040503050406030204" pitchFamily="34" charset="-120"/>
              </a:rPr>
              <a:t>Logistic Regression</a:t>
            </a:r>
            <a:endParaRPr lang="en-US" sz="1900" dirty="0"/>
          </a:p>
        </p:txBody>
      </p:sp>
      <p:sp>
        <p:nvSpPr>
          <p:cNvPr id="8" name="Text 6"/>
          <p:cNvSpPr/>
          <p:nvPr/>
        </p:nvSpPr>
        <p:spPr>
          <a:xfrm>
            <a:off x="822960" y="3337560"/>
            <a:ext cx="2971800" cy="1828800"/>
          </a:xfrm>
          <a:prstGeom prst="rect">
            <a:avLst/>
          </a:prstGeom>
          <a:noFill/>
        </p:spPr>
        <p:txBody>
          <a:bodyPr wrap="square" lIns="0" tIns="0" rIns="0" bIns="0" rtlCol="0" anchor="ctr"/>
          <a:lstStyle/>
          <a:p>
            <a:pPr marL="0" indent="0">
              <a:lnSpc>
                <a:spcPct val="135000"/>
              </a:lnSpc>
              <a:buNone/>
            </a:pPr>
            <a:r>
              <a:rPr lang="en-US" sz="1200" dirty="0">
                <a:solidFill>
                  <a:srgbClr val="5A6285"/>
                </a:solidFill>
                <a:latin typeface="Calibri" panose="020F0502020204030204" pitchFamily="34" charset="0"/>
                <a:ea typeface="Calibri" panose="020F0502020204030204" pitchFamily="34" charset="-122"/>
                <a:cs typeface="Calibri" panose="020F0502020204030204" pitchFamily="34" charset="-120"/>
              </a:rPr>
              <a:t>Simple linear baseline model. Fast to train and easy to interpret, but limited when patterns are non-linear.</a:t>
            </a:r>
            <a:endParaRPr lang="en-US" sz="1200" dirty="0"/>
          </a:p>
        </p:txBody>
      </p:sp>
      <p:sp>
        <p:nvSpPr>
          <p:cNvPr id="9" name="Shape 7"/>
          <p:cNvSpPr/>
          <p:nvPr/>
        </p:nvSpPr>
        <p:spPr>
          <a:xfrm>
            <a:off x="4343400" y="1828800"/>
            <a:ext cx="3520440" cy="4114800"/>
          </a:xfrm>
          <a:prstGeom prst="roundRect">
            <a:avLst>
              <a:gd name="adj" fmla="val 3117"/>
            </a:avLst>
          </a:prstGeom>
          <a:solidFill>
            <a:srgbClr val="1E2761"/>
          </a:solidFill>
          <a:effectLst>
            <a:outerShdw blurRad="76200" dist="25400" dir="5400000" algn="bl" rotWithShape="0">
              <a:srgbClr val="1E2761">
                <a:alpha val="12000"/>
              </a:srgbClr>
            </a:outerShdw>
          </a:effectLst>
        </p:spPr>
      </p:sp>
      <p:sp>
        <p:nvSpPr>
          <p:cNvPr id="10" name="Shape 8"/>
          <p:cNvSpPr/>
          <p:nvPr/>
        </p:nvSpPr>
        <p:spPr>
          <a:xfrm>
            <a:off x="4617720" y="2103120"/>
            <a:ext cx="1737360" cy="347472"/>
          </a:xfrm>
          <a:prstGeom prst="roundRect">
            <a:avLst>
              <a:gd name="adj" fmla="val 50000"/>
            </a:avLst>
          </a:prstGeom>
          <a:solidFill>
            <a:srgbClr val="CADCFC"/>
          </a:solidFill>
        </p:spPr>
      </p:sp>
      <p:sp>
        <p:nvSpPr>
          <p:cNvPr id="11" name="Text 9"/>
          <p:cNvSpPr/>
          <p:nvPr/>
        </p:nvSpPr>
        <p:spPr>
          <a:xfrm>
            <a:off x="4617720" y="2103120"/>
            <a:ext cx="1737360" cy="347472"/>
          </a:xfrm>
          <a:prstGeom prst="rect">
            <a:avLst/>
          </a:prstGeom>
          <a:noFill/>
        </p:spPr>
        <p:txBody>
          <a:bodyPr wrap="square" lIns="0" tIns="0" rIns="0" bIns="0" rtlCol="0" anchor="ctr"/>
          <a:lstStyle/>
          <a:p>
            <a:pPr marL="0" indent="0" algn="ctr">
              <a:buNone/>
            </a:pPr>
            <a:r>
              <a:rPr lang="en-US" sz="1000" b="1" kern="0" spc="100" dirty="0">
                <a:solidFill>
                  <a:srgbClr val="1E2761"/>
                </a:solidFill>
                <a:latin typeface="Calibri" panose="020F0502020204030204" pitchFamily="34" charset="0"/>
                <a:ea typeface="Calibri" panose="020F0502020204030204" pitchFamily="34" charset="-122"/>
                <a:cs typeface="Calibri" panose="020F0502020204030204" pitchFamily="34" charset="-120"/>
              </a:rPr>
              <a:t>SELECTED</a:t>
            </a:r>
            <a:endParaRPr lang="en-US" sz="1000" dirty="0"/>
          </a:p>
        </p:txBody>
      </p:sp>
      <p:sp>
        <p:nvSpPr>
          <p:cNvPr id="12" name="Text 10"/>
          <p:cNvSpPr/>
          <p:nvPr/>
        </p:nvSpPr>
        <p:spPr>
          <a:xfrm>
            <a:off x="4617720" y="2651760"/>
            <a:ext cx="2971800" cy="640080"/>
          </a:xfrm>
          <a:prstGeom prst="rect">
            <a:avLst/>
          </a:prstGeom>
          <a:noFill/>
        </p:spPr>
        <p:txBody>
          <a:bodyPr wrap="square" lIns="0" tIns="0" rIns="0" bIns="0"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Random Forest</a:t>
            </a:r>
            <a:endParaRPr lang="en-US" sz="1900" dirty="0"/>
          </a:p>
        </p:txBody>
      </p:sp>
      <p:sp>
        <p:nvSpPr>
          <p:cNvPr id="13" name="Text 11"/>
          <p:cNvSpPr/>
          <p:nvPr/>
        </p:nvSpPr>
        <p:spPr>
          <a:xfrm>
            <a:off x="4617720" y="3337560"/>
            <a:ext cx="2971800" cy="1828800"/>
          </a:xfrm>
          <a:prstGeom prst="rect">
            <a:avLst/>
          </a:prstGeom>
          <a:noFill/>
        </p:spPr>
        <p:txBody>
          <a:bodyPr wrap="square" lIns="0" tIns="0" rIns="0" bIns="0" rtlCol="0" anchor="ctr"/>
          <a:lstStyle/>
          <a:p>
            <a:pPr marL="0" indent="0">
              <a:lnSpc>
                <a:spcPct val="135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Ensemble of decision trees. Captures non-linear patterns, ranks feature importance, and handles imbalance via class weighting.</a:t>
            </a:r>
            <a:endParaRPr lang="en-US" sz="1200" dirty="0"/>
          </a:p>
        </p:txBody>
      </p:sp>
      <p:sp>
        <p:nvSpPr>
          <p:cNvPr id="14" name="Shape 12"/>
          <p:cNvSpPr/>
          <p:nvPr/>
        </p:nvSpPr>
        <p:spPr>
          <a:xfrm>
            <a:off x="8138160" y="1849120"/>
            <a:ext cx="3520440" cy="4114800"/>
          </a:xfrm>
          <a:prstGeom prst="roundRect">
            <a:avLst>
              <a:gd name="adj" fmla="val 3117"/>
            </a:avLst>
          </a:prstGeom>
          <a:solidFill>
            <a:srgbClr val="F4F6FC"/>
          </a:solidFill>
          <a:effectLst>
            <a:outerShdw blurRad="76200" dist="25400" dir="5400000" algn="bl" rotWithShape="0">
              <a:srgbClr val="1E2761">
                <a:alpha val="12000"/>
              </a:srgbClr>
            </a:outerShdw>
          </a:effectLst>
        </p:spPr>
      </p:sp>
      <p:sp>
        <p:nvSpPr>
          <p:cNvPr id="15" name="Shape 13"/>
          <p:cNvSpPr/>
          <p:nvPr/>
        </p:nvSpPr>
        <p:spPr>
          <a:xfrm>
            <a:off x="8412480" y="2103120"/>
            <a:ext cx="1737360" cy="347472"/>
          </a:xfrm>
          <a:prstGeom prst="roundRect">
            <a:avLst>
              <a:gd name="adj" fmla="val 50000"/>
            </a:avLst>
          </a:prstGeom>
          <a:solidFill>
            <a:srgbClr val="1E2761"/>
          </a:solidFill>
        </p:spPr>
      </p:sp>
      <p:sp>
        <p:nvSpPr>
          <p:cNvPr id="16" name="Text 14"/>
          <p:cNvSpPr/>
          <p:nvPr/>
        </p:nvSpPr>
        <p:spPr>
          <a:xfrm>
            <a:off x="8412480" y="2103120"/>
            <a:ext cx="1737360" cy="347472"/>
          </a:xfrm>
          <a:prstGeom prst="rect">
            <a:avLst/>
          </a:prstGeom>
          <a:noFill/>
        </p:spPr>
        <p:txBody>
          <a:bodyPr wrap="square" lIns="0" tIns="0" rIns="0" bIns="0" rtlCol="0" anchor="ctr"/>
          <a:lstStyle/>
          <a:p>
            <a:pPr marL="0" indent="0" algn="ctr">
              <a:buNone/>
            </a:pPr>
            <a:r>
              <a:rPr lang="en-US" sz="10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STRONG ALT.</a:t>
            </a:r>
            <a:endParaRPr lang="en-US" sz="1000" dirty="0"/>
          </a:p>
        </p:txBody>
      </p:sp>
      <p:sp>
        <p:nvSpPr>
          <p:cNvPr id="17" name="Text 15"/>
          <p:cNvSpPr/>
          <p:nvPr/>
        </p:nvSpPr>
        <p:spPr>
          <a:xfrm>
            <a:off x="8412480" y="2651760"/>
            <a:ext cx="2971800" cy="640080"/>
          </a:xfrm>
          <a:prstGeom prst="rect">
            <a:avLst/>
          </a:prstGeom>
          <a:noFill/>
        </p:spPr>
        <p:txBody>
          <a:bodyPr wrap="square" lIns="0" tIns="0" rIns="0" bIns="0" rtlCol="0" anchor="ctr"/>
          <a:lstStyle/>
          <a:p>
            <a:pPr marL="0" indent="0">
              <a:buNone/>
            </a:pPr>
            <a:r>
              <a:rPr lang="en-US" sz="1900" b="1" dirty="0">
                <a:solidFill>
                  <a:srgbClr val="1E2761"/>
                </a:solidFill>
                <a:latin typeface="Cambria" panose="02040503050406030204" pitchFamily="34" charset="0"/>
                <a:ea typeface="Cambria" panose="02040503050406030204" pitchFamily="34" charset="-122"/>
                <a:cs typeface="Cambria" panose="02040503050406030204" pitchFamily="34" charset="-120"/>
              </a:rPr>
              <a:t>XGBoost</a:t>
            </a:r>
            <a:endParaRPr lang="en-US" sz="1900" dirty="0"/>
          </a:p>
        </p:txBody>
      </p:sp>
      <p:sp>
        <p:nvSpPr>
          <p:cNvPr id="18" name="Text 16"/>
          <p:cNvSpPr/>
          <p:nvPr/>
        </p:nvSpPr>
        <p:spPr>
          <a:xfrm>
            <a:off x="8412480" y="3337560"/>
            <a:ext cx="2971800" cy="1828800"/>
          </a:xfrm>
          <a:prstGeom prst="rect">
            <a:avLst/>
          </a:prstGeom>
          <a:noFill/>
        </p:spPr>
        <p:txBody>
          <a:bodyPr wrap="square" lIns="0" tIns="0" rIns="0" bIns="0" rtlCol="0" anchor="ctr"/>
          <a:lstStyle/>
          <a:p>
            <a:pPr marL="0" indent="0">
              <a:lnSpc>
                <a:spcPct val="135000"/>
              </a:lnSpc>
              <a:buNone/>
            </a:pPr>
            <a:r>
              <a:rPr lang="en-US" sz="1200" dirty="0">
                <a:solidFill>
                  <a:srgbClr val="5A6285"/>
                </a:solidFill>
                <a:latin typeface="Calibri" panose="020F0502020204030204" pitchFamily="34" charset="0"/>
                <a:ea typeface="Calibri" panose="020F0502020204030204" pitchFamily="34" charset="-122"/>
                <a:cs typeface="Calibri" panose="020F0502020204030204" pitchFamily="34" charset="-120"/>
              </a:rPr>
              <a:t>Gradient-boosted trees. Handles class imbalance  and often leads on complex tabular data.</a:t>
            </a:r>
            <a:endParaRPr lang="en-US" sz="1200" dirty="0"/>
          </a:p>
        </p:txBody>
      </p:sp>
      <p:sp>
        <p:nvSpPr>
          <p:cNvPr id="19" name="Text 17"/>
          <p:cNvSpPr/>
          <p:nvPr/>
        </p:nvSpPr>
        <p:spPr>
          <a:xfrm>
            <a:off x="457200" y="6537960"/>
            <a:ext cx="5486400" cy="274320"/>
          </a:xfrm>
          <a:prstGeom prst="rect">
            <a:avLst/>
          </a:prstGeom>
          <a:noFill/>
        </p:spPr>
        <p:txBody>
          <a:bodyPr wrap="square" lIns="0" tIns="0" rIns="0" bIns="0" rtlCol="0" anchor="ctr"/>
          <a:lstStyle/>
          <a:p>
            <a:pPr marL="0" indent="0" algn="l">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DETECTION ML PIPELINE</a:t>
            </a:r>
            <a:endParaRPr lang="en-US" sz="900" dirty="0"/>
          </a:p>
        </p:txBody>
      </p:sp>
      <p:sp>
        <p:nvSpPr>
          <p:cNvPr id="20" name="Text 18"/>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Train-Test Split</a:t>
            </a:r>
            <a:endParaRPr lang="en-US" sz="3200" dirty="0"/>
          </a:p>
        </p:txBody>
      </p:sp>
      <p:sp>
        <p:nvSpPr>
          <p:cNvPr id="3" name="Text 1"/>
          <p:cNvSpPr/>
          <p:nvPr/>
        </p:nvSpPr>
        <p:spPr>
          <a:xfrm>
            <a:off x="548640" y="1005840"/>
            <a:ext cx="100584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80/20 split, stratified to preserve the 10.25% fraud ratio in both sets</a:t>
            </a:r>
            <a:endParaRPr lang="en-US" sz="1300" dirty="0"/>
          </a:p>
        </p:txBody>
      </p:sp>
      <p:sp>
        <p:nvSpPr>
          <p:cNvPr id="4" name="Text 2"/>
          <p:cNvSpPr/>
          <p:nvPr/>
        </p:nvSpPr>
        <p:spPr>
          <a:xfrm>
            <a:off x="548640" y="1691640"/>
            <a:ext cx="594360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11,142 Total Transactions</a:t>
            </a:r>
            <a:endParaRPr lang="en-US" sz="1400" dirty="0"/>
          </a:p>
        </p:txBody>
      </p:sp>
      <p:sp>
        <p:nvSpPr>
          <p:cNvPr id="5" name="Shape 3"/>
          <p:cNvSpPr/>
          <p:nvPr/>
        </p:nvSpPr>
        <p:spPr>
          <a:xfrm>
            <a:off x="548640" y="2148840"/>
            <a:ext cx="5047488" cy="777240"/>
          </a:xfrm>
          <a:prstGeom prst="rect">
            <a:avLst/>
          </a:prstGeom>
          <a:solidFill>
            <a:srgbClr val="1E2761"/>
          </a:solidFill>
          <a:ln w="19050">
            <a:solidFill>
              <a:srgbClr val="FFFFFF"/>
            </a:solidFill>
            <a:prstDash val="solid"/>
          </a:ln>
        </p:spPr>
      </p:sp>
      <p:sp>
        <p:nvSpPr>
          <p:cNvPr id="6" name="Shape 4"/>
          <p:cNvSpPr/>
          <p:nvPr/>
        </p:nvSpPr>
        <p:spPr>
          <a:xfrm>
            <a:off x="5596128" y="2148840"/>
            <a:ext cx="1261872" cy="777240"/>
          </a:xfrm>
          <a:prstGeom prst="rect">
            <a:avLst/>
          </a:prstGeom>
          <a:solidFill>
            <a:srgbClr val="6B7BC4"/>
          </a:solidFill>
          <a:ln w="19050">
            <a:solidFill>
              <a:srgbClr val="FFFFFF"/>
            </a:solidFill>
            <a:prstDash val="solid"/>
          </a:ln>
        </p:spPr>
      </p:sp>
      <p:sp>
        <p:nvSpPr>
          <p:cNvPr id="7" name="Text 5"/>
          <p:cNvSpPr/>
          <p:nvPr/>
        </p:nvSpPr>
        <p:spPr>
          <a:xfrm>
            <a:off x="548640" y="2221992"/>
            <a:ext cx="5047488" cy="32004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TRAIN · 80%</a:t>
            </a:r>
            <a:endParaRPr lang="en-US" sz="1200" dirty="0"/>
          </a:p>
        </p:txBody>
      </p:sp>
      <p:sp>
        <p:nvSpPr>
          <p:cNvPr id="8" name="Text 6"/>
          <p:cNvSpPr/>
          <p:nvPr/>
        </p:nvSpPr>
        <p:spPr>
          <a:xfrm>
            <a:off x="548640" y="2532888"/>
            <a:ext cx="5047488" cy="320040"/>
          </a:xfrm>
          <a:prstGeom prst="rect">
            <a:avLst/>
          </a:prstGeom>
          <a:noFill/>
        </p:spPr>
        <p:txBody>
          <a:bodyPr wrap="square" lIns="0" tIns="0" rIns="0" bIns="0" rtlCol="0" anchor="ctr"/>
          <a:lstStyle/>
          <a:p>
            <a:pPr marL="0" indent="0" algn="ctr">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8,913 rows</a:t>
            </a:r>
            <a:endParaRPr lang="en-US" sz="1100" dirty="0"/>
          </a:p>
        </p:txBody>
      </p:sp>
      <p:sp>
        <p:nvSpPr>
          <p:cNvPr id="9" name="Text 7"/>
          <p:cNvSpPr/>
          <p:nvPr/>
        </p:nvSpPr>
        <p:spPr>
          <a:xfrm>
            <a:off x="5596128" y="2176272"/>
            <a:ext cx="1261872" cy="411480"/>
          </a:xfrm>
          <a:prstGeom prst="rect">
            <a:avLst/>
          </a:prstGeom>
          <a:noFill/>
        </p:spPr>
        <p:txBody>
          <a:bodyPr wrap="square" lIns="0" tIns="0" rIns="0" bIns="0" rtlCol="0" anchor="ctr"/>
          <a:lstStyle/>
          <a:p>
            <a:pPr marL="0" indent="0" algn="ctr">
              <a:lnSpc>
                <a:spcPct val="100000"/>
              </a:lnSpc>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TEST</a:t>
            </a:r>
            <a:endParaRPr lang="en-US" sz="1050" dirty="0"/>
          </a:p>
          <a:p>
            <a:pPr marL="0" indent="0" algn="ctr">
              <a:lnSpc>
                <a:spcPct val="100000"/>
              </a:lnSpc>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20%</a:t>
            </a:r>
            <a:endParaRPr lang="en-US" sz="1050" dirty="0"/>
          </a:p>
        </p:txBody>
      </p:sp>
      <p:sp>
        <p:nvSpPr>
          <p:cNvPr id="10" name="Text 8"/>
          <p:cNvSpPr/>
          <p:nvPr/>
        </p:nvSpPr>
        <p:spPr>
          <a:xfrm>
            <a:off x="5596128" y="2587752"/>
            <a:ext cx="1261872" cy="274320"/>
          </a:xfrm>
          <a:prstGeom prst="rect">
            <a:avLst/>
          </a:prstGeom>
          <a:noFill/>
        </p:spPr>
        <p:txBody>
          <a:bodyPr wrap="square" lIns="0" tIns="0" rIns="0" bIns="0"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2,229</a:t>
            </a:r>
            <a:endParaRPr lang="en-US" sz="1000" dirty="0"/>
          </a:p>
        </p:txBody>
      </p:sp>
      <p:sp>
        <p:nvSpPr>
          <p:cNvPr id="11" name="Text 9"/>
          <p:cNvSpPr/>
          <p:nvPr/>
        </p:nvSpPr>
        <p:spPr>
          <a:xfrm>
            <a:off x="548640" y="3246120"/>
            <a:ext cx="594360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Fraud Ratio Preserved in Both Sets</a:t>
            </a:r>
            <a:endParaRPr lang="en-US" sz="1400" dirty="0"/>
          </a:p>
        </p:txBody>
      </p:sp>
      <p:sp>
        <p:nvSpPr>
          <p:cNvPr id="12" name="Shape 10"/>
          <p:cNvSpPr/>
          <p:nvPr/>
        </p:nvSpPr>
        <p:spPr>
          <a:xfrm>
            <a:off x="548640" y="3657600"/>
            <a:ext cx="1737360" cy="502920"/>
          </a:xfrm>
          <a:prstGeom prst="rect">
            <a:avLst/>
          </a:prstGeom>
          <a:solidFill>
            <a:srgbClr val="1E2761"/>
          </a:solidFill>
          <a:ln w="9525">
            <a:solidFill>
              <a:srgbClr val="E5E7F0"/>
            </a:solidFill>
            <a:prstDash val="solid"/>
          </a:ln>
        </p:spPr>
      </p:sp>
      <p:sp>
        <p:nvSpPr>
          <p:cNvPr id="13" name="Text 11"/>
          <p:cNvSpPr/>
          <p:nvPr/>
        </p:nvSpPr>
        <p:spPr>
          <a:xfrm>
            <a:off x="640080" y="3657600"/>
            <a:ext cx="1554480" cy="502920"/>
          </a:xfrm>
          <a:prstGeom prst="rect">
            <a:avLst/>
          </a:prstGeom>
          <a:noFill/>
        </p:spPr>
        <p:txBody>
          <a:bodyPr wrap="square" lIns="0" tIns="0" rIns="0" bIns="0" rtlCol="0" anchor="ctr"/>
          <a:lstStyle/>
          <a:p>
            <a:pPr marL="0" indent="0" algn="l">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Split</a:t>
            </a:r>
            <a:endParaRPr lang="en-US" sz="1150" dirty="0"/>
          </a:p>
        </p:txBody>
      </p:sp>
      <p:sp>
        <p:nvSpPr>
          <p:cNvPr id="14" name="Shape 12"/>
          <p:cNvSpPr/>
          <p:nvPr/>
        </p:nvSpPr>
        <p:spPr>
          <a:xfrm>
            <a:off x="2286000" y="3657600"/>
            <a:ext cx="1554480" cy="502920"/>
          </a:xfrm>
          <a:prstGeom prst="rect">
            <a:avLst/>
          </a:prstGeom>
          <a:solidFill>
            <a:srgbClr val="1E2761"/>
          </a:solidFill>
          <a:ln w="9525">
            <a:solidFill>
              <a:srgbClr val="E5E7F0"/>
            </a:solidFill>
            <a:prstDash val="solid"/>
          </a:ln>
        </p:spPr>
      </p:sp>
      <p:sp>
        <p:nvSpPr>
          <p:cNvPr id="15" name="Text 13"/>
          <p:cNvSpPr/>
          <p:nvPr/>
        </p:nvSpPr>
        <p:spPr>
          <a:xfrm>
            <a:off x="2377440" y="3657600"/>
            <a:ext cx="1371600" cy="50292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Not Fraud</a:t>
            </a:r>
            <a:endParaRPr lang="en-US" sz="1150" dirty="0"/>
          </a:p>
        </p:txBody>
      </p:sp>
      <p:sp>
        <p:nvSpPr>
          <p:cNvPr id="16" name="Shape 14"/>
          <p:cNvSpPr/>
          <p:nvPr/>
        </p:nvSpPr>
        <p:spPr>
          <a:xfrm>
            <a:off x="3840480" y="3657600"/>
            <a:ext cx="1371600" cy="502920"/>
          </a:xfrm>
          <a:prstGeom prst="rect">
            <a:avLst/>
          </a:prstGeom>
          <a:solidFill>
            <a:srgbClr val="1E2761"/>
          </a:solidFill>
          <a:ln w="9525">
            <a:solidFill>
              <a:srgbClr val="E5E7F0"/>
            </a:solidFill>
            <a:prstDash val="solid"/>
          </a:ln>
        </p:spPr>
      </p:sp>
      <p:sp>
        <p:nvSpPr>
          <p:cNvPr id="17" name="Text 15"/>
          <p:cNvSpPr/>
          <p:nvPr/>
        </p:nvSpPr>
        <p:spPr>
          <a:xfrm>
            <a:off x="3931920" y="3657600"/>
            <a:ext cx="1188720" cy="50292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Fraud</a:t>
            </a:r>
            <a:endParaRPr lang="en-US" sz="1150" dirty="0"/>
          </a:p>
        </p:txBody>
      </p:sp>
      <p:sp>
        <p:nvSpPr>
          <p:cNvPr id="18" name="Shape 16"/>
          <p:cNvSpPr/>
          <p:nvPr/>
        </p:nvSpPr>
        <p:spPr>
          <a:xfrm>
            <a:off x="5212080" y="3657600"/>
            <a:ext cx="1371600" cy="502920"/>
          </a:xfrm>
          <a:prstGeom prst="rect">
            <a:avLst/>
          </a:prstGeom>
          <a:solidFill>
            <a:srgbClr val="1E2761"/>
          </a:solidFill>
          <a:ln w="9525">
            <a:solidFill>
              <a:srgbClr val="E5E7F0"/>
            </a:solidFill>
            <a:prstDash val="solid"/>
          </a:ln>
        </p:spPr>
      </p:sp>
      <p:sp>
        <p:nvSpPr>
          <p:cNvPr id="19" name="Text 17"/>
          <p:cNvSpPr/>
          <p:nvPr/>
        </p:nvSpPr>
        <p:spPr>
          <a:xfrm>
            <a:off x="5303520" y="3657600"/>
            <a:ext cx="1188720" cy="50292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Fraud %</a:t>
            </a:r>
            <a:endParaRPr lang="en-US" sz="1150" dirty="0"/>
          </a:p>
        </p:txBody>
      </p:sp>
      <p:sp>
        <p:nvSpPr>
          <p:cNvPr id="20" name="Shape 18"/>
          <p:cNvSpPr/>
          <p:nvPr/>
        </p:nvSpPr>
        <p:spPr>
          <a:xfrm>
            <a:off x="548640" y="4160520"/>
            <a:ext cx="1737360" cy="502920"/>
          </a:xfrm>
          <a:prstGeom prst="rect">
            <a:avLst/>
          </a:prstGeom>
          <a:solidFill>
            <a:srgbClr val="F4F6FC"/>
          </a:solidFill>
          <a:ln w="9525">
            <a:solidFill>
              <a:srgbClr val="E5E7F0"/>
            </a:solidFill>
            <a:prstDash val="solid"/>
          </a:ln>
        </p:spPr>
      </p:sp>
      <p:sp>
        <p:nvSpPr>
          <p:cNvPr id="21" name="Text 19"/>
          <p:cNvSpPr/>
          <p:nvPr/>
        </p:nvSpPr>
        <p:spPr>
          <a:xfrm>
            <a:off x="640080" y="4160520"/>
            <a:ext cx="1554480" cy="502920"/>
          </a:xfrm>
          <a:prstGeom prst="rect">
            <a:avLst/>
          </a:prstGeom>
          <a:noFill/>
        </p:spPr>
        <p:txBody>
          <a:bodyPr wrap="square" lIns="0" tIns="0" rIns="0" bIns="0" rtlCol="0" anchor="ctr"/>
          <a:lstStyle/>
          <a:p>
            <a:pPr marL="0" indent="0" algn="l">
              <a:buNone/>
            </a:pPr>
            <a:r>
              <a:rPr lang="en-US" sz="1150" b="1" dirty="0">
                <a:solidFill>
                  <a:srgbClr val="1B1F3B"/>
                </a:solidFill>
                <a:latin typeface="Calibri" panose="020F0502020204030204" pitchFamily="34" charset="0"/>
                <a:ea typeface="Calibri" panose="020F0502020204030204" pitchFamily="34" charset="-122"/>
                <a:cs typeface="Calibri" panose="020F0502020204030204" pitchFamily="34" charset="-120"/>
              </a:rPr>
              <a:t>Training Set</a:t>
            </a:r>
            <a:endParaRPr lang="en-US" sz="1150" dirty="0"/>
          </a:p>
        </p:txBody>
      </p:sp>
      <p:sp>
        <p:nvSpPr>
          <p:cNvPr id="22" name="Shape 20"/>
          <p:cNvSpPr/>
          <p:nvPr/>
        </p:nvSpPr>
        <p:spPr>
          <a:xfrm>
            <a:off x="2286000" y="4160520"/>
            <a:ext cx="1554480" cy="502920"/>
          </a:xfrm>
          <a:prstGeom prst="rect">
            <a:avLst/>
          </a:prstGeom>
          <a:solidFill>
            <a:srgbClr val="F4F6FC"/>
          </a:solidFill>
          <a:ln w="9525">
            <a:solidFill>
              <a:srgbClr val="E5E7F0"/>
            </a:solidFill>
            <a:prstDash val="solid"/>
          </a:ln>
        </p:spPr>
      </p:sp>
      <p:sp>
        <p:nvSpPr>
          <p:cNvPr id="23" name="Text 21"/>
          <p:cNvSpPr/>
          <p:nvPr/>
        </p:nvSpPr>
        <p:spPr>
          <a:xfrm>
            <a:off x="2377440" y="4160520"/>
            <a:ext cx="1371600" cy="502920"/>
          </a:xfrm>
          <a:prstGeom prst="rect">
            <a:avLst/>
          </a:prstGeom>
          <a:noFill/>
        </p:spPr>
        <p:txBody>
          <a:bodyPr wrap="square" lIns="0" tIns="0" rIns="0" bIns="0" rtlCol="0" anchor="ctr"/>
          <a:lstStyle/>
          <a:p>
            <a:pPr marL="0" indent="0" algn="ctr">
              <a:buNone/>
            </a:pPr>
            <a:r>
              <a:rPr lang="en-US" sz="1150" dirty="0">
                <a:solidFill>
                  <a:srgbClr val="1B1F3B"/>
                </a:solidFill>
                <a:latin typeface="Calibri" panose="020F0502020204030204" pitchFamily="34" charset="0"/>
                <a:ea typeface="Calibri" panose="020F0502020204030204" pitchFamily="34" charset="-122"/>
                <a:cs typeface="Calibri" panose="020F0502020204030204" pitchFamily="34" charset="-120"/>
              </a:rPr>
              <a:t>7,999</a:t>
            </a:r>
            <a:endParaRPr lang="en-US" sz="1150" dirty="0"/>
          </a:p>
        </p:txBody>
      </p:sp>
      <p:sp>
        <p:nvSpPr>
          <p:cNvPr id="24" name="Shape 22"/>
          <p:cNvSpPr/>
          <p:nvPr/>
        </p:nvSpPr>
        <p:spPr>
          <a:xfrm>
            <a:off x="3840480" y="4160520"/>
            <a:ext cx="1371600" cy="502920"/>
          </a:xfrm>
          <a:prstGeom prst="rect">
            <a:avLst/>
          </a:prstGeom>
          <a:solidFill>
            <a:srgbClr val="F4F6FC"/>
          </a:solidFill>
          <a:ln w="9525">
            <a:solidFill>
              <a:srgbClr val="E5E7F0"/>
            </a:solidFill>
            <a:prstDash val="solid"/>
          </a:ln>
        </p:spPr>
      </p:sp>
      <p:sp>
        <p:nvSpPr>
          <p:cNvPr id="25" name="Text 23"/>
          <p:cNvSpPr/>
          <p:nvPr/>
        </p:nvSpPr>
        <p:spPr>
          <a:xfrm>
            <a:off x="3931920" y="4160520"/>
            <a:ext cx="1188720" cy="502920"/>
          </a:xfrm>
          <a:prstGeom prst="rect">
            <a:avLst/>
          </a:prstGeom>
          <a:noFill/>
        </p:spPr>
        <p:txBody>
          <a:bodyPr wrap="square" lIns="0" tIns="0" rIns="0" bIns="0" rtlCol="0" anchor="ctr"/>
          <a:lstStyle/>
          <a:p>
            <a:pPr marL="0" indent="0" algn="ctr">
              <a:buNone/>
            </a:pPr>
            <a:r>
              <a:rPr lang="en-US" sz="1150" dirty="0">
                <a:solidFill>
                  <a:srgbClr val="1B1F3B"/>
                </a:solidFill>
                <a:latin typeface="Calibri" panose="020F0502020204030204" pitchFamily="34" charset="0"/>
                <a:ea typeface="Calibri" panose="020F0502020204030204" pitchFamily="34" charset="-122"/>
                <a:cs typeface="Calibri" panose="020F0502020204030204" pitchFamily="34" charset="-120"/>
              </a:rPr>
              <a:t>914</a:t>
            </a:r>
            <a:endParaRPr lang="en-US" sz="1150" dirty="0"/>
          </a:p>
        </p:txBody>
      </p:sp>
      <p:sp>
        <p:nvSpPr>
          <p:cNvPr id="26" name="Shape 24"/>
          <p:cNvSpPr/>
          <p:nvPr/>
        </p:nvSpPr>
        <p:spPr>
          <a:xfrm>
            <a:off x="5212080" y="4160520"/>
            <a:ext cx="1371600" cy="502920"/>
          </a:xfrm>
          <a:prstGeom prst="rect">
            <a:avLst/>
          </a:prstGeom>
          <a:solidFill>
            <a:srgbClr val="F4F6FC"/>
          </a:solidFill>
          <a:ln w="9525">
            <a:solidFill>
              <a:srgbClr val="E5E7F0"/>
            </a:solidFill>
            <a:prstDash val="solid"/>
          </a:ln>
        </p:spPr>
      </p:sp>
      <p:sp>
        <p:nvSpPr>
          <p:cNvPr id="27" name="Text 25"/>
          <p:cNvSpPr/>
          <p:nvPr/>
        </p:nvSpPr>
        <p:spPr>
          <a:xfrm>
            <a:off x="5303520" y="4160520"/>
            <a:ext cx="1188720" cy="502920"/>
          </a:xfrm>
          <a:prstGeom prst="rect">
            <a:avLst/>
          </a:prstGeom>
          <a:noFill/>
        </p:spPr>
        <p:txBody>
          <a:bodyPr wrap="square" lIns="0" tIns="0" rIns="0" bIns="0" rtlCol="0" anchor="ctr"/>
          <a:lstStyle/>
          <a:p>
            <a:pPr marL="0" indent="0" algn="ctr">
              <a:buNone/>
            </a:pPr>
            <a:r>
              <a:rPr lang="en-US" sz="1150" dirty="0">
                <a:solidFill>
                  <a:srgbClr val="1B1F3B"/>
                </a:solidFill>
                <a:latin typeface="Calibri" panose="020F0502020204030204" pitchFamily="34" charset="0"/>
                <a:ea typeface="Calibri" panose="020F0502020204030204" pitchFamily="34" charset="-122"/>
                <a:cs typeface="Calibri" panose="020F0502020204030204" pitchFamily="34" charset="-120"/>
              </a:rPr>
              <a:t>10.25%</a:t>
            </a:r>
            <a:endParaRPr lang="en-US" sz="1150" dirty="0"/>
          </a:p>
        </p:txBody>
      </p:sp>
      <p:sp>
        <p:nvSpPr>
          <p:cNvPr id="28" name="Shape 26"/>
          <p:cNvSpPr/>
          <p:nvPr/>
        </p:nvSpPr>
        <p:spPr>
          <a:xfrm>
            <a:off x="548640" y="4663440"/>
            <a:ext cx="1737360" cy="502920"/>
          </a:xfrm>
          <a:prstGeom prst="rect">
            <a:avLst/>
          </a:prstGeom>
          <a:solidFill>
            <a:srgbClr val="FFFFFF"/>
          </a:solidFill>
          <a:ln w="9525">
            <a:solidFill>
              <a:srgbClr val="E5E7F0"/>
            </a:solidFill>
            <a:prstDash val="solid"/>
          </a:ln>
        </p:spPr>
      </p:sp>
      <p:sp>
        <p:nvSpPr>
          <p:cNvPr id="29" name="Text 27"/>
          <p:cNvSpPr/>
          <p:nvPr/>
        </p:nvSpPr>
        <p:spPr>
          <a:xfrm>
            <a:off x="640080" y="4663440"/>
            <a:ext cx="1554480" cy="502920"/>
          </a:xfrm>
          <a:prstGeom prst="rect">
            <a:avLst/>
          </a:prstGeom>
          <a:noFill/>
        </p:spPr>
        <p:txBody>
          <a:bodyPr wrap="square" lIns="0" tIns="0" rIns="0" bIns="0" rtlCol="0" anchor="ctr"/>
          <a:lstStyle/>
          <a:p>
            <a:pPr marL="0" indent="0" algn="l">
              <a:buNone/>
            </a:pPr>
            <a:r>
              <a:rPr lang="en-US" sz="1150" b="1" dirty="0">
                <a:solidFill>
                  <a:srgbClr val="1B1F3B"/>
                </a:solidFill>
                <a:latin typeface="Calibri" panose="020F0502020204030204" pitchFamily="34" charset="0"/>
                <a:ea typeface="Calibri" panose="020F0502020204030204" pitchFamily="34" charset="-122"/>
                <a:cs typeface="Calibri" panose="020F0502020204030204" pitchFamily="34" charset="-120"/>
              </a:rPr>
              <a:t>Test Set</a:t>
            </a:r>
            <a:endParaRPr lang="en-US" sz="1150" dirty="0"/>
          </a:p>
        </p:txBody>
      </p:sp>
      <p:sp>
        <p:nvSpPr>
          <p:cNvPr id="30" name="Shape 28"/>
          <p:cNvSpPr/>
          <p:nvPr/>
        </p:nvSpPr>
        <p:spPr>
          <a:xfrm>
            <a:off x="2286000" y="4663440"/>
            <a:ext cx="1554480" cy="502920"/>
          </a:xfrm>
          <a:prstGeom prst="rect">
            <a:avLst/>
          </a:prstGeom>
          <a:solidFill>
            <a:srgbClr val="FFFFFF"/>
          </a:solidFill>
          <a:ln w="9525">
            <a:solidFill>
              <a:srgbClr val="E5E7F0"/>
            </a:solidFill>
            <a:prstDash val="solid"/>
          </a:ln>
        </p:spPr>
      </p:sp>
      <p:sp>
        <p:nvSpPr>
          <p:cNvPr id="31" name="Text 29"/>
          <p:cNvSpPr/>
          <p:nvPr/>
        </p:nvSpPr>
        <p:spPr>
          <a:xfrm>
            <a:off x="2377440" y="4663440"/>
            <a:ext cx="1371600" cy="502920"/>
          </a:xfrm>
          <a:prstGeom prst="rect">
            <a:avLst/>
          </a:prstGeom>
          <a:noFill/>
        </p:spPr>
        <p:txBody>
          <a:bodyPr wrap="square" lIns="0" tIns="0" rIns="0" bIns="0" rtlCol="0" anchor="ctr"/>
          <a:lstStyle/>
          <a:p>
            <a:pPr marL="0" indent="0" algn="ctr">
              <a:buNone/>
            </a:pPr>
            <a:r>
              <a:rPr lang="en-US" sz="1150" dirty="0">
                <a:solidFill>
                  <a:srgbClr val="1B1F3B"/>
                </a:solidFill>
                <a:latin typeface="Calibri" panose="020F0502020204030204" pitchFamily="34" charset="0"/>
                <a:ea typeface="Calibri" panose="020F0502020204030204" pitchFamily="34" charset="-122"/>
                <a:cs typeface="Calibri" panose="020F0502020204030204" pitchFamily="34" charset="-120"/>
              </a:rPr>
              <a:t>2,001</a:t>
            </a:r>
            <a:endParaRPr lang="en-US" sz="1150" dirty="0"/>
          </a:p>
        </p:txBody>
      </p:sp>
      <p:sp>
        <p:nvSpPr>
          <p:cNvPr id="32" name="Shape 30"/>
          <p:cNvSpPr/>
          <p:nvPr/>
        </p:nvSpPr>
        <p:spPr>
          <a:xfrm>
            <a:off x="3840480" y="4663440"/>
            <a:ext cx="1371600" cy="502920"/>
          </a:xfrm>
          <a:prstGeom prst="rect">
            <a:avLst/>
          </a:prstGeom>
          <a:solidFill>
            <a:srgbClr val="FFFFFF"/>
          </a:solidFill>
          <a:ln w="9525">
            <a:solidFill>
              <a:srgbClr val="E5E7F0"/>
            </a:solidFill>
            <a:prstDash val="solid"/>
          </a:ln>
        </p:spPr>
      </p:sp>
      <p:sp>
        <p:nvSpPr>
          <p:cNvPr id="33" name="Text 31"/>
          <p:cNvSpPr/>
          <p:nvPr/>
        </p:nvSpPr>
        <p:spPr>
          <a:xfrm>
            <a:off x="3931920" y="4663440"/>
            <a:ext cx="1188720" cy="502920"/>
          </a:xfrm>
          <a:prstGeom prst="rect">
            <a:avLst/>
          </a:prstGeom>
          <a:noFill/>
        </p:spPr>
        <p:txBody>
          <a:bodyPr wrap="square" lIns="0" tIns="0" rIns="0" bIns="0" rtlCol="0" anchor="ctr"/>
          <a:lstStyle/>
          <a:p>
            <a:pPr marL="0" indent="0" algn="ctr">
              <a:buNone/>
            </a:pPr>
            <a:r>
              <a:rPr lang="en-US" sz="1150" dirty="0">
                <a:solidFill>
                  <a:srgbClr val="1B1F3B"/>
                </a:solidFill>
                <a:latin typeface="Calibri" panose="020F0502020204030204" pitchFamily="34" charset="0"/>
                <a:ea typeface="Calibri" panose="020F0502020204030204" pitchFamily="34" charset="-122"/>
                <a:cs typeface="Calibri" panose="020F0502020204030204" pitchFamily="34" charset="-120"/>
              </a:rPr>
              <a:t>228</a:t>
            </a:r>
            <a:endParaRPr lang="en-US" sz="1150" dirty="0"/>
          </a:p>
        </p:txBody>
      </p:sp>
      <p:sp>
        <p:nvSpPr>
          <p:cNvPr id="34" name="Shape 32"/>
          <p:cNvSpPr/>
          <p:nvPr/>
        </p:nvSpPr>
        <p:spPr>
          <a:xfrm>
            <a:off x="5212080" y="4663440"/>
            <a:ext cx="1371600" cy="502920"/>
          </a:xfrm>
          <a:prstGeom prst="rect">
            <a:avLst/>
          </a:prstGeom>
          <a:solidFill>
            <a:srgbClr val="FFFFFF"/>
          </a:solidFill>
          <a:ln w="9525">
            <a:solidFill>
              <a:srgbClr val="E5E7F0"/>
            </a:solidFill>
            <a:prstDash val="solid"/>
          </a:ln>
        </p:spPr>
      </p:sp>
      <p:sp>
        <p:nvSpPr>
          <p:cNvPr id="35" name="Text 33"/>
          <p:cNvSpPr/>
          <p:nvPr/>
        </p:nvSpPr>
        <p:spPr>
          <a:xfrm>
            <a:off x="5303520" y="4663440"/>
            <a:ext cx="1188720" cy="502920"/>
          </a:xfrm>
          <a:prstGeom prst="rect">
            <a:avLst/>
          </a:prstGeom>
          <a:noFill/>
        </p:spPr>
        <p:txBody>
          <a:bodyPr wrap="square" lIns="0" tIns="0" rIns="0" bIns="0" rtlCol="0" anchor="ctr"/>
          <a:lstStyle/>
          <a:p>
            <a:pPr marL="0" indent="0" algn="ctr">
              <a:buNone/>
            </a:pPr>
            <a:r>
              <a:rPr lang="en-US" sz="1150" dirty="0">
                <a:solidFill>
                  <a:srgbClr val="1B1F3B"/>
                </a:solidFill>
                <a:latin typeface="Calibri" panose="020F0502020204030204" pitchFamily="34" charset="0"/>
                <a:ea typeface="Calibri" panose="020F0502020204030204" pitchFamily="34" charset="-122"/>
                <a:cs typeface="Calibri" panose="020F0502020204030204" pitchFamily="34" charset="-120"/>
              </a:rPr>
              <a:t>10.23%</a:t>
            </a:r>
            <a:endParaRPr lang="en-US" sz="1150" dirty="0"/>
          </a:p>
        </p:txBody>
      </p:sp>
      <p:sp>
        <p:nvSpPr>
          <p:cNvPr id="36" name="Shape 34"/>
          <p:cNvSpPr/>
          <p:nvPr/>
        </p:nvSpPr>
        <p:spPr>
          <a:xfrm>
            <a:off x="548640" y="5440680"/>
            <a:ext cx="6309360" cy="777240"/>
          </a:xfrm>
          <a:prstGeom prst="roundRect">
            <a:avLst>
              <a:gd name="adj" fmla="val 9412"/>
            </a:avLst>
          </a:prstGeom>
          <a:solidFill>
            <a:srgbClr val="1B1F3B"/>
          </a:solidFill>
        </p:spPr>
      </p:sp>
      <p:sp>
        <p:nvSpPr>
          <p:cNvPr id="37" name="Text 35"/>
          <p:cNvSpPr/>
          <p:nvPr/>
        </p:nvSpPr>
        <p:spPr>
          <a:xfrm>
            <a:off x="777240" y="5440680"/>
            <a:ext cx="5852160" cy="777240"/>
          </a:xfrm>
          <a:prstGeom prst="rect">
            <a:avLst/>
          </a:prstGeom>
          <a:noFill/>
        </p:spPr>
        <p:txBody>
          <a:bodyPr wrap="square" lIns="0" tIns="0" rIns="0" bIns="0" rtlCol="0" anchor="ctr"/>
          <a:lstStyle/>
          <a:p>
            <a:pPr marL="0" indent="0">
              <a:buNone/>
            </a:pPr>
            <a:r>
              <a:rPr lang="en-US" sz="1200" dirty="0">
                <a:solidFill>
                  <a:srgbClr val="9FE6B3"/>
                </a:solidFill>
                <a:latin typeface="Courier New" panose="02070309020205020404" pitchFamily="34" charset="0"/>
                <a:ea typeface="Courier New" panose="02070309020205020404" pitchFamily="34" charset="-122"/>
                <a:cs typeface="Courier New" panose="02070309020205020404" pitchFamily="34" charset="-120"/>
              </a:rPr>
              <a:t>train_test_split(X, y, test_size=0.2, random_state=42, stratify=y)</a:t>
            </a:r>
            <a:endParaRPr lang="en-US" sz="1200" dirty="0"/>
          </a:p>
        </p:txBody>
      </p:sp>
      <p:sp>
        <p:nvSpPr>
          <p:cNvPr id="38" name="Shape 36"/>
          <p:cNvSpPr/>
          <p:nvPr/>
        </p:nvSpPr>
        <p:spPr>
          <a:xfrm>
            <a:off x="7223760" y="1691640"/>
            <a:ext cx="4389120" cy="4526280"/>
          </a:xfrm>
          <a:prstGeom prst="roundRect">
            <a:avLst>
              <a:gd name="adj" fmla="val 2500"/>
            </a:avLst>
          </a:prstGeom>
          <a:solidFill>
            <a:srgbClr val="1E2761"/>
          </a:solidFill>
        </p:spPr>
      </p:sp>
      <p:sp>
        <p:nvSpPr>
          <p:cNvPr id="39" name="Text 37"/>
          <p:cNvSpPr/>
          <p:nvPr/>
        </p:nvSpPr>
        <p:spPr>
          <a:xfrm>
            <a:off x="7498080" y="1965960"/>
            <a:ext cx="3840480" cy="320040"/>
          </a:xfrm>
          <a:prstGeom prst="rect">
            <a:avLst/>
          </a:prstGeom>
          <a:noFill/>
        </p:spPr>
        <p:txBody>
          <a:bodyPr wrap="square" lIns="0" tIns="0" rIns="0" bIns="0" rtlCol="0" anchor="ctr"/>
          <a:lstStyle/>
          <a:p>
            <a:pPr marL="0" indent="0">
              <a:buNone/>
            </a:pPr>
            <a:r>
              <a:rPr lang="en-US" sz="1200" b="1" kern="0" spc="100" dirty="0">
                <a:solidFill>
                  <a:srgbClr val="CADCFC"/>
                </a:solidFill>
                <a:latin typeface="Calibri" panose="020F0502020204030204" pitchFamily="34" charset="0"/>
                <a:ea typeface="Calibri" panose="020F0502020204030204" pitchFamily="34" charset="-122"/>
                <a:cs typeface="Calibri" panose="020F0502020204030204" pitchFamily="34" charset="-120"/>
              </a:rPr>
              <a:t>WHY STRATIFY?</a:t>
            </a:r>
            <a:endParaRPr lang="en-US" sz="1200" dirty="0"/>
          </a:p>
        </p:txBody>
      </p:sp>
      <p:sp>
        <p:nvSpPr>
          <p:cNvPr id="40" name="Shape 38"/>
          <p:cNvSpPr/>
          <p:nvPr/>
        </p:nvSpPr>
        <p:spPr>
          <a:xfrm>
            <a:off x="7525512" y="2414016"/>
            <a:ext cx="310896" cy="310896"/>
          </a:xfrm>
          <a:prstGeom prst="ellipse">
            <a:avLst/>
          </a:prstGeom>
          <a:solidFill>
            <a:srgbClr val="CADCFC"/>
          </a:solidFill>
        </p:spPr>
      </p:sp>
      <p:sp>
        <p:nvSpPr>
          <p:cNvPr id="41" name="Text 39"/>
          <p:cNvSpPr/>
          <p:nvPr/>
        </p:nvSpPr>
        <p:spPr>
          <a:xfrm>
            <a:off x="7525512" y="2414016"/>
            <a:ext cx="310896" cy="310896"/>
          </a:xfrm>
          <a:prstGeom prst="rect">
            <a:avLst/>
          </a:prstGeom>
          <a:noFill/>
        </p:spPr>
        <p:txBody>
          <a:bodyPr wrap="square" lIns="0" tIns="0" rIns="0" bIns="0" rtlCol="0" anchor="ctr"/>
          <a:lstStyle/>
          <a:p>
            <a:pPr marL="0" indent="0" algn="ctr">
              <a:buNone/>
            </a:pPr>
            <a:r>
              <a:rPr lang="en-US" sz="1400" b="1" dirty="0">
                <a:solidFill>
                  <a:srgbClr val="1E2761"/>
                </a:solidFill>
                <a:latin typeface="Arial" panose="020B0604020202020204" pitchFamily="34" charset="0"/>
                <a:ea typeface="Arial" panose="020B0604020202020204" pitchFamily="34" charset="-122"/>
                <a:cs typeface="Arial" panose="020B0604020202020204" pitchFamily="34" charset="-120"/>
              </a:rPr>
              <a:t>✓</a:t>
            </a:r>
            <a:endParaRPr lang="en-US" sz="1400" dirty="0"/>
          </a:p>
        </p:txBody>
      </p:sp>
      <p:sp>
        <p:nvSpPr>
          <p:cNvPr id="42" name="Text 40"/>
          <p:cNvSpPr/>
          <p:nvPr/>
        </p:nvSpPr>
        <p:spPr>
          <a:xfrm>
            <a:off x="8001000" y="2423160"/>
            <a:ext cx="3383280" cy="32004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Fraud is rare</a:t>
            </a:r>
            <a:endParaRPr lang="en-US" sz="1250" dirty="0"/>
          </a:p>
        </p:txBody>
      </p:sp>
      <p:sp>
        <p:nvSpPr>
          <p:cNvPr id="43" name="Text 41"/>
          <p:cNvSpPr/>
          <p:nvPr/>
        </p:nvSpPr>
        <p:spPr>
          <a:xfrm>
            <a:off x="8001000" y="2715768"/>
            <a:ext cx="3383280" cy="594360"/>
          </a:xfrm>
          <a:prstGeom prst="rect">
            <a:avLst/>
          </a:prstGeom>
          <a:noFill/>
        </p:spPr>
        <p:txBody>
          <a:bodyPr wrap="square" lIns="0" tIns="0" rIns="0" bIns="0" rtlCol="0" anchor="ctr"/>
          <a:lstStyle/>
          <a:p>
            <a:pPr marL="0" indent="0">
              <a:lnSpc>
                <a:spcPct val="12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Only 10.25% of transactions are fraud — a random split could easily over- or under-represent it in the test set</a:t>
            </a:r>
            <a:endParaRPr lang="en-US" sz="1050" dirty="0"/>
          </a:p>
        </p:txBody>
      </p:sp>
      <p:sp>
        <p:nvSpPr>
          <p:cNvPr id="44" name="Shape 42"/>
          <p:cNvSpPr/>
          <p:nvPr/>
        </p:nvSpPr>
        <p:spPr>
          <a:xfrm>
            <a:off x="7525512" y="3346704"/>
            <a:ext cx="310896" cy="310896"/>
          </a:xfrm>
          <a:prstGeom prst="ellipse">
            <a:avLst/>
          </a:prstGeom>
          <a:solidFill>
            <a:srgbClr val="CADCFC"/>
          </a:solidFill>
        </p:spPr>
      </p:sp>
      <p:sp>
        <p:nvSpPr>
          <p:cNvPr id="45" name="Text 43"/>
          <p:cNvSpPr/>
          <p:nvPr/>
        </p:nvSpPr>
        <p:spPr>
          <a:xfrm>
            <a:off x="7525512" y="3346704"/>
            <a:ext cx="310896" cy="310896"/>
          </a:xfrm>
          <a:prstGeom prst="rect">
            <a:avLst/>
          </a:prstGeom>
          <a:noFill/>
        </p:spPr>
        <p:txBody>
          <a:bodyPr wrap="square" lIns="0" tIns="0" rIns="0" bIns="0" rtlCol="0" anchor="ctr"/>
          <a:lstStyle/>
          <a:p>
            <a:pPr marL="0" indent="0" algn="ctr">
              <a:buNone/>
            </a:pPr>
            <a:r>
              <a:rPr lang="en-US" sz="1400" b="1" dirty="0">
                <a:solidFill>
                  <a:srgbClr val="1E2761"/>
                </a:solidFill>
                <a:latin typeface="Arial" panose="020B0604020202020204" pitchFamily="34" charset="0"/>
                <a:ea typeface="Arial" panose="020B0604020202020204" pitchFamily="34" charset="-122"/>
                <a:cs typeface="Arial" panose="020B0604020202020204" pitchFamily="34" charset="-120"/>
              </a:rPr>
              <a:t>✓</a:t>
            </a:r>
            <a:endParaRPr lang="en-US" sz="1400" dirty="0"/>
          </a:p>
        </p:txBody>
      </p:sp>
      <p:sp>
        <p:nvSpPr>
          <p:cNvPr id="46" name="Text 44"/>
          <p:cNvSpPr/>
          <p:nvPr/>
        </p:nvSpPr>
        <p:spPr>
          <a:xfrm>
            <a:off x="8001000" y="3355848"/>
            <a:ext cx="3383280" cy="32004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Reliable evaluation</a:t>
            </a:r>
            <a:endParaRPr lang="en-US" sz="1250" dirty="0"/>
          </a:p>
        </p:txBody>
      </p:sp>
      <p:sp>
        <p:nvSpPr>
          <p:cNvPr id="47" name="Text 45"/>
          <p:cNvSpPr/>
          <p:nvPr/>
        </p:nvSpPr>
        <p:spPr>
          <a:xfrm>
            <a:off x="8001000" y="3648456"/>
            <a:ext cx="3383280" cy="594360"/>
          </a:xfrm>
          <a:prstGeom prst="rect">
            <a:avLst/>
          </a:prstGeom>
          <a:noFill/>
        </p:spPr>
        <p:txBody>
          <a:bodyPr wrap="square" lIns="0" tIns="0" rIns="0" bIns="0" rtlCol="0" anchor="ctr"/>
          <a:lstStyle/>
          <a:p>
            <a:pPr marL="0" indent="0">
              <a:lnSpc>
                <a:spcPct val="12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Stratifying keeps the fraud ratio nearly identical in train (10.25%) and test (10.23%)</a:t>
            </a:r>
            <a:endParaRPr lang="en-US" sz="1050" dirty="0"/>
          </a:p>
        </p:txBody>
      </p:sp>
      <p:sp>
        <p:nvSpPr>
          <p:cNvPr id="48" name="Shape 46"/>
          <p:cNvSpPr/>
          <p:nvPr/>
        </p:nvSpPr>
        <p:spPr>
          <a:xfrm>
            <a:off x="7525512" y="4279392"/>
            <a:ext cx="310896" cy="310896"/>
          </a:xfrm>
          <a:prstGeom prst="ellipse">
            <a:avLst/>
          </a:prstGeom>
          <a:solidFill>
            <a:srgbClr val="CADCFC"/>
          </a:solidFill>
        </p:spPr>
      </p:sp>
      <p:sp>
        <p:nvSpPr>
          <p:cNvPr id="49" name="Text 47"/>
          <p:cNvSpPr/>
          <p:nvPr/>
        </p:nvSpPr>
        <p:spPr>
          <a:xfrm>
            <a:off x="7525512" y="4279392"/>
            <a:ext cx="310896" cy="310896"/>
          </a:xfrm>
          <a:prstGeom prst="rect">
            <a:avLst/>
          </a:prstGeom>
          <a:noFill/>
        </p:spPr>
        <p:txBody>
          <a:bodyPr wrap="square" lIns="0" tIns="0" rIns="0" bIns="0" rtlCol="0" anchor="ctr"/>
          <a:lstStyle/>
          <a:p>
            <a:pPr marL="0" indent="0" algn="ctr">
              <a:buNone/>
            </a:pPr>
            <a:r>
              <a:rPr lang="en-US" sz="1400" b="1" dirty="0">
                <a:solidFill>
                  <a:srgbClr val="1E2761"/>
                </a:solidFill>
                <a:latin typeface="Arial" panose="020B0604020202020204" pitchFamily="34" charset="0"/>
                <a:ea typeface="Arial" panose="020B0604020202020204" pitchFamily="34" charset="-122"/>
                <a:cs typeface="Arial" panose="020B0604020202020204" pitchFamily="34" charset="-120"/>
              </a:rPr>
              <a:t>✓</a:t>
            </a:r>
            <a:endParaRPr lang="en-US" sz="1400" dirty="0"/>
          </a:p>
        </p:txBody>
      </p:sp>
      <p:sp>
        <p:nvSpPr>
          <p:cNvPr id="50" name="Text 48"/>
          <p:cNvSpPr/>
          <p:nvPr/>
        </p:nvSpPr>
        <p:spPr>
          <a:xfrm>
            <a:off x="8001000" y="4288536"/>
            <a:ext cx="3383280" cy="32004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Fair comparison</a:t>
            </a:r>
            <a:endParaRPr lang="en-US" sz="1250" dirty="0"/>
          </a:p>
        </p:txBody>
      </p:sp>
      <p:sp>
        <p:nvSpPr>
          <p:cNvPr id="51" name="Text 49"/>
          <p:cNvSpPr/>
          <p:nvPr/>
        </p:nvSpPr>
        <p:spPr>
          <a:xfrm>
            <a:off x="8001000" y="4581144"/>
            <a:ext cx="3383280" cy="594360"/>
          </a:xfrm>
          <a:prstGeom prst="rect">
            <a:avLst/>
          </a:prstGeom>
          <a:noFill/>
        </p:spPr>
        <p:txBody>
          <a:bodyPr wrap="square" lIns="0" tIns="0" rIns="0" bIns="0" rtlCol="0" anchor="ctr"/>
          <a:lstStyle/>
          <a:p>
            <a:pPr marL="0" indent="0">
              <a:lnSpc>
                <a:spcPct val="12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All three models were scored against the exact same class balance, making metrics directly comparable</a:t>
            </a:r>
            <a:endParaRPr lang="en-US" sz="1050" dirty="0"/>
          </a:p>
        </p:txBody>
      </p:sp>
      <p:sp>
        <p:nvSpPr>
          <p:cNvPr id="52" name="Shape 50"/>
          <p:cNvSpPr/>
          <p:nvPr/>
        </p:nvSpPr>
        <p:spPr>
          <a:xfrm>
            <a:off x="7525512" y="5212080"/>
            <a:ext cx="310896" cy="310896"/>
          </a:xfrm>
          <a:prstGeom prst="ellipse">
            <a:avLst/>
          </a:prstGeom>
          <a:solidFill>
            <a:srgbClr val="CADCFC"/>
          </a:solidFill>
        </p:spPr>
      </p:sp>
      <p:sp>
        <p:nvSpPr>
          <p:cNvPr id="53" name="Text 51"/>
          <p:cNvSpPr/>
          <p:nvPr/>
        </p:nvSpPr>
        <p:spPr>
          <a:xfrm>
            <a:off x="7525512" y="5212080"/>
            <a:ext cx="310896" cy="310896"/>
          </a:xfrm>
          <a:prstGeom prst="rect">
            <a:avLst/>
          </a:prstGeom>
          <a:noFill/>
        </p:spPr>
        <p:txBody>
          <a:bodyPr wrap="square" lIns="0" tIns="0" rIns="0" bIns="0" rtlCol="0" anchor="ctr"/>
          <a:lstStyle/>
          <a:p>
            <a:pPr marL="0" indent="0" algn="ctr">
              <a:buNone/>
            </a:pPr>
            <a:r>
              <a:rPr lang="en-US" sz="1400" b="1" dirty="0">
                <a:solidFill>
                  <a:srgbClr val="1E2761"/>
                </a:solidFill>
                <a:latin typeface="Arial" panose="020B0604020202020204" pitchFamily="34" charset="0"/>
                <a:ea typeface="Arial" panose="020B0604020202020204" pitchFamily="34" charset="-122"/>
                <a:cs typeface="Arial" panose="020B0604020202020204" pitchFamily="34" charset="-120"/>
              </a:rPr>
              <a:t>✓</a:t>
            </a:r>
            <a:endParaRPr lang="en-US" sz="1400" dirty="0"/>
          </a:p>
        </p:txBody>
      </p:sp>
      <p:sp>
        <p:nvSpPr>
          <p:cNvPr id="54" name="Text 52"/>
          <p:cNvSpPr/>
          <p:nvPr/>
        </p:nvSpPr>
        <p:spPr>
          <a:xfrm>
            <a:off x="8001000" y="5221224"/>
            <a:ext cx="3383280" cy="32004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random_state=42</a:t>
            </a:r>
            <a:endParaRPr lang="en-US" sz="1250" dirty="0"/>
          </a:p>
        </p:txBody>
      </p:sp>
      <p:sp>
        <p:nvSpPr>
          <p:cNvPr id="55" name="Text 53"/>
          <p:cNvSpPr/>
          <p:nvPr/>
        </p:nvSpPr>
        <p:spPr>
          <a:xfrm>
            <a:off x="8001000" y="5513832"/>
            <a:ext cx="3383280" cy="594360"/>
          </a:xfrm>
          <a:prstGeom prst="rect">
            <a:avLst/>
          </a:prstGeom>
          <a:noFill/>
        </p:spPr>
        <p:txBody>
          <a:bodyPr wrap="square" lIns="0" tIns="0" rIns="0" bIns="0" rtlCol="0" anchor="ctr"/>
          <a:lstStyle/>
          <a:p>
            <a:pPr marL="0" indent="0">
              <a:lnSpc>
                <a:spcPct val="125000"/>
              </a:lnSpc>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Fixes the split so results are reproducible every time the notebook is re-run</a:t>
            </a:r>
            <a:endParaRPr lang="en-US" sz="1050" dirty="0"/>
          </a:p>
        </p:txBody>
      </p:sp>
      <p:sp>
        <p:nvSpPr>
          <p:cNvPr id="56" name="Text 54"/>
          <p:cNvSpPr/>
          <p:nvPr/>
        </p:nvSpPr>
        <p:spPr>
          <a:xfrm>
            <a:off x="457200" y="6537960"/>
            <a:ext cx="5486400" cy="274320"/>
          </a:xfrm>
          <a:prstGeom prst="rect">
            <a:avLst/>
          </a:prstGeom>
          <a:noFill/>
        </p:spPr>
        <p:txBody>
          <a:bodyPr wrap="square" lIns="0" tIns="0" rIns="0" bIns="0" rtlCol="0" anchor="ctr"/>
          <a:lstStyle/>
          <a:p>
            <a:pPr marL="0" indent="0" algn="l">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DETECTION ML PIPELINE</a:t>
            </a:r>
            <a:endParaRPr lang="en-US" sz="900" dirty="0"/>
          </a:p>
        </p:txBody>
      </p:sp>
      <p:sp>
        <p:nvSpPr>
          <p:cNvPr id="57" name="Text 55"/>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Model Performance</a:t>
            </a:r>
            <a:endParaRPr lang="en-US" sz="3200" dirty="0"/>
          </a:p>
        </p:txBody>
      </p:sp>
      <p:sp>
        <p:nvSpPr>
          <p:cNvPr id="3" name="Text 1"/>
          <p:cNvSpPr/>
          <p:nvPr/>
        </p:nvSpPr>
        <p:spPr>
          <a:xfrm>
            <a:off x="548640" y="1005840"/>
            <a:ext cx="91440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Precision, recall, and F1-score on the fraud class (class 1), test set</a:t>
            </a:r>
            <a:endParaRPr lang="en-US" sz="1300" dirty="0"/>
          </a:p>
        </p:txBody>
      </p:sp>
      <p:graphicFrame>
        <p:nvGraphicFramePr>
          <p:cNvPr id="4" name="Chart 0"/>
          <p:cNvGraphicFramePr/>
          <p:nvPr/>
        </p:nvGraphicFramePr>
        <p:xfrm>
          <a:off x="548640" y="1600200"/>
          <a:ext cx="7040880" cy="429768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863840" y="1600200"/>
            <a:ext cx="3749040" cy="4480560"/>
          </a:xfrm>
          <a:prstGeom prst="roundRect">
            <a:avLst>
              <a:gd name="adj" fmla="val 2927"/>
            </a:avLst>
          </a:prstGeom>
          <a:solidFill>
            <a:srgbClr val="1E2761"/>
          </a:solidFill>
        </p:spPr>
        <p:txBody>
          <a:bodyPr/>
          <a:p>
            <a:endParaRPr lang="en-US"/>
          </a:p>
        </p:txBody>
      </p:sp>
      <p:sp>
        <p:nvSpPr>
          <p:cNvPr id="6" name="Text 3"/>
          <p:cNvSpPr/>
          <p:nvPr/>
        </p:nvSpPr>
        <p:spPr>
          <a:xfrm>
            <a:off x="8138160" y="1874520"/>
            <a:ext cx="3200400" cy="320040"/>
          </a:xfrm>
          <a:prstGeom prst="rect">
            <a:avLst/>
          </a:prstGeom>
          <a:noFill/>
        </p:spPr>
        <p:txBody>
          <a:bodyPr wrap="square" lIns="0" tIns="0" rIns="0" bIns="0" rtlCol="0" anchor="ctr"/>
          <a:lstStyle/>
          <a:p>
            <a:pPr marL="0" indent="0">
              <a:buNone/>
            </a:pPr>
            <a:r>
              <a:rPr lang="en-US" sz="1200" b="1" kern="0" spc="100" dirty="0">
                <a:solidFill>
                  <a:srgbClr val="CADCFC"/>
                </a:solidFill>
                <a:latin typeface="Calibri" panose="020F0502020204030204" pitchFamily="34" charset="0"/>
                <a:ea typeface="Calibri" panose="020F0502020204030204" pitchFamily="34" charset="-122"/>
                <a:cs typeface="Calibri" panose="020F0502020204030204" pitchFamily="34" charset="-120"/>
              </a:rPr>
              <a:t>KEY TAKEAWAY</a:t>
            </a:r>
            <a:endParaRPr lang="en-US" sz="1200" dirty="0"/>
          </a:p>
        </p:txBody>
      </p:sp>
      <p:sp>
        <p:nvSpPr>
          <p:cNvPr id="8" name="Text 5"/>
          <p:cNvSpPr/>
          <p:nvPr/>
        </p:nvSpPr>
        <p:spPr>
          <a:xfrm>
            <a:off x="8138160" y="2324735"/>
            <a:ext cx="3200400" cy="3157220"/>
          </a:xfrm>
          <a:prstGeom prst="rect">
            <a:avLst/>
          </a:prstGeom>
          <a:noFill/>
        </p:spPr>
        <p:txBody>
          <a:bodyPr wrap="square" lIns="0" tIns="0" rIns="0" bIns="0" rtlCol="0" anchor="ctr"/>
          <a:lstStyle/>
          <a:p>
            <a:pPr marL="285750" indent="-285750">
              <a:lnSpc>
                <a:spcPct val="135000"/>
              </a:lnSpc>
              <a:buFont typeface="Wingdings" panose="05000000000000000000" charset="0"/>
              <a:buChar char="Ø"/>
            </a:pPr>
            <a:r>
              <a:rPr lang="en-US" alt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Highest Fraud Detection: Random Forest captures the most fraud with a top recall of 0.98.</a:t>
            </a:r>
            <a:endParaRPr lang="en-US" alt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a:p>
            <a:pPr marL="285750" indent="-285750">
              <a:lnSpc>
                <a:spcPct val="135000"/>
              </a:lnSpc>
              <a:buFont typeface="Wingdings" panose="05000000000000000000" charset="0"/>
              <a:buChar char="Ø"/>
            </a:pPr>
            <a:r>
              <a:rPr lang="en-US" alt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Fewer False Alarms: XGBoost delivers better precision (0.94) and a superior F1-score (0.96).</a:t>
            </a:r>
            <a:endParaRPr lang="en-US" alt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a:p>
            <a:pPr marL="285750" indent="-285750">
              <a:lnSpc>
                <a:spcPct val="135000"/>
              </a:lnSpc>
              <a:buFont typeface="Wingdings" panose="05000000000000000000" charset="0"/>
              <a:buChar char="Ø"/>
            </a:pPr>
            <a:r>
              <a:rPr lang="en-US" alt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.Deployment Choice: Random Forest remains preferred for maximum coverage, while XGBoost is ideal if minimizing false positives is the priority</a:t>
            </a: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a:t>
            </a:r>
            <a:endParaRPr lang="en-US" sz="1400" b="1" dirty="0"/>
          </a:p>
        </p:txBody>
      </p:sp>
      <p:sp>
        <p:nvSpPr>
          <p:cNvPr id="9" name="Shape 6"/>
          <p:cNvSpPr/>
          <p:nvPr/>
        </p:nvSpPr>
        <p:spPr>
          <a:xfrm>
            <a:off x="8138160" y="4251960"/>
            <a:ext cx="3200400" cy="0"/>
          </a:xfrm>
          <a:prstGeom prst="line">
            <a:avLst/>
          </a:prstGeom>
          <a:noFill/>
          <a:ln w="12700">
            <a:solidFill>
              <a:srgbClr val="3D4694"/>
            </a:solidFill>
            <a:prstDash val="solid"/>
          </a:ln>
        </p:spPr>
      </p:sp>
      <p:sp>
        <p:nvSpPr>
          <p:cNvPr id="11" name="Text 8"/>
          <p:cNvSpPr/>
          <p:nvPr/>
        </p:nvSpPr>
        <p:spPr>
          <a:xfrm>
            <a:off x="457200" y="6537960"/>
            <a:ext cx="5486400" cy="274320"/>
          </a:xfrm>
          <a:prstGeom prst="rect">
            <a:avLst/>
          </a:prstGeom>
          <a:noFill/>
        </p:spPr>
        <p:txBody>
          <a:bodyPr wrap="square" lIns="0" tIns="0" rIns="0" bIns="0" rtlCol="0" anchor="ctr"/>
          <a:lstStyle/>
          <a:p>
            <a:pPr marL="0" indent="0" algn="l">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DETECTION ML PIPELINE</a:t>
            </a:r>
            <a:endParaRPr lang="en-US" sz="900" dirty="0"/>
          </a:p>
        </p:txBody>
      </p:sp>
      <p:sp>
        <p:nvSpPr>
          <p:cNvPr id="12" name="Text 9"/>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p:spPr>
        <p:txBody>
          <a:bodyPr wrap="square" lIns="0" tIns="0" rIns="0" bIns="0" rtlCol="0" anchor="ctr"/>
          <a:lstStyle/>
          <a:p>
            <a:pPr marL="0" indent="0">
              <a:buNone/>
            </a:pPr>
            <a:r>
              <a:rPr lang="en-US" sz="3000" b="1" dirty="0">
                <a:solidFill>
                  <a:srgbClr val="1E2761"/>
                </a:solidFill>
                <a:latin typeface="Cambria" panose="02040503050406030204" pitchFamily="34" charset="0"/>
                <a:ea typeface="Cambria" panose="02040503050406030204" pitchFamily="34" charset="-122"/>
                <a:cs typeface="Cambria" panose="02040503050406030204" pitchFamily="34" charset="-120"/>
              </a:rPr>
              <a:t>Data Leakage Investigation</a:t>
            </a:r>
            <a:endParaRPr lang="en-US" sz="3000" dirty="0"/>
          </a:p>
        </p:txBody>
      </p:sp>
      <p:sp>
        <p:nvSpPr>
          <p:cNvPr id="3" name="Text 1"/>
          <p:cNvSpPr/>
          <p:nvPr/>
        </p:nvSpPr>
        <p:spPr>
          <a:xfrm>
            <a:off x="548640" y="1005840"/>
            <a:ext cx="100584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Near-perfect scores prompted a check for features that leak the answer</a:t>
            </a:r>
            <a:endParaRPr lang="en-US" sz="1300" dirty="0"/>
          </a:p>
        </p:txBody>
      </p:sp>
      <p:sp>
        <p:nvSpPr>
          <p:cNvPr id="4" name="Shape 2"/>
          <p:cNvSpPr/>
          <p:nvPr/>
        </p:nvSpPr>
        <p:spPr>
          <a:xfrm>
            <a:off x="548640" y="1600200"/>
            <a:ext cx="5394960" cy="4904740"/>
          </a:xfrm>
          <a:prstGeom prst="roundRect">
            <a:avLst>
              <a:gd name="adj" fmla="val 2449"/>
            </a:avLst>
          </a:prstGeom>
          <a:solidFill>
            <a:srgbClr val="FCEEEC"/>
          </a:solidFill>
        </p:spPr>
        <p:txBody>
          <a:bodyPr/>
          <a:p>
            <a:endParaRPr lang="en-US"/>
          </a:p>
        </p:txBody>
      </p:sp>
      <p:sp>
        <p:nvSpPr>
          <p:cNvPr id="5" name="Shape 3"/>
          <p:cNvSpPr/>
          <p:nvPr/>
        </p:nvSpPr>
        <p:spPr>
          <a:xfrm>
            <a:off x="891540" y="1851660"/>
            <a:ext cx="502920" cy="502920"/>
          </a:xfrm>
          <a:prstGeom prst="ellipse">
            <a:avLst/>
          </a:prstGeom>
          <a:solidFill>
            <a:srgbClr val="C0392B"/>
          </a:solidFill>
        </p:spPr>
      </p:sp>
      <p:sp>
        <p:nvSpPr>
          <p:cNvPr id="6" name="Text 4"/>
          <p:cNvSpPr/>
          <p:nvPr/>
        </p:nvSpPr>
        <p:spPr>
          <a:xfrm>
            <a:off x="891540" y="1851660"/>
            <a:ext cx="502920" cy="5029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2200" dirty="0"/>
          </a:p>
        </p:txBody>
      </p:sp>
      <p:sp>
        <p:nvSpPr>
          <p:cNvPr id="7" name="Text 5"/>
          <p:cNvSpPr/>
          <p:nvPr/>
        </p:nvSpPr>
        <p:spPr>
          <a:xfrm>
            <a:off x="1508760" y="1847088"/>
            <a:ext cx="4114800" cy="502920"/>
          </a:xfrm>
          <a:prstGeom prst="rect">
            <a:avLst/>
          </a:prstGeom>
          <a:noFill/>
        </p:spPr>
        <p:txBody>
          <a:bodyPr wrap="square" lIns="0" tIns="0" rIns="0" bIns="0" rtlCol="0" anchor="ctr"/>
          <a:lstStyle/>
          <a:p>
            <a:pPr marL="0" indent="0">
              <a:buNone/>
            </a:pPr>
            <a:r>
              <a:rPr lang="en-US" sz="1600" b="1" dirty="0">
                <a:solidFill>
                  <a:srgbClr val="C0392B"/>
                </a:solidFill>
                <a:latin typeface="Calibri" panose="020F0502020204030204" pitchFamily="34" charset="0"/>
                <a:ea typeface="Calibri" panose="020F0502020204030204" pitchFamily="34" charset="-122"/>
                <a:cs typeface="Calibri" panose="020F0502020204030204" pitchFamily="34" charset="-120"/>
              </a:rPr>
              <a:t>The Concern</a:t>
            </a:r>
            <a:endParaRPr lang="en-US" sz="1600" dirty="0"/>
          </a:p>
        </p:txBody>
      </p:sp>
      <p:sp>
        <p:nvSpPr>
          <p:cNvPr id="8" name="Text 6"/>
          <p:cNvSpPr/>
          <p:nvPr/>
        </p:nvSpPr>
        <p:spPr>
          <a:xfrm>
            <a:off x="1143000" y="2514600"/>
            <a:ext cx="4572000" cy="3383280"/>
          </a:xfrm>
          <a:prstGeom prst="rect">
            <a:avLst/>
          </a:prstGeom>
          <a:noFill/>
        </p:spPr>
        <p:txBody>
          <a:bodyPr wrap="square" lIns="0" tIns="0" rIns="0" bIns="0" rtlCol="0" anchor="ctr"/>
          <a:lstStyle/>
          <a:p>
            <a:pPr marL="0" indent="0">
              <a:lnSpc>
                <a:spcPct val="140000"/>
              </a:lnSpc>
              <a:buNone/>
            </a:pPr>
            <a:endParaRPr lang="en-US" sz="1250" dirty="0"/>
          </a:p>
        </p:txBody>
      </p:sp>
      <p:sp>
        <p:nvSpPr>
          <p:cNvPr id="9" name="Shape 7"/>
          <p:cNvSpPr/>
          <p:nvPr/>
        </p:nvSpPr>
        <p:spPr>
          <a:xfrm>
            <a:off x="6200140" y="1600835"/>
            <a:ext cx="5595620" cy="4903470"/>
          </a:xfrm>
          <a:prstGeom prst="roundRect">
            <a:avLst>
              <a:gd name="adj" fmla="val 2449"/>
            </a:avLst>
          </a:prstGeom>
          <a:solidFill>
            <a:srgbClr val="EAF6F0"/>
          </a:solidFill>
        </p:spPr>
        <p:txBody>
          <a:bodyPr/>
          <a:p>
            <a:endParaRPr lang="en-US"/>
          </a:p>
        </p:txBody>
      </p:sp>
      <p:sp>
        <p:nvSpPr>
          <p:cNvPr id="10" name="Shape 8"/>
          <p:cNvSpPr/>
          <p:nvPr/>
        </p:nvSpPr>
        <p:spPr>
          <a:xfrm>
            <a:off x="6560820" y="1851660"/>
            <a:ext cx="502920" cy="502920"/>
          </a:xfrm>
          <a:prstGeom prst="ellipse">
            <a:avLst/>
          </a:prstGeom>
          <a:solidFill>
            <a:srgbClr val="1E8E5A"/>
          </a:solidFill>
        </p:spPr>
      </p:sp>
      <p:sp>
        <p:nvSpPr>
          <p:cNvPr id="11" name="Text 9"/>
          <p:cNvSpPr/>
          <p:nvPr/>
        </p:nvSpPr>
        <p:spPr>
          <a:xfrm>
            <a:off x="6560820" y="1851660"/>
            <a:ext cx="502920" cy="50292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2200" dirty="0"/>
          </a:p>
        </p:txBody>
      </p:sp>
      <p:sp>
        <p:nvSpPr>
          <p:cNvPr id="12" name="Text 10"/>
          <p:cNvSpPr/>
          <p:nvPr/>
        </p:nvSpPr>
        <p:spPr>
          <a:xfrm>
            <a:off x="7178040" y="1847088"/>
            <a:ext cx="4114800" cy="502920"/>
          </a:xfrm>
          <a:prstGeom prst="rect">
            <a:avLst/>
          </a:prstGeom>
          <a:noFill/>
        </p:spPr>
        <p:txBody>
          <a:bodyPr wrap="square" lIns="0" tIns="0" rIns="0" bIns="0" rtlCol="0" anchor="ctr"/>
          <a:lstStyle/>
          <a:p>
            <a:pPr marL="0" indent="0">
              <a:buNone/>
            </a:pPr>
            <a:r>
              <a:rPr lang="en-US" sz="1600" b="1" dirty="0">
                <a:solidFill>
                  <a:srgbClr val="1E8E5A"/>
                </a:solidFill>
                <a:latin typeface="Calibri" panose="020F0502020204030204" pitchFamily="34" charset="0"/>
                <a:ea typeface="Calibri" panose="020F0502020204030204" pitchFamily="34" charset="-122"/>
                <a:cs typeface="Calibri" panose="020F0502020204030204" pitchFamily="34" charset="-120"/>
              </a:rPr>
              <a:t>The Test &amp; Result</a:t>
            </a:r>
            <a:endParaRPr lang="en-US" sz="1600" dirty="0"/>
          </a:p>
        </p:txBody>
      </p:sp>
      <p:sp>
        <p:nvSpPr>
          <p:cNvPr id="13" name="Text 11"/>
          <p:cNvSpPr/>
          <p:nvPr/>
        </p:nvSpPr>
        <p:spPr>
          <a:xfrm>
            <a:off x="6812280" y="2514600"/>
            <a:ext cx="4572000" cy="1371600"/>
          </a:xfrm>
          <a:prstGeom prst="rect">
            <a:avLst/>
          </a:prstGeom>
          <a:noFill/>
        </p:spPr>
        <p:txBody>
          <a:bodyPr wrap="square" lIns="0" tIns="0" rIns="0" bIns="0" rtlCol="0" anchor="ctr"/>
          <a:lstStyle/>
          <a:p>
            <a:pPr marL="0" indent="0">
              <a:lnSpc>
                <a:spcPct val="140000"/>
              </a:lnSpc>
              <a:buNone/>
            </a:pPr>
            <a:r>
              <a:rPr lang="en-US" sz="1250" dirty="0">
                <a:solidFill>
                  <a:srgbClr val="1B1F3B"/>
                </a:solidFill>
                <a:latin typeface="Arial Black" panose="020B0A04020102020204" charset="0"/>
                <a:ea typeface="Calibri" panose="020F0502020204030204" pitchFamily="34" charset="-122"/>
                <a:cs typeface="Arial Black" panose="020B0A04020102020204" charset="0"/>
                <a:sym typeface="+mn-ea"/>
              </a:rPr>
              <a:t>Retrained Random Forest three ways: all features, without post-transaction balances, and without balances and step. The final model uses only pre-transaction data</a:t>
            </a:r>
            <a:r>
              <a:rPr lang="en-US" sz="1250" dirty="0">
                <a:solidFill>
                  <a:srgbClr val="1B1F3B"/>
                </a:solidFill>
                <a:latin typeface="Calibri" panose="020F0502020204030204" pitchFamily="34" charset="0"/>
                <a:ea typeface="Calibri" panose="020F0502020204030204" pitchFamily="34" charset="-122"/>
                <a:cs typeface="Calibri" panose="020F0502020204030204" pitchFamily="34" charset="-120"/>
                <a:sym typeface="+mn-ea"/>
              </a:rPr>
              <a:t>.</a:t>
            </a:r>
            <a:endParaRPr lang="en-US" sz="1250" dirty="0"/>
          </a:p>
          <a:p>
            <a:pPr marL="0" indent="0">
              <a:lnSpc>
                <a:spcPct val="140000"/>
              </a:lnSpc>
              <a:buNone/>
            </a:pPr>
            <a:endParaRPr lang="en-US" sz="1250" dirty="0"/>
          </a:p>
        </p:txBody>
      </p:sp>
      <p:sp>
        <p:nvSpPr>
          <p:cNvPr id="14" name="Shape 12"/>
          <p:cNvSpPr/>
          <p:nvPr/>
        </p:nvSpPr>
        <p:spPr>
          <a:xfrm>
            <a:off x="6812280" y="3886200"/>
            <a:ext cx="4206240" cy="0"/>
          </a:xfrm>
          <a:prstGeom prst="line">
            <a:avLst/>
          </a:prstGeom>
          <a:noFill/>
          <a:ln w="12700">
            <a:solidFill>
              <a:srgbClr val="BFE3CF"/>
            </a:solidFill>
            <a:prstDash val="solid"/>
          </a:ln>
        </p:spPr>
      </p:sp>
      <p:sp>
        <p:nvSpPr>
          <p:cNvPr id="15" name="Text 13"/>
          <p:cNvSpPr/>
          <p:nvPr/>
        </p:nvSpPr>
        <p:spPr>
          <a:xfrm>
            <a:off x="6812280" y="4069080"/>
            <a:ext cx="4206240" cy="411480"/>
          </a:xfrm>
          <a:prstGeom prst="rect">
            <a:avLst/>
          </a:prstGeom>
          <a:noFill/>
        </p:spPr>
        <p:txBody>
          <a:bodyPr wrap="square" lIns="0" tIns="0" rIns="0" bIns="0" rtlCol="0" anchor="ctr"/>
          <a:lstStyle/>
          <a:p>
            <a:pPr marL="0" indent="0">
              <a:buNone/>
            </a:pPr>
            <a:r>
              <a:rPr lang="en-US" sz="1350" b="1" dirty="0">
                <a:solidFill>
                  <a:srgbClr val="1B1F3B"/>
                </a:solidFill>
                <a:latin typeface="Calibri" panose="020F0502020204030204" pitchFamily="34" charset="0"/>
                <a:ea typeface="Calibri" panose="020F0502020204030204" pitchFamily="34" charset="-122"/>
                <a:cs typeface="Calibri" panose="020F0502020204030204" pitchFamily="34" charset="-120"/>
                <a:sym typeface="+mn-ea"/>
              </a:rPr>
              <a:t>Precision 1.00 → 0.90  |  Recall 0.97 → 0.</a:t>
            </a:r>
            <a:r>
              <a:rPr lang="en-US" sz="1350" b="1" dirty="0">
                <a:solidFill>
                  <a:srgbClr val="1B1F3B"/>
                </a:solidFill>
                <a:latin typeface="Calibri" panose="020F0502020204030204" pitchFamily="34" charset="0"/>
                <a:ea typeface="Calibri" panose="020F0502020204030204" pitchFamily="34" charset="-122"/>
                <a:cs typeface="Calibri" panose="020F0502020204030204" pitchFamily="34" charset="-120"/>
                <a:sym typeface="+mn-ea"/>
              </a:rPr>
              <a:t>98</a:t>
            </a:r>
            <a:endParaRPr lang="en-US" sz="1350" b="1" dirty="0">
              <a:solidFill>
                <a:srgbClr val="1B1F3B"/>
              </a:solidFill>
              <a:latin typeface="Calibri" panose="020F0502020204030204" pitchFamily="34" charset="0"/>
              <a:ea typeface="Calibri" panose="020F0502020204030204" pitchFamily="34" charset="-122"/>
              <a:cs typeface="Calibri" panose="020F0502020204030204" pitchFamily="34" charset="-120"/>
              <a:sym typeface="+mn-ea"/>
            </a:endParaRPr>
          </a:p>
          <a:p>
            <a:pPr marL="0" indent="0">
              <a:buNone/>
            </a:pPr>
            <a:endParaRPr lang="en-US" sz="1350" dirty="0"/>
          </a:p>
        </p:txBody>
      </p:sp>
      <p:sp>
        <p:nvSpPr>
          <p:cNvPr id="16" name="Text 14"/>
          <p:cNvSpPr/>
          <p:nvPr/>
        </p:nvSpPr>
        <p:spPr>
          <a:xfrm>
            <a:off x="6812280" y="4526280"/>
            <a:ext cx="4206240" cy="1371600"/>
          </a:xfrm>
          <a:prstGeom prst="rect">
            <a:avLst/>
          </a:prstGeom>
          <a:noFill/>
        </p:spPr>
        <p:txBody>
          <a:bodyPr wrap="square" lIns="0" tIns="0" rIns="0" bIns="0" rtlCol="0" anchor="ctr"/>
          <a:lstStyle/>
          <a:p>
            <a:pPr marL="0" indent="0">
              <a:lnSpc>
                <a:spcPct val="140000"/>
              </a:lnSpc>
              <a:buNone/>
            </a:pPr>
            <a:endParaRPr lang="en-US" sz="1250" dirty="0"/>
          </a:p>
        </p:txBody>
      </p:sp>
      <p:sp>
        <p:nvSpPr>
          <p:cNvPr id="17" name="Text 15"/>
          <p:cNvSpPr/>
          <p:nvPr/>
        </p:nvSpPr>
        <p:spPr>
          <a:xfrm>
            <a:off x="457200" y="6537960"/>
            <a:ext cx="5486400" cy="274320"/>
          </a:xfrm>
          <a:prstGeom prst="rect">
            <a:avLst/>
          </a:prstGeom>
          <a:noFill/>
        </p:spPr>
        <p:txBody>
          <a:bodyPr wrap="square" lIns="0" tIns="0" rIns="0" bIns="0" rtlCol="0" anchor="ctr"/>
          <a:lstStyle/>
          <a:p>
            <a:pPr marL="0" indent="0" algn="l">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DETECTION ML PIPELINE</a:t>
            </a:r>
            <a:endParaRPr lang="en-US" sz="900" dirty="0"/>
          </a:p>
        </p:txBody>
      </p:sp>
      <p:sp>
        <p:nvSpPr>
          <p:cNvPr id="18" name="Text 16"/>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
        <p:nvSpPr>
          <p:cNvPr id="19" name="Text Box 18"/>
          <p:cNvSpPr txBox="1"/>
          <p:nvPr/>
        </p:nvSpPr>
        <p:spPr>
          <a:xfrm>
            <a:off x="708660" y="2354580"/>
            <a:ext cx="5220335" cy="3702685"/>
          </a:xfrm>
          <a:prstGeom prst="rect">
            <a:avLst/>
          </a:prstGeom>
          <a:noFill/>
        </p:spPr>
        <p:txBody>
          <a:bodyPr wrap="square" rtlCol="0">
            <a:noAutofit/>
          </a:bodyPr>
          <a:p>
            <a:pPr marL="0" indent="0">
              <a:lnSpc>
                <a:spcPct val="140000"/>
              </a:lnSpc>
              <a:buNone/>
            </a:pPr>
            <a:r>
              <a:rPr lang="en-US" dirty="0">
                <a:solidFill>
                  <a:srgbClr val="1B1F3B"/>
                </a:solidFill>
                <a:latin typeface="Calibri" panose="020F0502020204030204" pitchFamily="34" charset="0"/>
                <a:ea typeface="Calibri" panose="020F0502020204030204" pitchFamily="34" charset="-122"/>
                <a:cs typeface="Calibri" panose="020F0502020204030204" pitchFamily="34" charset="-120"/>
                <a:sym typeface="+mn-ea"/>
              </a:rPr>
              <a:t>1. newbalanceOrig / newbalanceDest are known only after the transaction.</a:t>
            </a:r>
            <a:endParaRPr lang="en-US" dirty="0"/>
          </a:p>
          <a:p>
            <a:pPr marL="0" indent="0">
              <a:lnSpc>
                <a:spcPct val="140000"/>
              </a:lnSpc>
              <a:buNone/>
            </a:pPr>
            <a:endParaRPr lang="en-US" dirty="0"/>
          </a:p>
          <a:p>
            <a:pPr marL="0" indent="0">
              <a:lnSpc>
                <a:spcPct val="140000"/>
              </a:lnSpc>
              <a:buNone/>
            </a:pPr>
            <a:r>
              <a:rPr lang="en-US" dirty="0">
                <a:solidFill>
                  <a:srgbClr val="1B1F3B"/>
                </a:solidFill>
                <a:latin typeface="Calibri" panose="020F0502020204030204" pitchFamily="34" charset="0"/>
                <a:ea typeface="Calibri" panose="020F0502020204030204" pitchFamily="34" charset="-122"/>
                <a:cs typeface="Calibri" panose="020F0502020204030204" pitchFamily="34" charset="-120"/>
                <a:sym typeface="+mn-ea"/>
              </a:rPr>
              <a:t>2. orgin_balance_change / dest_balance_change were built from those balances, so they leak too (fraud drains the account, so change ≈ amount).</a:t>
            </a:r>
            <a:endParaRPr lang="en-US" dirty="0"/>
          </a:p>
          <a:p>
            <a:pPr marL="0" indent="0">
              <a:lnSpc>
                <a:spcPct val="140000"/>
              </a:lnSpc>
              <a:buNone/>
            </a:pPr>
            <a:endParaRPr lang="en-US" dirty="0"/>
          </a:p>
          <a:p>
            <a:pPr marL="0" indent="0">
              <a:lnSpc>
                <a:spcPct val="140000"/>
              </a:lnSpc>
              <a:buNone/>
            </a:pPr>
            <a:r>
              <a:rPr lang="en-US" dirty="0">
                <a:solidFill>
                  <a:srgbClr val="1B1F3B"/>
                </a:solidFill>
                <a:latin typeface="Calibri" panose="020F0502020204030204" pitchFamily="34" charset="0"/>
                <a:ea typeface="Calibri" panose="020F0502020204030204" pitchFamily="34" charset="-122"/>
                <a:cs typeface="Calibri" panose="020F0502020204030204" pitchFamily="34" charset="-120"/>
                <a:sym typeface="+mn-ea"/>
              </a:rPr>
              <a:t>3. step: every transaction after step 7 is fraud. This comes from how the dataset was sampled, not from real fraud behaviour.</a:t>
            </a:r>
            <a:endParaRPr lang="en-US" dirty="0"/>
          </a:p>
          <a:p>
            <a:endParaRPr lang="en-US"/>
          </a:p>
        </p:txBody>
      </p:sp>
      <p:sp>
        <p:nvSpPr>
          <p:cNvPr id="20" name="Text Box 19"/>
          <p:cNvSpPr txBox="1"/>
          <p:nvPr/>
        </p:nvSpPr>
        <p:spPr>
          <a:xfrm>
            <a:off x="6308725" y="4728845"/>
            <a:ext cx="5395595" cy="1585595"/>
          </a:xfrm>
          <a:prstGeom prst="rect">
            <a:avLst/>
          </a:prstGeom>
          <a:noFill/>
        </p:spPr>
        <p:txBody>
          <a:bodyPr wrap="square" rtlCol="0">
            <a:noAutofit/>
          </a:bodyPr>
          <a:p>
            <a:r>
              <a:rPr lang="en-US" i="1" dirty="0">
                <a:solidFill>
                  <a:srgbClr val="1B1F3B"/>
                </a:solidFill>
                <a:ea typeface="Calibri" panose="020F0502020204030204" pitchFamily="34" charset="-122"/>
                <a:cs typeface="+mn-lt"/>
                <a:sym typeface="+mn-ea"/>
              </a:rPr>
              <a:t>Scores dropped slightly, as expected. The final model still catches about 98% of fraud, with about 25 false alarms out of 2,001 normal transactions</a:t>
            </a:r>
            <a:endParaRPr lang="en-US">
              <a:cs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Why Random Forest?</a:t>
            </a:r>
            <a:endParaRPr lang="en-US" sz="3200" dirty="0"/>
          </a:p>
        </p:txBody>
      </p:sp>
      <p:sp>
        <p:nvSpPr>
          <p:cNvPr id="3" name="Text 1"/>
          <p:cNvSpPr/>
          <p:nvPr/>
        </p:nvSpPr>
        <p:spPr>
          <a:xfrm>
            <a:off x="548640" y="1005840"/>
            <a:ext cx="100584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chosen on practicality and validated stability</a:t>
            </a:r>
            <a:endParaRPr lang="en-US" sz="1300" dirty="0"/>
          </a:p>
        </p:txBody>
      </p:sp>
      <p:sp>
        <p:nvSpPr>
          <p:cNvPr id="4" name="Text 2"/>
          <p:cNvSpPr/>
          <p:nvPr/>
        </p:nvSpPr>
        <p:spPr>
          <a:xfrm>
            <a:off x="548640" y="1600200"/>
            <a:ext cx="548640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Deployment Practicality</a:t>
            </a:r>
            <a:endParaRPr lang="en-US" sz="1400" dirty="0"/>
          </a:p>
        </p:txBody>
      </p:sp>
      <p:sp>
        <p:nvSpPr>
          <p:cNvPr id="5" name="Shape 3"/>
          <p:cNvSpPr/>
          <p:nvPr/>
        </p:nvSpPr>
        <p:spPr>
          <a:xfrm>
            <a:off x="548640" y="2011680"/>
            <a:ext cx="2286000" cy="566928"/>
          </a:xfrm>
          <a:prstGeom prst="rect">
            <a:avLst/>
          </a:prstGeom>
          <a:solidFill>
            <a:srgbClr val="1E2761"/>
          </a:solidFill>
          <a:ln w="9525">
            <a:solidFill>
              <a:srgbClr val="E5E7F0"/>
            </a:solidFill>
            <a:prstDash val="solid"/>
          </a:ln>
        </p:spPr>
      </p:sp>
      <p:sp>
        <p:nvSpPr>
          <p:cNvPr id="6" name="Text 4"/>
          <p:cNvSpPr/>
          <p:nvPr/>
        </p:nvSpPr>
        <p:spPr>
          <a:xfrm>
            <a:off x="658368" y="2011680"/>
            <a:ext cx="2066544" cy="566928"/>
          </a:xfrm>
          <a:prstGeom prst="rect">
            <a:avLst/>
          </a:prstGeom>
          <a:noFill/>
        </p:spPr>
        <p:txBody>
          <a:bodyPr wrap="square" lIns="0" tIns="0" rIns="0" bIns="0" rtlCol="0" anchor="ctr"/>
          <a:lstStyle/>
          <a:p>
            <a:pPr marL="0" indent="0">
              <a:lnSpc>
                <a:spcPct val="110000"/>
              </a:lnSpc>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Factor</a:t>
            </a:r>
            <a:endParaRPr lang="en-US" sz="1150" dirty="0"/>
          </a:p>
        </p:txBody>
      </p:sp>
      <p:sp>
        <p:nvSpPr>
          <p:cNvPr id="7" name="Shape 5"/>
          <p:cNvSpPr/>
          <p:nvPr/>
        </p:nvSpPr>
        <p:spPr>
          <a:xfrm>
            <a:off x="2834640" y="2011680"/>
            <a:ext cx="2011680" cy="566928"/>
          </a:xfrm>
          <a:prstGeom prst="rect">
            <a:avLst/>
          </a:prstGeom>
          <a:solidFill>
            <a:srgbClr val="1E2761"/>
          </a:solidFill>
          <a:ln w="9525">
            <a:solidFill>
              <a:srgbClr val="E5E7F0"/>
            </a:solidFill>
            <a:prstDash val="solid"/>
          </a:ln>
        </p:spPr>
      </p:sp>
      <p:sp>
        <p:nvSpPr>
          <p:cNvPr id="8" name="Text 6"/>
          <p:cNvSpPr/>
          <p:nvPr/>
        </p:nvSpPr>
        <p:spPr>
          <a:xfrm>
            <a:off x="2944368" y="2011680"/>
            <a:ext cx="1792224" cy="566928"/>
          </a:xfrm>
          <a:prstGeom prst="rect">
            <a:avLst/>
          </a:prstGeom>
          <a:noFill/>
        </p:spPr>
        <p:txBody>
          <a:bodyPr wrap="square" lIns="0" tIns="0" rIns="0" bIns="0" rtlCol="0" anchor="ctr"/>
          <a:lstStyle/>
          <a:p>
            <a:pPr marL="0" indent="0">
              <a:lnSpc>
                <a:spcPct val="110000"/>
              </a:lnSpc>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Random Forest</a:t>
            </a:r>
            <a:endParaRPr lang="en-US" sz="1150" dirty="0"/>
          </a:p>
        </p:txBody>
      </p:sp>
      <p:sp>
        <p:nvSpPr>
          <p:cNvPr id="9" name="Shape 7"/>
          <p:cNvSpPr/>
          <p:nvPr/>
        </p:nvSpPr>
        <p:spPr>
          <a:xfrm>
            <a:off x="4846320" y="2011680"/>
            <a:ext cx="2011680" cy="566928"/>
          </a:xfrm>
          <a:prstGeom prst="rect">
            <a:avLst/>
          </a:prstGeom>
          <a:solidFill>
            <a:srgbClr val="1E2761"/>
          </a:solidFill>
          <a:ln w="9525">
            <a:solidFill>
              <a:srgbClr val="E5E7F0"/>
            </a:solidFill>
            <a:prstDash val="solid"/>
          </a:ln>
        </p:spPr>
      </p:sp>
      <p:sp>
        <p:nvSpPr>
          <p:cNvPr id="10" name="Text 8"/>
          <p:cNvSpPr/>
          <p:nvPr/>
        </p:nvSpPr>
        <p:spPr>
          <a:xfrm>
            <a:off x="4956048" y="2011680"/>
            <a:ext cx="1792224" cy="566928"/>
          </a:xfrm>
          <a:prstGeom prst="rect">
            <a:avLst/>
          </a:prstGeom>
          <a:noFill/>
        </p:spPr>
        <p:txBody>
          <a:bodyPr wrap="square" lIns="0" tIns="0" rIns="0" bIns="0" rtlCol="0" anchor="ctr"/>
          <a:lstStyle/>
          <a:p>
            <a:pPr marL="0" indent="0">
              <a:lnSpc>
                <a:spcPct val="110000"/>
              </a:lnSpc>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XGBoost</a:t>
            </a:r>
            <a:endParaRPr lang="en-US" sz="1150" dirty="0"/>
          </a:p>
        </p:txBody>
      </p:sp>
      <p:sp>
        <p:nvSpPr>
          <p:cNvPr id="11" name="Shape 9"/>
          <p:cNvSpPr/>
          <p:nvPr/>
        </p:nvSpPr>
        <p:spPr>
          <a:xfrm>
            <a:off x="548640" y="2578608"/>
            <a:ext cx="2286000" cy="566928"/>
          </a:xfrm>
          <a:prstGeom prst="rect">
            <a:avLst/>
          </a:prstGeom>
          <a:solidFill>
            <a:srgbClr val="FFFFFF"/>
          </a:solidFill>
          <a:ln w="9525">
            <a:solidFill>
              <a:srgbClr val="E5E7F0"/>
            </a:solidFill>
            <a:prstDash val="solid"/>
          </a:ln>
        </p:spPr>
      </p:sp>
      <p:sp>
        <p:nvSpPr>
          <p:cNvPr id="12" name="Text 10"/>
          <p:cNvSpPr/>
          <p:nvPr/>
        </p:nvSpPr>
        <p:spPr>
          <a:xfrm>
            <a:off x="658368" y="2578608"/>
            <a:ext cx="2066544" cy="566928"/>
          </a:xfrm>
          <a:prstGeom prst="rect">
            <a:avLst/>
          </a:prstGeom>
          <a:noFill/>
        </p:spPr>
        <p:txBody>
          <a:bodyPr wrap="square" lIns="0" tIns="0" rIns="0" bIns="0" rtlCol="0" anchor="ctr"/>
          <a:lstStyle/>
          <a:p>
            <a:pPr marL="0" indent="0">
              <a:lnSpc>
                <a:spcPct val="110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Extra dependency</a:t>
            </a:r>
            <a:endParaRPr lang="en-US" sz="1050" dirty="0"/>
          </a:p>
        </p:txBody>
      </p:sp>
      <p:sp>
        <p:nvSpPr>
          <p:cNvPr id="13" name="Shape 11"/>
          <p:cNvSpPr/>
          <p:nvPr/>
        </p:nvSpPr>
        <p:spPr>
          <a:xfrm>
            <a:off x="2834640" y="2578608"/>
            <a:ext cx="2011680" cy="566928"/>
          </a:xfrm>
          <a:prstGeom prst="rect">
            <a:avLst/>
          </a:prstGeom>
          <a:solidFill>
            <a:srgbClr val="FFFFFF"/>
          </a:solidFill>
          <a:ln w="9525">
            <a:solidFill>
              <a:srgbClr val="E5E7F0"/>
            </a:solidFill>
            <a:prstDash val="solid"/>
          </a:ln>
        </p:spPr>
      </p:sp>
      <p:sp>
        <p:nvSpPr>
          <p:cNvPr id="14" name="Text 12"/>
          <p:cNvSpPr/>
          <p:nvPr/>
        </p:nvSpPr>
        <p:spPr>
          <a:xfrm>
            <a:off x="2944368" y="2578608"/>
            <a:ext cx="1792224" cy="566928"/>
          </a:xfrm>
          <a:prstGeom prst="rect">
            <a:avLst/>
          </a:prstGeom>
          <a:noFill/>
        </p:spPr>
        <p:txBody>
          <a:bodyPr wrap="square" lIns="0" tIns="0" rIns="0" bIns="0" rtlCol="0" anchor="ctr"/>
          <a:lstStyle/>
          <a:p>
            <a:pPr marL="0" indent="0">
              <a:lnSpc>
                <a:spcPct val="110000"/>
              </a:lnSpc>
              <a:buNone/>
            </a:pPr>
            <a:r>
              <a:rPr lang="en-US" sz="1050" dirty="0">
                <a:solidFill>
                  <a:srgbClr val="1B1F3B"/>
                </a:solidFill>
                <a:latin typeface="Calibri" panose="020F0502020204030204" pitchFamily="34" charset="0"/>
                <a:ea typeface="Calibri" panose="020F0502020204030204" pitchFamily="34" charset="-122"/>
                <a:cs typeface="Calibri" panose="020F0502020204030204" pitchFamily="34" charset="-120"/>
              </a:rPr>
              <a:t>Built into scikit-learn</a:t>
            </a:r>
            <a:endParaRPr lang="en-US" sz="1050" dirty="0"/>
          </a:p>
        </p:txBody>
      </p:sp>
      <p:sp>
        <p:nvSpPr>
          <p:cNvPr id="15" name="Shape 13"/>
          <p:cNvSpPr/>
          <p:nvPr/>
        </p:nvSpPr>
        <p:spPr>
          <a:xfrm>
            <a:off x="4846320" y="2578608"/>
            <a:ext cx="2011680" cy="566928"/>
          </a:xfrm>
          <a:prstGeom prst="rect">
            <a:avLst/>
          </a:prstGeom>
          <a:solidFill>
            <a:srgbClr val="FFFFFF"/>
          </a:solidFill>
          <a:ln w="9525">
            <a:solidFill>
              <a:srgbClr val="E5E7F0"/>
            </a:solidFill>
            <a:prstDash val="solid"/>
          </a:ln>
        </p:spPr>
      </p:sp>
      <p:sp>
        <p:nvSpPr>
          <p:cNvPr id="16" name="Text 14"/>
          <p:cNvSpPr/>
          <p:nvPr/>
        </p:nvSpPr>
        <p:spPr>
          <a:xfrm>
            <a:off x="4956048" y="2578608"/>
            <a:ext cx="1792224" cy="566928"/>
          </a:xfrm>
          <a:prstGeom prst="rect">
            <a:avLst/>
          </a:prstGeom>
          <a:noFill/>
        </p:spPr>
        <p:txBody>
          <a:bodyPr wrap="square" lIns="0" tIns="0" rIns="0" bIns="0" rtlCol="0" anchor="ctr"/>
          <a:lstStyle/>
          <a:p>
            <a:pPr marL="0" indent="0">
              <a:lnSpc>
                <a:spcPct val="110000"/>
              </a:lnSpc>
              <a:buNone/>
            </a:pPr>
            <a:r>
              <a:rPr lang="en-US" sz="1050" dirty="0">
                <a:solidFill>
                  <a:srgbClr val="1B1F3B"/>
                </a:solidFill>
                <a:latin typeface="Calibri" panose="020F0502020204030204" pitchFamily="34" charset="0"/>
                <a:ea typeface="Calibri" panose="020F0502020204030204" pitchFamily="34" charset="-122"/>
                <a:cs typeface="Calibri" panose="020F0502020204030204" pitchFamily="34" charset="-120"/>
              </a:rPr>
              <a:t>Separate xgboost package</a:t>
            </a:r>
            <a:endParaRPr lang="en-US" sz="1050" dirty="0"/>
          </a:p>
        </p:txBody>
      </p:sp>
      <p:sp>
        <p:nvSpPr>
          <p:cNvPr id="17" name="Shape 15"/>
          <p:cNvSpPr/>
          <p:nvPr/>
        </p:nvSpPr>
        <p:spPr>
          <a:xfrm>
            <a:off x="548640" y="3145536"/>
            <a:ext cx="2286000" cy="566928"/>
          </a:xfrm>
          <a:prstGeom prst="rect">
            <a:avLst/>
          </a:prstGeom>
          <a:solidFill>
            <a:srgbClr val="F4F6FC"/>
          </a:solidFill>
          <a:ln w="9525">
            <a:solidFill>
              <a:srgbClr val="E5E7F0"/>
            </a:solidFill>
            <a:prstDash val="solid"/>
          </a:ln>
        </p:spPr>
      </p:sp>
      <p:sp>
        <p:nvSpPr>
          <p:cNvPr id="18" name="Text 16"/>
          <p:cNvSpPr/>
          <p:nvPr/>
        </p:nvSpPr>
        <p:spPr>
          <a:xfrm>
            <a:off x="658368" y="3145536"/>
            <a:ext cx="2066544" cy="566928"/>
          </a:xfrm>
          <a:prstGeom prst="rect">
            <a:avLst/>
          </a:prstGeom>
          <a:noFill/>
        </p:spPr>
        <p:txBody>
          <a:bodyPr wrap="square" lIns="0" tIns="0" rIns="0" bIns="0" rtlCol="0" anchor="ctr"/>
          <a:lstStyle/>
          <a:p>
            <a:pPr marL="0" indent="0">
              <a:lnSpc>
                <a:spcPct val="110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Hyperparameter tuning</a:t>
            </a:r>
            <a:endParaRPr lang="en-US" sz="1050" dirty="0"/>
          </a:p>
        </p:txBody>
      </p:sp>
      <p:sp>
        <p:nvSpPr>
          <p:cNvPr id="19" name="Shape 17"/>
          <p:cNvSpPr/>
          <p:nvPr/>
        </p:nvSpPr>
        <p:spPr>
          <a:xfrm>
            <a:off x="2834640" y="3145536"/>
            <a:ext cx="2011680" cy="566928"/>
          </a:xfrm>
          <a:prstGeom prst="rect">
            <a:avLst/>
          </a:prstGeom>
          <a:solidFill>
            <a:srgbClr val="F4F6FC"/>
          </a:solidFill>
          <a:ln w="9525">
            <a:solidFill>
              <a:srgbClr val="E5E7F0"/>
            </a:solidFill>
            <a:prstDash val="solid"/>
          </a:ln>
        </p:spPr>
      </p:sp>
      <p:sp>
        <p:nvSpPr>
          <p:cNvPr id="20" name="Text 18"/>
          <p:cNvSpPr/>
          <p:nvPr/>
        </p:nvSpPr>
        <p:spPr>
          <a:xfrm>
            <a:off x="2944368" y="3145536"/>
            <a:ext cx="1792224" cy="566928"/>
          </a:xfrm>
          <a:prstGeom prst="rect">
            <a:avLst/>
          </a:prstGeom>
          <a:noFill/>
        </p:spPr>
        <p:txBody>
          <a:bodyPr wrap="square" lIns="0" tIns="0" rIns="0" bIns="0" rtlCol="0" anchor="ctr"/>
          <a:lstStyle/>
          <a:p>
            <a:pPr marL="0" indent="0">
              <a:lnSpc>
                <a:spcPct val="110000"/>
              </a:lnSpc>
              <a:buNone/>
            </a:pPr>
            <a:r>
              <a:rPr lang="en-US" sz="1050" dirty="0">
                <a:solidFill>
                  <a:srgbClr val="1B1F3B"/>
                </a:solidFill>
                <a:latin typeface="Calibri" panose="020F0502020204030204" pitchFamily="34" charset="0"/>
                <a:ea typeface="Calibri" panose="020F0502020204030204" pitchFamily="34" charset="-122"/>
                <a:cs typeface="Calibri" panose="020F0502020204030204" pitchFamily="34" charset="-120"/>
              </a:rPr>
              <a:t>Simpler, fewer knobs</a:t>
            </a:r>
            <a:endParaRPr lang="en-US" sz="1050" dirty="0"/>
          </a:p>
        </p:txBody>
      </p:sp>
      <p:sp>
        <p:nvSpPr>
          <p:cNvPr id="21" name="Shape 19"/>
          <p:cNvSpPr/>
          <p:nvPr/>
        </p:nvSpPr>
        <p:spPr>
          <a:xfrm>
            <a:off x="4846320" y="3145536"/>
            <a:ext cx="2011680" cy="566928"/>
          </a:xfrm>
          <a:prstGeom prst="rect">
            <a:avLst/>
          </a:prstGeom>
          <a:solidFill>
            <a:srgbClr val="F4F6FC"/>
          </a:solidFill>
          <a:ln w="9525">
            <a:solidFill>
              <a:srgbClr val="E5E7F0"/>
            </a:solidFill>
            <a:prstDash val="solid"/>
          </a:ln>
        </p:spPr>
      </p:sp>
      <p:sp>
        <p:nvSpPr>
          <p:cNvPr id="22" name="Text 20"/>
          <p:cNvSpPr/>
          <p:nvPr/>
        </p:nvSpPr>
        <p:spPr>
          <a:xfrm>
            <a:off x="4956048" y="3145536"/>
            <a:ext cx="1792224" cy="566928"/>
          </a:xfrm>
          <a:prstGeom prst="rect">
            <a:avLst/>
          </a:prstGeom>
          <a:noFill/>
        </p:spPr>
        <p:txBody>
          <a:bodyPr wrap="square" lIns="0" tIns="0" rIns="0" bIns="0" rtlCol="0" anchor="ctr"/>
          <a:lstStyle/>
          <a:p>
            <a:pPr marL="0" indent="0">
              <a:lnSpc>
                <a:spcPct val="110000"/>
              </a:lnSpc>
              <a:buNone/>
            </a:pPr>
            <a:r>
              <a:rPr lang="en-US" sz="1050" dirty="0">
                <a:solidFill>
                  <a:srgbClr val="1B1F3B"/>
                </a:solidFill>
                <a:latin typeface="Calibri" panose="020F0502020204030204" pitchFamily="34" charset="0"/>
                <a:ea typeface="Calibri" panose="020F0502020204030204" pitchFamily="34" charset="-122"/>
                <a:cs typeface="Calibri" panose="020F0502020204030204" pitchFamily="34" charset="-120"/>
              </a:rPr>
              <a:t>More sensitive to tune</a:t>
            </a:r>
            <a:endParaRPr lang="en-US" sz="1050" dirty="0"/>
          </a:p>
        </p:txBody>
      </p:sp>
      <p:sp>
        <p:nvSpPr>
          <p:cNvPr id="23" name="Shape 21"/>
          <p:cNvSpPr/>
          <p:nvPr/>
        </p:nvSpPr>
        <p:spPr>
          <a:xfrm>
            <a:off x="548640" y="3712464"/>
            <a:ext cx="2286000" cy="566928"/>
          </a:xfrm>
          <a:prstGeom prst="rect">
            <a:avLst/>
          </a:prstGeom>
          <a:solidFill>
            <a:srgbClr val="FFFFFF"/>
          </a:solidFill>
          <a:ln w="9525">
            <a:solidFill>
              <a:srgbClr val="E5E7F0"/>
            </a:solidFill>
            <a:prstDash val="solid"/>
          </a:ln>
        </p:spPr>
      </p:sp>
      <p:sp>
        <p:nvSpPr>
          <p:cNvPr id="24" name="Text 22"/>
          <p:cNvSpPr/>
          <p:nvPr/>
        </p:nvSpPr>
        <p:spPr>
          <a:xfrm>
            <a:off x="658368" y="3712464"/>
            <a:ext cx="2066544" cy="566928"/>
          </a:xfrm>
          <a:prstGeom prst="rect">
            <a:avLst/>
          </a:prstGeom>
          <a:noFill/>
        </p:spPr>
        <p:txBody>
          <a:bodyPr wrap="square" lIns="0" tIns="0" rIns="0" bIns="0" rtlCol="0" anchor="ctr"/>
          <a:lstStyle/>
          <a:p>
            <a:pPr marL="0" indent="0">
              <a:lnSpc>
                <a:spcPct val="110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Overfitting risk</a:t>
            </a:r>
            <a:endParaRPr lang="en-US" sz="1050" dirty="0"/>
          </a:p>
        </p:txBody>
      </p:sp>
      <p:sp>
        <p:nvSpPr>
          <p:cNvPr id="25" name="Shape 23"/>
          <p:cNvSpPr/>
          <p:nvPr/>
        </p:nvSpPr>
        <p:spPr>
          <a:xfrm>
            <a:off x="2834640" y="3712464"/>
            <a:ext cx="2011680" cy="566928"/>
          </a:xfrm>
          <a:prstGeom prst="rect">
            <a:avLst/>
          </a:prstGeom>
          <a:solidFill>
            <a:srgbClr val="FFFFFF"/>
          </a:solidFill>
          <a:ln w="9525">
            <a:solidFill>
              <a:srgbClr val="E5E7F0"/>
            </a:solidFill>
            <a:prstDash val="solid"/>
          </a:ln>
        </p:spPr>
      </p:sp>
      <p:sp>
        <p:nvSpPr>
          <p:cNvPr id="26" name="Text 24"/>
          <p:cNvSpPr/>
          <p:nvPr/>
        </p:nvSpPr>
        <p:spPr>
          <a:xfrm>
            <a:off x="2944368" y="3712464"/>
            <a:ext cx="1792224" cy="566928"/>
          </a:xfrm>
          <a:prstGeom prst="rect">
            <a:avLst/>
          </a:prstGeom>
          <a:noFill/>
        </p:spPr>
        <p:txBody>
          <a:bodyPr wrap="square" lIns="0" tIns="0" rIns="0" bIns="0" rtlCol="0" anchor="ctr"/>
          <a:lstStyle/>
          <a:p>
            <a:pPr marL="0" indent="0">
              <a:lnSpc>
                <a:spcPct val="110000"/>
              </a:lnSpc>
              <a:buNone/>
            </a:pPr>
            <a:r>
              <a:rPr lang="en-US" sz="1050" dirty="0">
                <a:solidFill>
                  <a:srgbClr val="1B1F3B"/>
                </a:solidFill>
                <a:latin typeface="Calibri" panose="020F0502020204030204" pitchFamily="34" charset="0"/>
                <a:ea typeface="Calibri" panose="020F0502020204030204" pitchFamily="34" charset="-122"/>
                <a:cs typeface="Calibri" panose="020F0502020204030204" pitchFamily="34" charset="-120"/>
              </a:rPr>
              <a:t>Lower (trees averaged)</a:t>
            </a:r>
            <a:endParaRPr lang="en-US" sz="1050" dirty="0"/>
          </a:p>
        </p:txBody>
      </p:sp>
      <p:sp>
        <p:nvSpPr>
          <p:cNvPr id="27" name="Shape 25"/>
          <p:cNvSpPr/>
          <p:nvPr/>
        </p:nvSpPr>
        <p:spPr>
          <a:xfrm>
            <a:off x="4846320" y="3712464"/>
            <a:ext cx="2011680" cy="566928"/>
          </a:xfrm>
          <a:prstGeom prst="rect">
            <a:avLst/>
          </a:prstGeom>
          <a:solidFill>
            <a:srgbClr val="FFFFFF"/>
          </a:solidFill>
          <a:ln w="9525">
            <a:solidFill>
              <a:srgbClr val="E5E7F0"/>
            </a:solidFill>
            <a:prstDash val="solid"/>
          </a:ln>
        </p:spPr>
      </p:sp>
      <p:sp>
        <p:nvSpPr>
          <p:cNvPr id="28" name="Text 26"/>
          <p:cNvSpPr/>
          <p:nvPr/>
        </p:nvSpPr>
        <p:spPr>
          <a:xfrm>
            <a:off x="4956048" y="3712464"/>
            <a:ext cx="1792224" cy="566928"/>
          </a:xfrm>
          <a:prstGeom prst="rect">
            <a:avLst/>
          </a:prstGeom>
          <a:noFill/>
        </p:spPr>
        <p:txBody>
          <a:bodyPr wrap="square" lIns="0" tIns="0" rIns="0" bIns="0" rtlCol="0" anchor="ctr"/>
          <a:lstStyle/>
          <a:p>
            <a:pPr marL="0" indent="0">
              <a:lnSpc>
                <a:spcPct val="110000"/>
              </a:lnSpc>
              <a:buNone/>
            </a:pPr>
            <a:r>
              <a:rPr lang="en-US" sz="1050" dirty="0">
                <a:solidFill>
                  <a:srgbClr val="1B1F3B"/>
                </a:solidFill>
                <a:latin typeface="Calibri" panose="020F0502020204030204" pitchFamily="34" charset="0"/>
                <a:ea typeface="Calibri" panose="020F0502020204030204" pitchFamily="34" charset="-122"/>
                <a:cs typeface="Calibri" panose="020F0502020204030204" pitchFamily="34" charset="-120"/>
              </a:rPr>
              <a:t>Higher if untuned</a:t>
            </a:r>
            <a:endParaRPr lang="en-US" sz="1050" dirty="0"/>
          </a:p>
        </p:txBody>
      </p:sp>
      <p:sp>
        <p:nvSpPr>
          <p:cNvPr id="29" name="Shape 27"/>
          <p:cNvSpPr/>
          <p:nvPr/>
        </p:nvSpPr>
        <p:spPr>
          <a:xfrm>
            <a:off x="548640" y="4279392"/>
            <a:ext cx="2286000" cy="566928"/>
          </a:xfrm>
          <a:prstGeom prst="rect">
            <a:avLst/>
          </a:prstGeom>
          <a:solidFill>
            <a:srgbClr val="F4F6FC"/>
          </a:solidFill>
          <a:ln w="9525">
            <a:solidFill>
              <a:srgbClr val="E5E7F0"/>
            </a:solidFill>
            <a:prstDash val="solid"/>
          </a:ln>
        </p:spPr>
      </p:sp>
      <p:sp>
        <p:nvSpPr>
          <p:cNvPr id="30" name="Text 28"/>
          <p:cNvSpPr/>
          <p:nvPr/>
        </p:nvSpPr>
        <p:spPr>
          <a:xfrm>
            <a:off x="658368" y="4279392"/>
            <a:ext cx="2066544" cy="566928"/>
          </a:xfrm>
          <a:prstGeom prst="rect">
            <a:avLst/>
          </a:prstGeom>
          <a:noFill/>
        </p:spPr>
        <p:txBody>
          <a:bodyPr wrap="square" lIns="0" tIns="0" rIns="0" bIns="0" rtlCol="0" anchor="ctr"/>
          <a:lstStyle/>
          <a:p>
            <a:pPr marL="0" indent="0">
              <a:lnSpc>
                <a:spcPct val="110000"/>
              </a:lnSpc>
              <a:buNone/>
            </a:pPr>
            <a:r>
              <a:rPr lang="en-US" sz="1050" b="1" dirty="0">
                <a:solidFill>
                  <a:srgbClr val="1B1F3B"/>
                </a:solidFill>
                <a:latin typeface="Calibri" panose="020F0502020204030204" pitchFamily="34" charset="0"/>
                <a:ea typeface="Calibri" panose="020F0502020204030204" pitchFamily="34" charset="-122"/>
                <a:cs typeface="Calibri" panose="020F0502020204030204" pitchFamily="34" charset="-120"/>
              </a:rPr>
              <a:t>Production maintenance</a:t>
            </a:r>
            <a:endParaRPr lang="en-US" sz="1050" dirty="0"/>
          </a:p>
        </p:txBody>
      </p:sp>
      <p:sp>
        <p:nvSpPr>
          <p:cNvPr id="31" name="Shape 29"/>
          <p:cNvSpPr/>
          <p:nvPr/>
        </p:nvSpPr>
        <p:spPr>
          <a:xfrm>
            <a:off x="2834640" y="4279392"/>
            <a:ext cx="2011680" cy="566928"/>
          </a:xfrm>
          <a:prstGeom prst="rect">
            <a:avLst/>
          </a:prstGeom>
          <a:solidFill>
            <a:srgbClr val="F4F6FC"/>
          </a:solidFill>
          <a:ln w="9525">
            <a:solidFill>
              <a:srgbClr val="E5E7F0"/>
            </a:solidFill>
            <a:prstDash val="solid"/>
          </a:ln>
        </p:spPr>
      </p:sp>
      <p:sp>
        <p:nvSpPr>
          <p:cNvPr id="32" name="Text 30"/>
          <p:cNvSpPr/>
          <p:nvPr/>
        </p:nvSpPr>
        <p:spPr>
          <a:xfrm>
            <a:off x="2944368" y="4279392"/>
            <a:ext cx="1792224" cy="566928"/>
          </a:xfrm>
          <a:prstGeom prst="rect">
            <a:avLst/>
          </a:prstGeom>
          <a:noFill/>
        </p:spPr>
        <p:txBody>
          <a:bodyPr wrap="square" lIns="0" tIns="0" rIns="0" bIns="0" rtlCol="0" anchor="ctr"/>
          <a:lstStyle/>
          <a:p>
            <a:pPr marL="0" indent="0">
              <a:lnSpc>
                <a:spcPct val="110000"/>
              </a:lnSpc>
              <a:buNone/>
            </a:pPr>
            <a:r>
              <a:rPr lang="en-US" sz="1050" dirty="0">
                <a:solidFill>
                  <a:srgbClr val="1B1F3B"/>
                </a:solidFill>
                <a:latin typeface="Calibri" panose="020F0502020204030204" pitchFamily="34" charset="0"/>
                <a:ea typeface="Calibri" panose="020F0502020204030204" pitchFamily="34" charset="-122"/>
                <a:cs typeface="Calibri" panose="020F0502020204030204" pitchFamily="34" charset="-120"/>
              </a:rPr>
              <a:t>Fewer moving parts</a:t>
            </a:r>
            <a:endParaRPr lang="en-US" sz="1050" dirty="0"/>
          </a:p>
        </p:txBody>
      </p:sp>
      <p:sp>
        <p:nvSpPr>
          <p:cNvPr id="33" name="Shape 31"/>
          <p:cNvSpPr/>
          <p:nvPr/>
        </p:nvSpPr>
        <p:spPr>
          <a:xfrm>
            <a:off x="4846320" y="4279392"/>
            <a:ext cx="2011680" cy="566928"/>
          </a:xfrm>
          <a:prstGeom prst="rect">
            <a:avLst/>
          </a:prstGeom>
          <a:solidFill>
            <a:srgbClr val="F4F6FC"/>
          </a:solidFill>
          <a:ln w="9525">
            <a:solidFill>
              <a:srgbClr val="E5E7F0"/>
            </a:solidFill>
            <a:prstDash val="solid"/>
          </a:ln>
        </p:spPr>
      </p:sp>
      <p:sp>
        <p:nvSpPr>
          <p:cNvPr id="34" name="Text 32"/>
          <p:cNvSpPr/>
          <p:nvPr/>
        </p:nvSpPr>
        <p:spPr>
          <a:xfrm>
            <a:off x="4956048" y="4279392"/>
            <a:ext cx="1792224" cy="566928"/>
          </a:xfrm>
          <a:prstGeom prst="rect">
            <a:avLst/>
          </a:prstGeom>
          <a:noFill/>
        </p:spPr>
        <p:txBody>
          <a:bodyPr wrap="square" lIns="0" tIns="0" rIns="0" bIns="0" rtlCol="0" anchor="ctr"/>
          <a:lstStyle/>
          <a:p>
            <a:pPr marL="0" indent="0">
              <a:lnSpc>
                <a:spcPct val="110000"/>
              </a:lnSpc>
              <a:buNone/>
            </a:pPr>
            <a:r>
              <a:rPr lang="en-US" sz="1050" dirty="0">
                <a:solidFill>
                  <a:srgbClr val="1B1F3B"/>
                </a:solidFill>
                <a:latin typeface="Calibri" panose="020F0502020204030204" pitchFamily="34" charset="0"/>
                <a:ea typeface="Calibri" panose="020F0502020204030204" pitchFamily="34" charset="-122"/>
                <a:cs typeface="Calibri" panose="020F0502020204030204" pitchFamily="34" charset="-120"/>
              </a:rPr>
              <a:t>One more library to track</a:t>
            </a:r>
            <a:endParaRPr lang="en-US" sz="1050" dirty="0"/>
          </a:p>
        </p:txBody>
      </p:sp>
      <p:sp>
        <p:nvSpPr>
          <p:cNvPr id="35" name="Shape 33"/>
          <p:cNvSpPr/>
          <p:nvPr/>
        </p:nvSpPr>
        <p:spPr>
          <a:xfrm>
            <a:off x="7223760" y="1600200"/>
            <a:ext cx="4389120" cy="4572000"/>
          </a:xfrm>
          <a:prstGeom prst="roundRect">
            <a:avLst>
              <a:gd name="adj" fmla="val 2500"/>
            </a:avLst>
          </a:prstGeom>
          <a:solidFill>
            <a:srgbClr val="1E2761"/>
          </a:solidFill>
        </p:spPr>
      </p:sp>
      <p:sp>
        <p:nvSpPr>
          <p:cNvPr id="53" name="Text 51"/>
          <p:cNvSpPr/>
          <p:nvPr/>
        </p:nvSpPr>
        <p:spPr>
          <a:xfrm>
            <a:off x="548640" y="6263640"/>
            <a:ext cx="11064240" cy="365760"/>
          </a:xfrm>
          <a:prstGeom prst="rect">
            <a:avLst/>
          </a:prstGeom>
          <a:noFill/>
        </p:spPr>
        <p:txBody>
          <a:bodyPr wrap="square" lIns="0" tIns="0" rIns="0" bIns="0" rtlCol="0" anchor="ctr"/>
          <a:lstStyle/>
          <a:p>
            <a:pPr marL="0" indent="0">
              <a:buNone/>
            </a:pPr>
            <a:r>
              <a:rPr lang="en-US" sz="1100" i="1" dirty="0">
                <a:solidFill>
                  <a:srgbClr val="5A6285"/>
                </a:solidFill>
                <a:latin typeface="Calibri" panose="020F0502020204030204" pitchFamily="34" charset="0"/>
                <a:ea typeface="Calibri" panose="020F0502020204030204" pitchFamily="34" charset="-122"/>
                <a:cs typeface="Calibri" panose="020F0502020204030204" pitchFamily="34" charset="-120"/>
              </a:rPr>
              <a:t>Random Forest matched the top-performing model while being simpler to tune, deploy, and maintain in production.</a:t>
            </a:r>
            <a:endParaRPr lang="en-US" sz="1100" dirty="0"/>
          </a:p>
        </p:txBody>
      </p:sp>
      <p:sp>
        <p:nvSpPr>
          <p:cNvPr id="54" name="Text 52"/>
          <p:cNvSpPr/>
          <p:nvPr/>
        </p:nvSpPr>
        <p:spPr>
          <a:xfrm>
            <a:off x="457200" y="6537960"/>
            <a:ext cx="5486400" cy="274320"/>
          </a:xfrm>
          <a:prstGeom prst="rect">
            <a:avLst/>
          </a:prstGeom>
          <a:noFill/>
        </p:spPr>
        <p:txBody>
          <a:bodyPr wrap="square" lIns="0" tIns="0" rIns="0" bIns="0" rtlCol="0" anchor="ctr"/>
          <a:lstStyle/>
          <a:p>
            <a:pPr marL="0" indent="0" algn="l">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DETECTION ML PIPELINE</a:t>
            </a:r>
            <a:endParaRPr lang="en-US" sz="900" dirty="0"/>
          </a:p>
        </p:txBody>
      </p:sp>
      <p:sp>
        <p:nvSpPr>
          <p:cNvPr id="55" name="Text 53"/>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
        <p:nvSpPr>
          <p:cNvPr id="56" name="Text Box 55"/>
          <p:cNvSpPr txBox="1"/>
          <p:nvPr/>
        </p:nvSpPr>
        <p:spPr>
          <a:xfrm>
            <a:off x="7395845" y="1913890"/>
            <a:ext cx="3942715" cy="3998595"/>
          </a:xfrm>
          <a:prstGeom prst="rect">
            <a:avLst/>
          </a:prstGeom>
          <a:noFill/>
        </p:spPr>
        <p:txBody>
          <a:bodyPr wrap="square" rtlCol="0">
            <a:noAutofit/>
          </a:bodyPr>
          <a:p>
            <a:pPr marL="285750" indent="-285750">
              <a:buFont typeface="Wingdings" panose="05000000000000000000" charset="0"/>
              <a:buChar char="Ø"/>
            </a:pPr>
            <a:r>
              <a:rPr lang="en-US" altLang="en-US" sz="2000" b="1">
                <a:solidFill>
                  <a:schemeClr val="bg1"/>
                </a:solidFill>
                <a:cs typeface="+mn-lt"/>
              </a:rPr>
              <a:t>Train accuracy 0.989 vs. test 0.986, a gap of only ~0.3%.</a:t>
            </a:r>
            <a:endParaRPr lang="en-US" altLang="en-US" sz="2000" b="1">
              <a:solidFill>
                <a:schemeClr val="bg1"/>
              </a:solidFill>
              <a:cs typeface="+mn-lt"/>
            </a:endParaRPr>
          </a:p>
          <a:p>
            <a:pPr marL="285750" indent="-285750">
              <a:buFont typeface="Wingdings" panose="05000000000000000000" charset="0"/>
              <a:buChar char="Ø"/>
            </a:pPr>
            <a:r>
              <a:rPr lang="en-US" altLang="en-US" sz="2000" b="1">
                <a:solidFill>
                  <a:schemeClr val="bg1"/>
                </a:solidFill>
                <a:cs typeface="+mn-lt"/>
              </a:rPr>
              <a:t>Leakage found and removed.</a:t>
            </a:r>
            <a:endParaRPr lang="en-US" altLang="en-US" sz="2000" b="1">
              <a:solidFill>
                <a:schemeClr val="bg1"/>
              </a:solidFill>
              <a:cs typeface="+mn-lt"/>
            </a:endParaRPr>
          </a:p>
          <a:p>
            <a:pPr marL="285750" indent="-285750">
              <a:buFont typeface="Wingdings" panose="05000000000000000000" charset="0"/>
              <a:buChar char="Ø"/>
            </a:pPr>
            <a:r>
              <a:rPr lang="en-US" altLang="en-US" sz="2000" b="1">
                <a:solidFill>
                  <a:schemeClr val="bg1"/>
                </a:solidFill>
                <a:cs typeface="+mn-lt"/>
              </a:rPr>
              <a:t>Post-transaction balances and step removed; only pre-transaction features used.</a:t>
            </a:r>
            <a:endParaRPr lang="en-US" altLang="en-US" sz="2000" b="1">
              <a:solidFill>
                <a:schemeClr val="bg1"/>
              </a:solidFill>
              <a:cs typeface="+mn-lt"/>
            </a:endParaRPr>
          </a:p>
          <a:p>
            <a:pPr marL="285750" indent="-285750">
              <a:buFont typeface="Wingdings" panose="05000000000000000000" charset="0"/>
              <a:buChar char="Ø"/>
            </a:pPr>
            <a:r>
              <a:rPr lang="en-US" altLang="en-US" sz="2000" b="1">
                <a:solidFill>
                  <a:schemeClr val="bg1"/>
                </a:solidFill>
                <a:cs typeface="+mn-lt"/>
              </a:rPr>
              <a:t>Imbalance handled.</a:t>
            </a:r>
            <a:endParaRPr lang="en-US" altLang="en-US" sz="2000" b="1">
              <a:solidFill>
                <a:schemeClr val="bg1"/>
              </a:solidFill>
              <a:cs typeface="+mn-lt"/>
            </a:endParaRPr>
          </a:p>
          <a:p>
            <a:pPr marL="285750" indent="-285750">
              <a:buFont typeface="Wingdings" panose="05000000000000000000" charset="0"/>
              <a:buChar char="Ø"/>
            </a:pPr>
            <a:r>
              <a:rPr lang="en-US" altLang="en-US" sz="2000" b="1">
                <a:solidFill>
                  <a:schemeClr val="bg1"/>
                </a:solidFill>
                <a:cs typeface="+mn-lt"/>
              </a:rPr>
              <a:t>class_weight='balanced' used; judged on precision, recall, F1 and PR-AUC</a:t>
            </a:r>
            <a:r>
              <a:rPr lang="en-US" altLang="en-US" sz="2000" b="1">
                <a:cs typeface="+mn-lt"/>
              </a:rPr>
              <a:t>.</a:t>
            </a:r>
            <a:endParaRPr lang="en-US" altLang="en-US" sz="2000" b="1">
              <a:cs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Confusion Matrix</a:t>
            </a:r>
            <a:endParaRPr lang="en-US" sz="3200" dirty="0"/>
          </a:p>
        </p:txBody>
      </p:sp>
      <p:sp>
        <p:nvSpPr>
          <p:cNvPr id="3" name="Text 1"/>
          <p:cNvSpPr/>
          <p:nvPr/>
        </p:nvSpPr>
        <p:spPr>
          <a:xfrm>
            <a:off x="548640" y="1005840"/>
            <a:ext cx="91440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Random Forest — final model, test set (2,229 transactions)</a:t>
            </a:r>
            <a:endParaRPr lang="en-US" sz="1300" dirty="0"/>
          </a:p>
        </p:txBody>
      </p:sp>
      <p:sp>
        <p:nvSpPr>
          <p:cNvPr id="4" name="Text 2"/>
          <p:cNvSpPr/>
          <p:nvPr/>
        </p:nvSpPr>
        <p:spPr>
          <a:xfrm>
            <a:off x="1737360" y="1371600"/>
            <a:ext cx="3108960" cy="274320"/>
          </a:xfrm>
          <a:prstGeom prst="rect">
            <a:avLst/>
          </a:prstGeom>
          <a:noFill/>
        </p:spPr>
        <p:txBody>
          <a:bodyPr wrap="square" lIns="0" tIns="0" rIns="0" bIns="0" rtlCol="0" anchor="ctr"/>
          <a:lstStyle/>
          <a:p>
            <a:pPr marL="0" indent="0" algn="ctr">
              <a:buNone/>
            </a:pPr>
            <a:r>
              <a:rPr lang="en-US" sz="1100" b="1" kern="0" spc="100" dirty="0">
                <a:solidFill>
                  <a:srgbClr val="5A6285"/>
                </a:solidFill>
                <a:latin typeface="Calibri" panose="020F0502020204030204" pitchFamily="34" charset="0"/>
                <a:ea typeface="Calibri" panose="020F0502020204030204" pitchFamily="34" charset="-122"/>
                <a:cs typeface="Calibri" panose="020F0502020204030204" pitchFamily="34" charset="-120"/>
              </a:rPr>
              <a:t>PREDICTED</a:t>
            </a:r>
            <a:endParaRPr lang="en-US" sz="1100" dirty="0"/>
          </a:p>
        </p:txBody>
      </p:sp>
      <p:sp>
        <p:nvSpPr>
          <p:cNvPr id="5" name="Text 3"/>
          <p:cNvSpPr/>
          <p:nvPr/>
        </p:nvSpPr>
        <p:spPr>
          <a:xfrm>
            <a:off x="1737360" y="1691640"/>
            <a:ext cx="1554480" cy="365760"/>
          </a:xfrm>
          <a:prstGeom prst="rect">
            <a:avLst/>
          </a:prstGeom>
          <a:noFill/>
        </p:spPr>
        <p:txBody>
          <a:bodyPr wrap="square" lIns="0" tIns="0" rIns="0" bIns="0" rtlCol="0" anchor="ctr"/>
          <a:lstStyle/>
          <a:p>
            <a:pPr marL="0" indent="0" algn="ctr">
              <a:buNone/>
            </a:pPr>
            <a:r>
              <a:rPr lang="en-US" sz="1250" b="1" dirty="0">
                <a:solidFill>
                  <a:srgbClr val="1B1F3B"/>
                </a:solidFill>
                <a:latin typeface="Calibri" panose="020F0502020204030204" pitchFamily="34" charset="0"/>
                <a:ea typeface="Calibri" panose="020F0502020204030204" pitchFamily="34" charset="-122"/>
                <a:cs typeface="Calibri" panose="020F0502020204030204" pitchFamily="34" charset="-120"/>
              </a:rPr>
              <a:t>Not Fraud</a:t>
            </a:r>
            <a:endParaRPr lang="en-US" sz="1250" dirty="0"/>
          </a:p>
        </p:txBody>
      </p:sp>
      <p:sp>
        <p:nvSpPr>
          <p:cNvPr id="6" name="Text 4"/>
          <p:cNvSpPr/>
          <p:nvPr/>
        </p:nvSpPr>
        <p:spPr>
          <a:xfrm>
            <a:off x="3291840" y="1691640"/>
            <a:ext cx="1554480" cy="365760"/>
          </a:xfrm>
          <a:prstGeom prst="rect">
            <a:avLst/>
          </a:prstGeom>
          <a:noFill/>
        </p:spPr>
        <p:txBody>
          <a:bodyPr wrap="square" lIns="0" tIns="0" rIns="0" bIns="0" rtlCol="0" anchor="ctr"/>
          <a:lstStyle/>
          <a:p>
            <a:pPr marL="0" indent="0" algn="ctr">
              <a:buNone/>
            </a:pPr>
            <a:r>
              <a:rPr lang="en-US" sz="1250" b="1" dirty="0">
                <a:solidFill>
                  <a:srgbClr val="1B1F3B"/>
                </a:solidFill>
                <a:latin typeface="Calibri" panose="020F0502020204030204" pitchFamily="34" charset="0"/>
                <a:ea typeface="Calibri" panose="020F0502020204030204" pitchFamily="34" charset="-122"/>
                <a:cs typeface="Calibri" panose="020F0502020204030204" pitchFamily="34" charset="-120"/>
              </a:rPr>
              <a:t>Fraud</a:t>
            </a:r>
            <a:endParaRPr lang="en-US" sz="1250" dirty="0"/>
          </a:p>
        </p:txBody>
      </p:sp>
      <p:sp>
        <p:nvSpPr>
          <p:cNvPr id="7" name="Text 5"/>
          <p:cNvSpPr/>
          <p:nvPr/>
        </p:nvSpPr>
        <p:spPr>
          <a:xfrm>
            <a:off x="777240" y="1371600"/>
            <a:ext cx="914400" cy="274320"/>
          </a:xfrm>
          <a:prstGeom prst="rect">
            <a:avLst/>
          </a:prstGeom>
          <a:noFill/>
        </p:spPr>
        <p:txBody>
          <a:bodyPr wrap="square" lIns="0" tIns="0" rIns="0" bIns="0" rtlCol="0" anchor="ctr"/>
          <a:lstStyle/>
          <a:p>
            <a:pPr marL="0" indent="0" algn="ctr">
              <a:buNone/>
            </a:pPr>
            <a:r>
              <a:rPr lang="en-US" sz="1100" b="1" kern="0" spc="100" dirty="0">
                <a:solidFill>
                  <a:srgbClr val="5A6285"/>
                </a:solidFill>
                <a:latin typeface="Calibri" panose="020F0502020204030204" pitchFamily="34" charset="0"/>
                <a:ea typeface="Calibri" panose="020F0502020204030204" pitchFamily="34" charset="-122"/>
                <a:cs typeface="Calibri" panose="020F0502020204030204" pitchFamily="34" charset="-120"/>
              </a:rPr>
              <a:t>ACTUAL</a:t>
            </a:r>
            <a:endParaRPr lang="en-US" sz="1100" dirty="0"/>
          </a:p>
        </p:txBody>
      </p:sp>
      <p:sp>
        <p:nvSpPr>
          <p:cNvPr id="8" name="Text 6"/>
          <p:cNvSpPr/>
          <p:nvPr/>
        </p:nvSpPr>
        <p:spPr>
          <a:xfrm>
            <a:off x="777240" y="2148840"/>
            <a:ext cx="914400" cy="1554480"/>
          </a:xfrm>
          <a:prstGeom prst="rect">
            <a:avLst/>
          </a:prstGeom>
          <a:noFill/>
        </p:spPr>
        <p:txBody>
          <a:bodyPr wrap="square" lIns="0" tIns="0" rIns="0" bIns="0" rtlCol="0" anchor="ctr"/>
          <a:lstStyle/>
          <a:p>
            <a:pPr marL="0" indent="0" algn="ctr">
              <a:buNone/>
            </a:pPr>
            <a:r>
              <a:rPr lang="en-US" sz="1250" b="1" dirty="0">
                <a:solidFill>
                  <a:srgbClr val="1B1F3B"/>
                </a:solidFill>
                <a:latin typeface="Calibri" panose="020F0502020204030204" pitchFamily="34" charset="0"/>
                <a:ea typeface="Calibri" panose="020F0502020204030204" pitchFamily="34" charset="-122"/>
                <a:cs typeface="Calibri" panose="020F0502020204030204" pitchFamily="34" charset="-120"/>
              </a:rPr>
              <a:t>Not Fraud</a:t>
            </a:r>
            <a:endParaRPr lang="en-US" sz="1250" dirty="0"/>
          </a:p>
        </p:txBody>
      </p:sp>
      <p:sp>
        <p:nvSpPr>
          <p:cNvPr id="9" name="Text 7"/>
          <p:cNvSpPr/>
          <p:nvPr/>
        </p:nvSpPr>
        <p:spPr>
          <a:xfrm>
            <a:off x="777240" y="3703320"/>
            <a:ext cx="914400" cy="1554480"/>
          </a:xfrm>
          <a:prstGeom prst="rect">
            <a:avLst/>
          </a:prstGeom>
          <a:noFill/>
        </p:spPr>
        <p:txBody>
          <a:bodyPr wrap="square" lIns="0" tIns="0" rIns="0" bIns="0" rtlCol="0" anchor="ctr"/>
          <a:lstStyle/>
          <a:p>
            <a:pPr marL="0" indent="0" algn="ctr">
              <a:buNone/>
            </a:pPr>
            <a:r>
              <a:rPr lang="en-US" sz="1250" b="1" dirty="0">
                <a:solidFill>
                  <a:srgbClr val="1B1F3B"/>
                </a:solidFill>
                <a:latin typeface="Calibri" panose="020F0502020204030204" pitchFamily="34" charset="0"/>
                <a:ea typeface="Calibri" panose="020F0502020204030204" pitchFamily="34" charset="-122"/>
                <a:cs typeface="Calibri" panose="020F0502020204030204" pitchFamily="34" charset="-120"/>
              </a:rPr>
              <a:t>Fraud</a:t>
            </a:r>
            <a:endParaRPr lang="en-US" sz="1250" dirty="0"/>
          </a:p>
        </p:txBody>
      </p:sp>
      <p:sp>
        <p:nvSpPr>
          <p:cNvPr id="10" name="Shape 8"/>
          <p:cNvSpPr/>
          <p:nvPr/>
        </p:nvSpPr>
        <p:spPr>
          <a:xfrm>
            <a:off x="1737360" y="2194560"/>
            <a:ext cx="1554480" cy="1554480"/>
          </a:xfrm>
          <a:prstGeom prst="rect">
            <a:avLst/>
          </a:prstGeom>
          <a:solidFill>
            <a:srgbClr val="1E2761"/>
          </a:solidFill>
          <a:ln w="25400">
            <a:solidFill>
              <a:srgbClr val="FFFFFF"/>
            </a:solidFill>
            <a:prstDash val="solid"/>
          </a:ln>
        </p:spPr>
      </p:sp>
      <p:sp>
        <p:nvSpPr>
          <p:cNvPr id="11" name="Text 9"/>
          <p:cNvSpPr/>
          <p:nvPr/>
        </p:nvSpPr>
        <p:spPr>
          <a:xfrm>
            <a:off x="1737360" y="2468880"/>
            <a:ext cx="1554480" cy="640080"/>
          </a:xfrm>
          <a:prstGeom prst="rect">
            <a:avLst/>
          </a:prstGeom>
          <a:noFill/>
        </p:spPr>
        <p:txBody>
          <a:bodyPr wrap="square" lIns="0" tIns="0" rIns="0" bIns="0" rtlCol="0" anchor="ctr"/>
          <a:lstStyle/>
          <a:p>
            <a:pPr marL="0" indent="0" algn="ctr">
              <a:buNone/>
            </a:pPr>
            <a:r>
              <a:rPr lang="en-US" sz="3000" dirty="0">
                <a:solidFill>
                  <a:schemeClr val="bg1"/>
                </a:solidFill>
              </a:rPr>
              <a:t>1973</a:t>
            </a:r>
            <a:endParaRPr lang="en-US" sz="3000" dirty="0">
              <a:solidFill>
                <a:schemeClr val="bg1"/>
              </a:solidFill>
            </a:endParaRPr>
          </a:p>
        </p:txBody>
      </p:sp>
      <p:sp>
        <p:nvSpPr>
          <p:cNvPr id="12" name="Text 10"/>
          <p:cNvSpPr/>
          <p:nvPr/>
        </p:nvSpPr>
        <p:spPr>
          <a:xfrm>
            <a:off x="1737360" y="3154680"/>
            <a:ext cx="1554480" cy="365760"/>
          </a:xfrm>
          <a:prstGeom prst="rect">
            <a:avLst/>
          </a:prstGeom>
          <a:noFill/>
        </p:spPr>
        <p:txBody>
          <a:bodyPr wrap="square" lIns="0" tIns="0" rIns="0" bIns="0" rtlCol="0" anchor="ctr"/>
          <a:lstStyle/>
          <a:p>
            <a:pPr marL="0" indent="0" algn="ctr">
              <a:buNone/>
            </a:pP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True Negative</a:t>
            </a:r>
            <a:endParaRPr lang="en-US" sz="1100" dirty="0"/>
          </a:p>
        </p:txBody>
      </p:sp>
      <p:sp>
        <p:nvSpPr>
          <p:cNvPr id="13" name="Shape 11"/>
          <p:cNvSpPr/>
          <p:nvPr/>
        </p:nvSpPr>
        <p:spPr>
          <a:xfrm>
            <a:off x="3291840" y="2148840"/>
            <a:ext cx="1554480" cy="1554480"/>
          </a:xfrm>
          <a:prstGeom prst="rect">
            <a:avLst/>
          </a:prstGeom>
          <a:solidFill>
            <a:srgbClr val="FCEEEC"/>
          </a:solidFill>
          <a:ln w="25400">
            <a:solidFill>
              <a:srgbClr val="FFFFFF"/>
            </a:solidFill>
            <a:prstDash val="solid"/>
          </a:ln>
        </p:spPr>
      </p:sp>
      <p:sp>
        <p:nvSpPr>
          <p:cNvPr id="14" name="Text 12"/>
          <p:cNvSpPr/>
          <p:nvPr/>
        </p:nvSpPr>
        <p:spPr>
          <a:xfrm>
            <a:off x="3291840" y="2468880"/>
            <a:ext cx="1554480" cy="640080"/>
          </a:xfrm>
          <a:prstGeom prst="rect">
            <a:avLst/>
          </a:prstGeom>
          <a:noFill/>
        </p:spPr>
        <p:txBody>
          <a:bodyPr wrap="square" lIns="0" tIns="0" rIns="0" bIns="0" rtlCol="0" anchor="ctr"/>
          <a:lstStyle/>
          <a:p>
            <a:pPr marL="0" indent="0" algn="ctr">
              <a:buNone/>
            </a:pPr>
            <a:r>
              <a:rPr lang="en-US" sz="3000" dirty="0">
                <a:gradFill>
                  <a:gsLst>
                    <a:gs pos="50000">
                      <a:schemeClr val="tx1"/>
                    </a:gs>
                    <a:gs pos="0">
                      <a:schemeClr val="tx1">
                        <a:lumMod val="25000"/>
                        <a:lumOff val="75000"/>
                      </a:schemeClr>
                    </a:gs>
                    <a:gs pos="100000">
                      <a:schemeClr val="tx1">
                        <a:lumMod val="85000"/>
                      </a:schemeClr>
                    </a:gs>
                  </a:gsLst>
                  <a:lin ang="5400000" scaled="1"/>
                </a:gradFill>
              </a:rPr>
              <a:t>28</a:t>
            </a:r>
            <a:endParaRPr lang="en-US" sz="3000" dirty="0">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15" name="Text 13"/>
          <p:cNvSpPr/>
          <p:nvPr/>
        </p:nvSpPr>
        <p:spPr>
          <a:xfrm>
            <a:off x="3291840" y="3154680"/>
            <a:ext cx="1554480" cy="365760"/>
          </a:xfrm>
          <a:prstGeom prst="rect">
            <a:avLst/>
          </a:prstGeom>
          <a:noFill/>
        </p:spPr>
        <p:txBody>
          <a:bodyPr wrap="square" lIns="0" tIns="0" rIns="0" bIns="0" rtlCol="0" anchor="ctr"/>
          <a:lstStyle/>
          <a:p>
            <a:pPr marL="0" indent="0" algn="ctr">
              <a:buNone/>
            </a:pPr>
            <a:r>
              <a:rPr lang="en-US" sz="1100" dirty="0">
                <a:solidFill>
                  <a:srgbClr val="C0392B"/>
                </a:solidFill>
                <a:latin typeface="Calibri" panose="020F0502020204030204" pitchFamily="34" charset="0"/>
                <a:ea typeface="Calibri" panose="020F0502020204030204" pitchFamily="34" charset="-122"/>
                <a:cs typeface="Calibri" panose="020F0502020204030204" pitchFamily="34" charset="-120"/>
              </a:rPr>
              <a:t>False Positive</a:t>
            </a:r>
            <a:endParaRPr lang="en-US" sz="1100" dirty="0"/>
          </a:p>
        </p:txBody>
      </p:sp>
      <p:sp>
        <p:nvSpPr>
          <p:cNvPr id="16" name="Shape 14"/>
          <p:cNvSpPr/>
          <p:nvPr/>
        </p:nvSpPr>
        <p:spPr>
          <a:xfrm>
            <a:off x="1737360" y="3703320"/>
            <a:ext cx="1554480" cy="1554480"/>
          </a:xfrm>
          <a:prstGeom prst="rect">
            <a:avLst/>
          </a:prstGeom>
          <a:solidFill>
            <a:srgbClr val="FCEEEC"/>
          </a:solidFill>
          <a:ln w="25400">
            <a:solidFill>
              <a:srgbClr val="FFFFFF"/>
            </a:solidFill>
            <a:prstDash val="solid"/>
          </a:ln>
        </p:spPr>
      </p:sp>
      <p:sp>
        <p:nvSpPr>
          <p:cNvPr id="17" name="Text 15"/>
          <p:cNvSpPr/>
          <p:nvPr/>
        </p:nvSpPr>
        <p:spPr>
          <a:xfrm>
            <a:off x="1737360" y="4023360"/>
            <a:ext cx="1554480" cy="640080"/>
          </a:xfrm>
          <a:prstGeom prst="rect">
            <a:avLst/>
          </a:prstGeom>
          <a:noFill/>
        </p:spPr>
        <p:txBody>
          <a:bodyPr wrap="square" lIns="0" tIns="0" rIns="0" bIns="0" rtlCol="0" anchor="ctr"/>
          <a:lstStyle/>
          <a:p>
            <a:pPr marL="0" indent="0" algn="ctr">
              <a:buNone/>
            </a:pPr>
            <a:r>
              <a:rPr lang="en-US" sz="3000" dirty="0"/>
              <a:t>4</a:t>
            </a:r>
            <a:endParaRPr lang="en-US" sz="3000" dirty="0"/>
          </a:p>
        </p:txBody>
      </p:sp>
      <p:sp>
        <p:nvSpPr>
          <p:cNvPr id="18" name="Text 16"/>
          <p:cNvSpPr/>
          <p:nvPr/>
        </p:nvSpPr>
        <p:spPr>
          <a:xfrm>
            <a:off x="1737360" y="4709160"/>
            <a:ext cx="1554480" cy="365760"/>
          </a:xfrm>
          <a:prstGeom prst="rect">
            <a:avLst/>
          </a:prstGeom>
          <a:noFill/>
        </p:spPr>
        <p:txBody>
          <a:bodyPr wrap="square" lIns="0" tIns="0" rIns="0" bIns="0" rtlCol="0" anchor="ctr"/>
          <a:lstStyle/>
          <a:p>
            <a:pPr marL="0" indent="0" algn="ctr">
              <a:buNone/>
            </a:pPr>
            <a:r>
              <a:rPr lang="en-US" sz="1100" dirty="0">
                <a:solidFill>
                  <a:srgbClr val="C0392B"/>
                </a:solidFill>
                <a:latin typeface="Calibri" panose="020F0502020204030204" pitchFamily="34" charset="0"/>
                <a:ea typeface="Calibri" panose="020F0502020204030204" pitchFamily="34" charset="-122"/>
                <a:cs typeface="Calibri" panose="020F0502020204030204" pitchFamily="34" charset="-120"/>
              </a:rPr>
              <a:t>False Negative</a:t>
            </a:r>
            <a:endParaRPr lang="en-US" sz="1100" dirty="0"/>
          </a:p>
        </p:txBody>
      </p:sp>
      <p:sp>
        <p:nvSpPr>
          <p:cNvPr id="19" name="Shape 17"/>
          <p:cNvSpPr/>
          <p:nvPr/>
        </p:nvSpPr>
        <p:spPr>
          <a:xfrm>
            <a:off x="3291840" y="3703320"/>
            <a:ext cx="1554480" cy="1554480"/>
          </a:xfrm>
          <a:prstGeom prst="rect">
            <a:avLst/>
          </a:prstGeom>
          <a:solidFill>
            <a:srgbClr val="1E8E5A"/>
          </a:solidFill>
          <a:ln w="25400">
            <a:solidFill>
              <a:srgbClr val="FFFFFF"/>
            </a:solidFill>
            <a:prstDash val="solid"/>
          </a:ln>
        </p:spPr>
      </p:sp>
      <p:sp>
        <p:nvSpPr>
          <p:cNvPr id="20" name="Text 18"/>
          <p:cNvSpPr/>
          <p:nvPr/>
        </p:nvSpPr>
        <p:spPr>
          <a:xfrm>
            <a:off x="3291840" y="4023360"/>
            <a:ext cx="1554480" cy="640080"/>
          </a:xfrm>
          <a:prstGeom prst="rect">
            <a:avLst/>
          </a:prstGeom>
          <a:noFill/>
        </p:spPr>
        <p:txBody>
          <a:bodyPr wrap="square" lIns="0" tIns="0" rIns="0" bIns="0" rtlCol="0" anchor="ctr"/>
          <a:lstStyle/>
          <a:p>
            <a:pPr marL="0" indent="0" algn="ctr">
              <a:buNone/>
            </a:pPr>
            <a:r>
              <a:rPr lang="en-US" sz="3000" dirty="0">
                <a:solidFill>
                  <a:schemeClr val="bg1"/>
                </a:solidFill>
              </a:rPr>
              <a:t>224</a:t>
            </a:r>
            <a:endParaRPr lang="en-US" sz="3000" dirty="0">
              <a:solidFill>
                <a:schemeClr val="bg1"/>
              </a:solidFill>
            </a:endParaRPr>
          </a:p>
        </p:txBody>
      </p:sp>
      <p:sp>
        <p:nvSpPr>
          <p:cNvPr id="21" name="Text 19"/>
          <p:cNvSpPr/>
          <p:nvPr/>
        </p:nvSpPr>
        <p:spPr>
          <a:xfrm>
            <a:off x="3291840" y="4709160"/>
            <a:ext cx="1554480" cy="365760"/>
          </a:xfrm>
          <a:prstGeom prst="rect">
            <a:avLst/>
          </a:prstGeom>
          <a:noFill/>
        </p:spPr>
        <p:txBody>
          <a:bodyPr wrap="square" lIns="0" tIns="0" rIns="0" bIns="0" rtlCol="0" anchor="ctr"/>
          <a:lstStyle/>
          <a:p>
            <a:pPr marL="0" indent="0" algn="ctr">
              <a:buNone/>
            </a:pPr>
            <a:r>
              <a:rPr lang="en-US" sz="1100" dirty="0">
                <a:solidFill>
                  <a:srgbClr val="D6F0E3"/>
                </a:solidFill>
                <a:latin typeface="Calibri" panose="020F0502020204030204" pitchFamily="34" charset="0"/>
                <a:ea typeface="Calibri" panose="020F0502020204030204" pitchFamily="34" charset="-122"/>
                <a:cs typeface="Calibri" panose="020F0502020204030204" pitchFamily="34" charset="-120"/>
              </a:rPr>
              <a:t>True Positive</a:t>
            </a:r>
            <a:endParaRPr lang="en-US" sz="1100" dirty="0"/>
          </a:p>
        </p:txBody>
      </p:sp>
      <p:sp>
        <p:nvSpPr>
          <p:cNvPr id="22" name="Text 20"/>
          <p:cNvSpPr/>
          <p:nvPr/>
        </p:nvSpPr>
        <p:spPr>
          <a:xfrm>
            <a:off x="7772400" y="1828800"/>
            <a:ext cx="3840480" cy="365760"/>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What It Means</a:t>
            </a:r>
            <a:endParaRPr lang="en-US" sz="1500" dirty="0"/>
          </a:p>
        </p:txBody>
      </p:sp>
      <p:sp>
        <p:nvSpPr>
          <p:cNvPr id="23" name="Shape 21"/>
          <p:cNvSpPr/>
          <p:nvPr/>
        </p:nvSpPr>
        <p:spPr>
          <a:xfrm>
            <a:off x="7772400" y="2331720"/>
            <a:ext cx="3840480" cy="960120"/>
          </a:xfrm>
          <a:prstGeom prst="roundRect">
            <a:avLst>
              <a:gd name="adj" fmla="val 9524"/>
            </a:avLst>
          </a:prstGeom>
          <a:solidFill>
            <a:srgbClr val="F4F6FC"/>
          </a:solidFill>
        </p:spPr>
      </p:sp>
      <p:sp>
        <p:nvSpPr>
          <p:cNvPr id="24" name="Shape 22"/>
          <p:cNvSpPr/>
          <p:nvPr/>
        </p:nvSpPr>
        <p:spPr>
          <a:xfrm>
            <a:off x="7772400" y="2331720"/>
            <a:ext cx="73152" cy="960120"/>
          </a:xfrm>
          <a:prstGeom prst="rect">
            <a:avLst/>
          </a:prstGeom>
          <a:solidFill>
            <a:srgbClr val="1E8E5A"/>
          </a:solidFill>
        </p:spPr>
      </p:sp>
      <p:sp>
        <p:nvSpPr>
          <p:cNvPr id="25" name="Text 23"/>
          <p:cNvSpPr/>
          <p:nvPr/>
        </p:nvSpPr>
        <p:spPr>
          <a:xfrm>
            <a:off x="8046720" y="2450592"/>
            <a:ext cx="3383280" cy="365760"/>
          </a:xfrm>
          <a:prstGeom prst="rect">
            <a:avLst/>
          </a:prstGeom>
          <a:noFill/>
        </p:spPr>
        <p:txBody>
          <a:bodyPr wrap="square" lIns="0" tIns="0" rIns="0" bIns="0" rtlCol="0" anchor="ctr"/>
          <a:lstStyle/>
          <a:p>
            <a:pPr marL="0" indent="0">
              <a:buNone/>
            </a:pPr>
            <a:r>
              <a:rPr lang="en-US" sz="1300" b="1" dirty="0">
                <a:solidFill>
                  <a:srgbClr val="1B1F3B"/>
                </a:solidFill>
                <a:latin typeface="Calibri" panose="020F0502020204030204" pitchFamily="34" charset="0"/>
                <a:ea typeface="Calibri" panose="020F0502020204030204" pitchFamily="34" charset="-122"/>
                <a:cs typeface="Calibri" panose="020F0502020204030204" pitchFamily="34" charset="-120"/>
              </a:rPr>
              <a:t>224 fraud cases caught</a:t>
            </a:r>
            <a:endParaRPr lang="en-US" sz="1300" dirty="0"/>
          </a:p>
        </p:txBody>
      </p:sp>
      <p:sp>
        <p:nvSpPr>
          <p:cNvPr id="26" name="Text 24"/>
          <p:cNvSpPr/>
          <p:nvPr/>
        </p:nvSpPr>
        <p:spPr>
          <a:xfrm>
            <a:off x="8046720" y="2816352"/>
            <a:ext cx="3383280" cy="457200"/>
          </a:xfrm>
          <a:prstGeom prst="rect">
            <a:avLst/>
          </a:prstGeom>
          <a:noFill/>
        </p:spPr>
        <p:txBody>
          <a:bodyPr wrap="square" lIns="0" tIns="0" rIns="0" bIns="0" rtlCol="0" anchor="ctr"/>
          <a:lstStyle/>
          <a:p>
            <a:pPr marL="0" indent="0">
              <a:lnSpc>
                <a:spcPct val="125000"/>
              </a:lnSpc>
              <a:buNone/>
            </a:pPr>
            <a:r>
              <a:rPr lang="en-US" sz="1100" dirty="0">
                <a:solidFill>
                  <a:srgbClr val="5A6285"/>
                </a:solidFill>
                <a:latin typeface="Calibri" panose="020F0502020204030204" pitchFamily="34" charset="0"/>
                <a:ea typeface="Calibri" panose="020F0502020204030204" pitchFamily="34" charset="-122"/>
                <a:cs typeface="Calibri" panose="020F0502020204030204" pitchFamily="34" charset="-120"/>
              </a:rPr>
              <a:t>Correctly identified out of 228 actual fraud cases in the test set</a:t>
            </a:r>
            <a:endParaRPr lang="en-US" sz="1100" dirty="0"/>
          </a:p>
        </p:txBody>
      </p:sp>
      <p:sp>
        <p:nvSpPr>
          <p:cNvPr id="27" name="Shape 25"/>
          <p:cNvSpPr/>
          <p:nvPr/>
        </p:nvSpPr>
        <p:spPr>
          <a:xfrm>
            <a:off x="7772400" y="3474720"/>
            <a:ext cx="3840480" cy="960120"/>
          </a:xfrm>
          <a:prstGeom prst="roundRect">
            <a:avLst>
              <a:gd name="adj" fmla="val 9524"/>
            </a:avLst>
          </a:prstGeom>
          <a:solidFill>
            <a:srgbClr val="F4F6FC"/>
          </a:solidFill>
        </p:spPr>
      </p:sp>
      <p:sp>
        <p:nvSpPr>
          <p:cNvPr id="28" name="Shape 26"/>
          <p:cNvSpPr/>
          <p:nvPr/>
        </p:nvSpPr>
        <p:spPr>
          <a:xfrm>
            <a:off x="7772400" y="3474720"/>
            <a:ext cx="73152" cy="960120"/>
          </a:xfrm>
          <a:prstGeom prst="rect">
            <a:avLst/>
          </a:prstGeom>
          <a:solidFill>
            <a:srgbClr val="C0392B"/>
          </a:solidFill>
        </p:spPr>
      </p:sp>
      <p:sp>
        <p:nvSpPr>
          <p:cNvPr id="29" name="Text 27"/>
          <p:cNvSpPr/>
          <p:nvPr/>
        </p:nvSpPr>
        <p:spPr>
          <a:xfrm>
            <a:off x="8046720" y="3593592"/>
            <a:ext cx="3383280" cy="365760"/>
          </a:xfrm>
          <a:prstGeom prst="rect">
            <a:avLst/>
          </a:prstGeom>
          <a:noFill/>
        </p:spPr>
        <p:txBody>
          <a:bodyPr wrap="square" lIns="0" tIns="0" rIns="0" bIns="0" rtlCol="0" anchor="ctr"/>
          <a:lstStyle/>
          <a:p>
            <a:pPr marL="0" indent="0">
              <a:buNone/>
            </a:pPr>
            <a:r>
              <a:rPr lang="en-US" sz="1300" b="1" dirty="0">
                <a:solidFill>
                  <a:srgbClr val="1B1F3B"/>
                </a:solidFill>
                <a:latin typeface="Calibri" panose="020F0502020204030204" pitchFamily="34" charset="0"/>
                <a:ea typeface="Calibri" panose="020F0502020204030204" pitchFamily="34" charset="-122"/>
                <a:cs typeface="Calibri" panose="020F0502020204030204" pitchFamily="34" charset="-120"/>
              </a:rPr>
              <a:t>4 fraud cases missed</a:t>
            </a:r>
            <a:endParaRPr lang="en-US" sz="1300" dirty="0"/>
          </a:p>
        </p:txBody>
      </p:sp>
      <p:sp>
        <p:nvSpPr>
          <p:cNvPr id="30" name="Text 28"/>
          <p:cNvSpPr/>
          <p:nvPr/>
        </p:nvSpPr>
        <p:spPr>
          <a:xfrm>
            <a:off x="8046720" y="3959352"/>
            <a:ext cx="3383280" cy="457200"/>
          </a:xfrm>
          <a:prstGeom prst="rect">
            <a:avLst/>
          </a:prstGeom>
          <a:noFill/>
        </p:spPr>
        <p:txBody>
          <a:bodyPr wrap="square" lIns="0" tIns="0" rIns="0" bIns="0" rtlCol="0" anchor="ctr"/>
          <a:lstStyle/>
          <a:p>
            <a:pPr marL="0" indent="0">
              <a:lnSpc>
                <a:spcPct val="125000"/>
              </a:lnSpc>
              <a:buNone/>
            </a:pPr>
            <a:r>
              <a:rPr lang="en-US" sz="1100" dirty="0">
                <a:solidFill>
                  <a:srgbClr val="5A6285"/>
                </a:solidFill>
                <a:latin typeface="Calibri" panose="020F0502020204030204" pitchFamily="34" charset="0"/>
                <a:ea typeface="Calibri" panose="020F0502020204030204" pitchFamily="34" charset="-122"/>
                <a:cs typeface="Calibri" panose="020F0502020204030204" pitchFamily="34" charset="-120"/>
              </a:rPr>
              <a:t>False negatives — fraud that slipped through undetected</a:t>
            </a:r>
            <a:endParaRPr lang="en-US" sz="1100" dirty="0"/>
          </a:p>
        </p:txBody>
      </p:sp>
      <p:sp>
        <p:nvSpPr>
          <p:cNvPr id="31" name="Shape 29"/>
          <p:cNvSpPr/>
          <p:nvPr/>
        </p:nvSpPr>
        <p:spPr>
          <a:xfrm>
            <a:off x="7772400" y="4617720"/>
            <a:ext cx="3840480" cy="960120"/>
          </a:xfrm>
          <a:prstGeom prst="roundRect">
            <a:avLst>
              <a:gd name="adj" fmla="val 9524"/>
            </a:avLst>
          </a:prstGeom>
          <a:solidFill>
            <a:srgbClr val="F4F6FC"/>
          </a:solidFill>
        </p:spPr>
      </p:sp>
      <p:sp>
        <p:nvSpPr>
          <p:cNvPr id="32" name="Shape 30"/>
          <p:cNvSpPr/>
          <p:nvPr/>
        </p:nvSpPr>
        <p:spPr>
          <a:xfrm>
            <a:off x="7772400" y="4617720"/>
            <a:ext cx="73152" cy="960120"/>
          </a:xfrm>
          <a:prstGeom prst="rect">
            <a:avLst/>
          </a:prstGeom>
          <a:solidFill>
            <a:srgbClr val="1E2761"/>
          </a:solidFill>
        </p:spPr>
      </p:sp>
      <p:sp>
        <p:nvSpPr>
          <p:cNvPr id="33" name="Text 31"/>
          <p:cNvSpPr/>
          <p:nvPr/>
        </p:nvSpPr>
        <p:spPr>
          <a:xfrm>
            <a:off x="8046720" y="4736592"/>
            <a:ext cx="3383280" cy="365760"/>
          </a:xfrm>
          <a:prstGeom prst="rect">
            <a:avLst/>
          </a:prstGeom>
          <a:noFill/>
        </p:spPr>
        <p:txBody>
          <a:bodyPr wrap="square" lIns="0" tIns="0" rIns="0" bIns="0" rtlCol="0" anchor="ctr"/>
          <a:lstStyle/>
          <a:p>
            <a:pPr marL="0" indent="0">
              <a:buNone/>
            </a:pPr>
            <a:r>
              <a:rPr lang="en-US" sz="1300" b="1" dirty="0">
                <a:solidFill>
                  <a:srgbClr val="1B1F3B"/>
                </a:solidFill>
                <a:latin typeface="Calibri" panose="020F0502020204030204" pitchFamily="34" charset="0"/>
                <a:ea typeface="Calibri" panose="020F0502020204030204" pitchFamily="34" charset="-122"/>
                <a:cs typeface="Calibri" panose="020F0502020204030204" pitchFamily="34" charset="-120"/>
              </a:rPr>
              <a:t>28 false alarms</a:t>
            </a:r>
            <a:endParaRPr lang="en-US" sz="1300" dirty="0"/>
          </a:p>
        </p:txBody>
      </p:sp>
      <p:sp>
        <p:nvSpPr>
          <p:cNvPr id="34" name="Text 32"/>
          <p:cNvSpPr/>
          <p:nvPr/>
        </p:nvSpPr>
        <p:spPr>
          <a:xfrm>
            <a:off x="8046720" y="5102352"/>
            <a:ext cx="3383280" cy="457200"/>
          </a:xfrm>
          <a:prstGeom prst="rect">
            <a:avLst/>
          </a:prstGeom>
          <a:noFill/>
        </p:spPr>
        <p:txBody>
          <a:bodyPr wrap="square" lIns="0" tIns="0" rIns="0" bIns="0" rtlCol="0" anchor="ctr"/>
          <a:lstStyle/>
          <a:p>
            <a:pPr marL="0" indent="0">
              <a:lnSpc>
                <a:spcPct val="125000"/>
              </a:lnSpc>
              <a:buNone/>
            </a:pPr>
            <a:endParaRPr lang="en-US" sz="1100" dirty="0"/>
          </a:p>
        </p:txBody>
      </p:sp>
      <p:sp>
        <p:nvSpPr>
          <p:cNvPr id="35" name="Text 33"/>
          <p:cNvSpPr/>
          <p:nvPr/>
        </p:nvSpPr>
        <p:spPr>
          <a:xfrm>
            <a:off x="457200" y="6537960"/>
            <a:ext cx="5486400" cy="274320"/>
          </a:xfrm>
          <a:prstGeom prst="rect">
            <a:avLst/>
          </a:prstGeom>
          <a:noFill/>
        </p:spPr>
        <p:txBody>
          <a:bodyPr wrap="square" lIns="0" tIns="0" rIns="0" bIns="0" rtlCol="0" anchor="ctr"/>
          <a:lstStyle/>
          <a:p>
            <a:pPr marL="0" indent="0" algn="l">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DETECTION ML PIPELINE</a:t>
            </a:r>
            <a:endParaRPr lang="en-US" sz="900" dirty="0"/>
          </a:p>
        </p:txBody>
      </p:sp>
      <p:sp>
        <p:nvSpPr>
          <p:cNvPr id="36" name="Text 34"/>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502920"/>
            <a:ext cx="9144000" cy="685800"/>
          </a:xfrm>
          <a:prstGeom prst="rect">
            <a:avLst/>
          </a:prstGeom>
          <a:noFill/>
        </p:spPr>
        <p:txBody>
          <a:bodyPr wrap="square" lIns="0" tIns="0" rIns="0" bIns="0"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Final Model: Random Forest</a:t>
            </a:r>
            <a:endParaRPr lang="en-US" sz="3200" dirty="0"/>
          </a:p>
        </p:txBody>
      </p:sp>
      <p:sp>
        <p:nvSpPr>
          <p:cNvPr id="3" name="Text 1"/>
          <p:cNvSpPr/>
          <p:nvPr/>
        </p:nvSpPr>
        <p:spPr>
          <a:xfrm>
            <a:off x="548640" y="1143000"/>
            <a:ext cx="9144000" cy="365760"/>
          </a:xfrm>
          <a:prstGeom prst="rect">
            <a:avLst/>
          </a:prstGeom>
          <a:noFill/>
        </p:spPr>
        <p:txBody>
          <a:bodyPr wrap="square" lIns="0" tIns="0" rIns="0" bIns="0" rtlCol="0" anchor="ctr"/>
          <a:lstStyle/>
          <a:p>
            <a:pPr marL="0" indent="0">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Trained only on realistic, pre-transaction features</a:t>
            </a:r>
            <a:endParaRPr lang="en-US" sz="1300" dirty="0"/>
          </a:p>
        </p:txBody>
      </p:sp>
      <p:sp>
        <p:nvSpPr>
          <p:cNvPr id="4" name="Shape 2"/>
          <p:cNvSpPr/>
          <p:nvPr/>
        </p:nvSpPr>
        <p:spPr>
          <a:xfrm>
            <a:off x="548640" y="1920240"/>
            <a:ext cx="2514600" cy="1737360"/>
          </a:xfrm>
          <a:prstGeom prst="roundRect">
            <a:avLst>
              <a:gd name="adj" fmla="val 6316"/>
            </a:avLst>
          </a:prstGeom>
          <a:solidFill>
            <a:srgbClr val="263080"/>
          </a:solidFill>
        </p:spPr>
        <p:txBody>
          <a:bodyPr/>
          <a:p>
            <a:endParaRPr lang="en-US"/>
          </a:p>
        </p:txBody>
      </p:sp>
      <p:sp>
        <p:nvSpPr>
          <p:cNvPr id="5" name="Text 3"/>
          <p:cNvSpPr/>
          <p:nvPr/>
        </p:nvSpPr>
        <p:spPr>
          <a:xfrm>
            <a:off x="548640" y="2148840"/>
            <a:ext cx="2514600" cy="777240"/>
          </a:xfrm>
          <a:prstGeom prst="rect">
            <a:avLst/>
          </a:prstGeom>
          <a:noFill/>
        </p:spPr>
        <p:txBody>
          <a:bodyPr wrap="square" lIns="0" tIns="0" rIns="0" bIns="0" rtlCol="0" anchor="ctr"/>
          <a:lstStyle/>
          <a:p>
            <a:pPr marL="0" indent="0" algn="ctr">
              <a:buNone/>
            </a:pPr>
            <a:r>
              <a:rPr lang="en-US" sz="3200" dirty="0">
                <a:solidFill>
                  <a:schemeClr val="bg1"/>
                </a:solidFill>
              </a:rPr>
              <a:t>0.</a:t>
            </a: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90</a:t>
            </a:r>
            <a:endParaRPr lang="en-US" sz="3200" dirty="0">
              <a:solidFill>
                <a:schemeClr val="bg1"/>
              </a:solidFill>
            </a:endParaRPr>
          </a:p>
        </p:txBody>
      </p:sp>
      <p:sp>
        <p:nvSpPr>
          <p:cNvPr id="6" name="Text 4"/>
          <p:cNvSpPr/>
          <p:nvPr/>
        </p:nvSpPr>
        <p:spPr>
          <a:xfrm>
            <a:off x="548640" y="2926080"/>
            <a:ext cx="2514600" cy="502920"/>
          </a:xfrm>
          <a:prstGeom prst="rect">
            <a:avLst/>
          </a:prstGeom>
          <a:noFill/>
        </p:spPr>
        <p:txBody>
          <a:bodyPr wrap="square" lIns="0" tIns="0" rIns="0" bIns="0" rtlCol="0" anchor="ctr"/>
          <a:lstStyle/>
          <a:p>
            <a:pPr marL="0" indent="0" algn="ctr">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Precision (Fraud)</a:t>
            </a:r>
            <a:endParaRPr lang="en-US" sz="1200" dirty="0"/>
          </a:p>
        </p:txBody>
      </p:sp>
      <p:sp>
        <p:nvSpPr>
          <p:cNvPr id="7" name="Shape 5"/>
          <p:cNvSpPr/>
          <p:nvPr/>
        </p:nvSpPr>
        <p:spPr>
          <a:xfrm>
            <a:off x="3383280" y="1920240"/>
            <a:ext cx="2514600" cy="1737360"/>
          </a:xfrm>
          <a:prstGeom prst="roundRect">
            <a:avLst>
              <a:gd name="adj" fmla="val 6316"/>
            </a:avLst>
          </a:prstGeom>
          <a:solidFill>
            <a:srgbClr val="263080"/>
          </a:solidFill>
        </p:spPr>
      </p:sp>
      <p:sp>
        <p:nvSpPr>
          <p:cNvPr id="8" name="Text 6"/>
          <p:cNvSpPr/>
          <p:nvPr/>
        </p:nvSpPr>
        <p:spPr>
          <a:xfrm>
            <a:off x="3383280" y="2148840"/>
            <a:ext cx="2514600" cy="777240"/>
          </a:xfrm>
          <a:prstGeom prst="rect">
            <a:avLst/>
          </a:prstGeom>
          <a:noFill/>
        </p:spPr>
        <p:txBody>
          <a:bodyPr wrap="square" lIns="0" tIns="0" rIns="0" bIns="0" rtlCol="0" anchor="ctr"/>
          <a:lstStyle/>
          <a:p>
            <a:pPr marL="0" indent="0" algn="ctr">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0.98</a:t>
            </a:r>
            <a:endParaRPr lang="en-US" sz="3200" dirty="0"/>
          </a:p>
        </p:txBody>
      </p:sp>
      <p:sp>
        <p:nvSpPr>
          <p:cNvPr id="9" name="Text 7"/>
          <p:cNvSpPr/>
          <p:nvPr/>
        </p:nvSpPr>
        <p:spPr>
          <a:xfrm>
            <a:off x="3383280" y="2926080"/>
            <a:ext cx="2514600" cy="502920"/>
          </a:xfrm>
          <a:prstGeom prst="rect">
            <a:avLst/>
          </a:prstGeom>
          <a:noFill/>
        </p:spPr>
        <p:txBody>
          <a:bodyPr wrap="square" lIns="0" tIns="0" rIns="0" bIns="0" rtlCol="0" anchor="ctr"/>
          <a:lstStyle/>
          <a:p>
            <a:pPr marL="0" indent="0" algn="ctr">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Recall (Fraud)</a:t>
            </a:r>
            <a:endParaRPr lang="en-US" sz="1200" dirty="0"/>
          </a:p>
        </p:txBody>
      </p:sp>
      <p:sp>
        <p:nvSpPr>
          <p:cNvPr id="10" name="Shape 8"/>
          <p:cNvSpPr/>
          <p:nvPr/>
        </p:nvSpPr>
        <p:spPr>
          <a:xfrm>
            <a:off x="6217920" y="1920240"/>
            <a:ext cx="2514600" cy="1737360"/>
          </a:xfrm>
          <a:prstGeom prst="roundRect">
            <a:avLst>
              <a:gd name="adj" fmla="val 6316"/>
            </a:avLst>
          </a:prstGeom>
          <a:solidFill>
            <a:srgbClr val="263080"/>
          </a:solidFill>
        </p:spPr>
      </p:sp>
      <p:sp>
        <p:nvSpPr>
          <p:cNvPr id="11" name="Text 9"/>
          <p:cNvSpPr/>
          <p:nvPr/>
        </p:nvSpPr>
        <p:spPr>
          <a:xfrm>
            <a:off x="6217920" y="2148840"/>
            <a:ext cx="2514600" cy="777240"/>
          </a:xfrm>
          <a:prstGeom prst="rect">
            <a:avLst/>
          </a:prstGeom>
          <a:noFill/>
        </p:spPr>
        <p:txBody>
          <a:bodyPr wrap="square" lIns="0" tIns="0" rIns="0" bIns="0" rtlCol="0" anchor="ctr"/>
          <a:lstStyle/>
          <a:p>
            <a:pPr marL="0" indent="0" algn="ctr">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0.94</a:t>
            </a:r>
            <a:endParaRPr lang="en-US" sz="3200" dirty="0"/>
          </a:p>
        </p:txBody>
      </p:sp>
      <p:sp>
        <p:nvSpPr>
          <p:cNvPr id="12" name="Text 10"/>
          <p:cNvSpPr/>
          <p:nvPr/>
        </p:nvSpPr>
        <p:spPr>
          <a:xfrm>
            <a:off x="6217920" y="2926080"/>
            <a:ext cx="2514600" cy="502920"/>
          </a:xfrm>
          <a:prstGeom prst="rect">
            <a:avLst/>
          </a:prstGeom>
          <a:noFill/>
        </p:spPr>
        <p:txBody>
          <a:bodyPr wrap="square" lIns="0" tIns="0" rIns="0" bIns="0" rtlCol="0" anchor="ctr"/>
          <a:lstStyle/>
          <a:p>
            <a:pPr marL="0" indent="0" algn="ctr">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F1-Score (Fraud)</a:t>
            </a:r>
            <a:endParaRPr lang="en-US" sz="1200" dirty="0"/>
          </a:p>
        </p:txBody>
      </p:sp>
      <p:sp>
        <p:nvSpPr>
          <p:cNvPr id="13" name="Shape 11"/>
          <p:cNvSpPr/>
          <p:nvPr/>
        </p:nvSpPr>
        <p:spPr>
          <a:xfrm>
            <a:off x="9052560" y="1920240"/>
            <a:ext cx="2514600" cy="1737360"/>
          </a:xfrm>
          <a:prstGeom prst="roundRect">
            <a:avLst>
              <a:gd name="adj" fmla="val 6316"/>
            </a:avLst>
          </a:prstGeom>
          <a:solidFill>
            <a:srgbClr val="263080"/>
          </a:solidFill>
        </p:spPr>
      </p:sp>
      <p:sp>
        <p:nvSpPr>
          <p:cNvPr id="14" name="Text 12"/>
          <p:cNvSpPr/>
          <p:nvPr/>
        </p:nvSpPr>
        <p:spPr>
          <a:xfrm>
            <a:off x="9052560" y="2148840"/>
            <a:ext cx="2514600" cy="777240"/>
          </a:xfrm>
          <a:prstGeom prst="rect">
            <a:avLst/>
          </a:prstGeom>
          <a:noFill/>
        </p:spPr>
        <p:txBody>
          <a:bodyPr wrap="square" lIns="0" tIns="0" rIns="0" bIns="0" rtlCol="0" anchor="ctr"/>
          <a:lstStyle/>
          <a:p>
            <a:pPr marL="0" indent="0" algn="ctr">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0.99</a:t>
            </a:r>
            <a:endParaRPr lang="en-US" sz="3200" dirty="0"/>
          </a:p>
        </p:txBody>
      </p:sp>
      <p:sp>
        <p:nvSpPr>
          <p:cNvPr id="15" name="Text 13"/>
          <p:cNvSpPr/>
          <p:nvPr/>
        </p:nvSpPr>
        <p:spPr>
          <a:xfrm>
            <a:off x="9052560" y="2926080"/>
            <a:ext cx="2514600" cy="502920"/>
          </a:xfrm>
          <a:prstGeom prst="rect">
            <a:avLst/>
          </a:prstGeom>
          <a:noFill/>
        </p:spPr>
        <p:txBody>
          <a:bodyPr wrap="square" lIns="0" tIns="0" rIns="0" bIns="0" rtlCol="0" anchor="ctr"/>
          <a:lstStyle/>
          <a:p>
            <a:pPr marL="0" indent="0" algn="ctr">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Overall Accuracy</a:t>
            </a:r>
            <a:endParaRPr lang="en-US" sz="1200" dirty="0"/>
          </a:p>
        </p:txBody>
      </p:sp>
      <p:sp>
        <p:nvSpPr>
          <p:cNvPr id="16" name="Text 14"/>
          <p:cNvSpPr/>
          <p:nvPr/>
        </p:nvSpPr>
        <p:spPr>
          <a:xfrm>
            <a:off x="548640" y="3931920"/>
            <a:ext cx="5486400" cy="365760"/>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Final Feature Set</a:t>
            </a:r>
            <a:endParaRPr lang="en-US" sz="1500" dirty="0"/>
          </a:p>
        </p:txBody>
      </p:sp>
      <p:sp>
        <p:nvSpPr>
          <p:cNvPr id="18" name="Text 16"/>
          <p:cNvSpPr/>
          <p:nvPr/>
        </p:nvSpPr>
        <p:spPr>
          <a:xfrm>
            <a:off x="548640" y="4343400"/>
            <a:ext cx="2011680" cy="502920"/>
          </a:xfrm>
          <a:prstGeom prst="rect">
            <a:avLst/>
          </a:prstGeom>
          <a:noFill/>
        </p:spPr>
        <p:txBody>
          <a:bodyPr wrap="square" lIns="0" tIns="0" rIns="0" bIns="0" rtlCol="0" anchor="ctr"/>
          <a:lstStyle/>
          <a:p>
            <a:pPr marL="0" indent="0" algn="ctr">
              <a:buNone/>
            </a:pPr>
            <a:r>
              <a:rPr lang="en-US" sz="1050" dirty="0">
                <a:solidFill>
                  <a:srgbClr val="1E2761"/>
                </a:solidFill>
                <a:latin typeface="Courier New" panose="02070309020205020404" pitchFamily="34" charset="0"/>
                <a:ea typeface="Courier New" panose="02070309020205020404" pitchFamily="34" charset="-122"/>
                <a:cs typeface="Courier New" panose="02070309020205020404" pitchFamily="34" charset="-120"/>
              </a:rPr>
              <a:t>step</a:t>
            </a:r>
            <a:endParaRPr lang="en-US" sz="1050" dirty="0"/>
          </a:p>
        </p:txBody>
      </p:sp>
      <p:sp>
        <p:nvSpPr>
          <p:cNvPr id="19" name="Shape 17"/>
          <p:cNvSpPr/>
          <p:nvPr/>
        </p:nvSpPr>
        <p:spPr>
          <a:xfrm>
            <a:off x="2761488" y="4343400"/>
            <a:ext cx="2011680" cy="502920"/>
          </a:xfrm>
          <a:prstGeom prst="roundRect">
            <a:avLst>
              <a:gd name="adj" fmla="val 49091"/>
            </a:avLst>
          </a:prstGeom>
          <a:solidFill>
            <a:srgbClr val="CADCFC"/>
          </a:solidFill>
        </p:spPr>
      </p:sp>
      <p:sp>
        <p:nvSpPr>
          <p:cNvPr id="20" name="Text 18"/>
          <p:cNvSpPr/>
          <p:nvPr/>
        </p:nvSpPr>
        <p:spPr>
          <a:xfrm>
            <a:off x="2761488" y="4343400"/>
            <a:ext cx="2011680" cy="502920"/>
          </a:xfrm>
          <a:prstGeom prst="rect">
            <a:avLst/>
          </a:prstGeom>
          <a:noFill/>
        </p:spPr>
        <p:txBody>
          <a:bodyPr wrap="square" lIns="0" tIns="0" rIns="0" bIns="0" rtlCol="0" anchor="ctr"/>
          <a:lstStyle/>
          <a:p>
            <a:pPr marL="0" indent="0" algn="ctr">
              <a:buNone/>
            </a:pPr>
            <a:r>
              <a:rPr lang="en-US" sz="1050" dirty="0">
                <a:solidFill>
                  <a:srgbClr val="1E2761"/>
                </a:solidFill>
                <a:latin typeface="Courier New" panose="02070309020205020404" pitchFamily="34" charset="0"/>
                <a:ea typeface="Courier New" panose="02070309020205020404" pitchFamily="34" charset="-122"/>
                <a:cs typeface="Courier New" panose="02070309020205020404" pitchFamily="34" charset="-120"/>
              </a:rPr>
              <a:t>type (one-hot)</a:t>
            </a:r>
            <a:endParaRPr lang="en-US" sz="1050" dirty="0"/>
          </a:p>
        </p:txBody>
      </p:sp>
      <p:sp>
        <p:nvSpPr>
          <p:cNvPr id="21" name="Shape 19"/>
          <p:cNvSpPr/>
          <p:nvPr/>
        </p:nvSpPr>
        <p:spPr>
          <a:xfrm>
            <a:off x="4974336" y="4343400"/>
            <a:ext cx="2011680" cy="502920"/>
          </a:xfrm>
          <a:prstGeom prst="roundRect">
            <a:avLst>
              <a:gd name="adj" fmla="val 49091"/>
            </a:avLst>
          </a:prstGeom>
          <a:solidFill>
            <a:srgbClr val="CADCFC"/>
          </a:solidFill>
        </p:spPr>
      </p:sp>
      <p:sp>
        <p:nvSpPr>
          <p:cNvPr id="22" name="Text 20"/>
          <p:cNvSpPr/>
          <p:nvPr/>
        </p:nvSpPr>
        <p:spPr>
          <a:xfrm>
            <a:off x="4974336" y="4343400"/>
            <a:ext cx="2011680" cy="502920"/>
          </a:xfrm>
          <a:prstGeom prst="rect">
            <a:avLst/>
          </a:prstGeom>
          <a:noFill/>
        </p:spPr>
        <p:txBody>
          <a:bodyPr wrap="square" lIns="0" tIns="0" rIns="0" bIns="0" rtlCol="0" anchor="ctr"/>
          <a:lstStyle/>
          <a:p>
            <a:pPr marL="0" indent="0" algn="ctr">
              <a:buNone/>
            </a:pPr>
            <a:r>
              <a:rPr lang="en-US" sz="1050" dirty="0">
                <a:solidFill>
                  <a:srgbClr val="1E2761"/>
                </a:solidFill>
                <a:latin typeface="Courier New" panose="02070309020205020404" pitchFamily="34" charset="0"/>
                <a:ea typeface="Courier New" panose="02070309020205020404" pitchFamily="34" charset="-122"/>
                <a:cs typeface="Courier New" panose="02070309020205020404" pitchFamily="34" charset="-120"/>
              </a:rPr>
              <a:t>amount</a:t>
            </a:r>
            <a:endParaRPr lang="en-US" sz="1050" dirty="0"/>
          </a:p>
        </p:txBody>
      </p:sp>
      <p:sp>
        <p:nvSpPr>
          <p:cNvPr id="23" name="Shape 21"/>
          <p:cNvSpPr/>
          <p:nvPr/>
        </p:nvSpPr>
        <p:spPr>
          <a:xfrm>
            <a:off x="7187184" y="4343400"/>
            <a:ext cx="2011680" cy="502920"/>
          </a:xfrm>
          <a:prstGeom prst="roundRect">
            <a:avLst>
              <a:gd name="adj" fmla="val 49091"/>
            </a:avLst>
          </a:prstGeom>
          <a:solidFill>
            <a:srgbClr val="CADCFC"/>
          </a:solidFill>
        </p:spPr>
      </p:sp>
      <p:sp>
        <p:nvSpPr>
          <p:cNvPr id="24" name="Text 22"/>
          <p:cNvSpPr/>
          <p:nvPr/>
        </p:nvSpPr>
        <p:spPr>
          <a:xfrm>
            <a:off x="7187184" y="4343400"/>
            <a:ext cx="2011680" cy="502920"/>
          </a:xfrm>
          <a:prstGeom prst="rect">
            <a:avLst/>
          </a:prstGeom>
          <a:noFill/>
        </p:spPr>
        <p:txBody>
          <a:bodyPr wrap="square" lIns="0" tIns="0" rIns="0" bIns="0" rtlCol="0" anchor="ctr"/>
          <a:lstStyle/>
          <a:p>
            <a:pPr marL="0" indent="0" algn="ctr">
              <a:buNone/>
            </a:pPr>
            <a:r>
              <a:rPr lang="en-US" sz="1050" dirty="0">
                <a:solidFill>
                  <a:srgbClr val="1E2761"/>
                </a:solidFill>
                <a:latin typeface="Courier New" panose="02070309020205020404" pitchFamily="34" charset="0"/>
                <a:ea typeface="Courier New" panose="02070309020205020404" pitchFamily="34" charset="-122"/>
                <a:cs typeface="Courier New" panose="02070309020205020404" pitchFamily="34" charset="-120"/>
              </a:rPr>
              <a:t>oldbalanceOrg</a:t>
            </a:r>
            <a:endParaRPr lang="en-US" sz="1050" dirty="0"/>
          </a:p>
        </p:txBody>
      </p:sp>
      <p:sp>
        <p:nvSpPr>
          <p:cNvPr id="25" name="Shape 23"/>
          <p:cNvSpPr/>
          <p:nvPr/>
        </p:nvSpPr>
        <p:spPr>
          <a:xfrm>
            <a:off x="9400032" y="4343400"/>
            <a:ext cx="2011680" cy="502920"/>
          </a:xfrm>
          <a:prstGeom prst="roundRect">
            <a:avLst>
              <a:gd name="adj" fmla="val 49091"/>
            </a:avLst>
          </a:prstGeom>
          <a:solidFill>
            <a:srgbClr val="CADCFC"/>
          </a:solidFill>
        </p:spPr>
      </p:sp>
      <p:sp>
        <p:nvSpPr>
          <p:cNvPr id="26" name="Text 24"/>
          <p:cNvSpPr/>
          <p:nvPr/>
        </p:nvSpPr>
        <p:spPr>
          <a:xfrm>
            <a:off x="9400032" y="4343400"/>
            <a:ext cx="2011680" cy="502920"/>
          </a:xfrm>
          <a:prstGeom prst="rect">
            <a:avLst/>
          </a:prstGeom>
          <a:noFill/>
        </p:spPr>
        <p:txBody>
          <a:bodyPr wrap="square" lIns="0" tIns="0" rIns="0" bIns="0" rtlCol="0" anchor="ctr"/>
          <a:lstStyle/>
          <a:p>
            <a:pPr marL="0" indent="0" algn="ctr">
              <a:buNone/>
            </a:pPr>
            <a:r>
              <a:rPr lang="en-US" sz="1050" dirty="0">
                <a:solidFill>
                  <a:srgbClr val="1E2761"/>
                </a:solidFill>
                <a:latin typeface="Courier New" panose="02070309020205020404" pitchFamily="34" charset="0"/>
                <a:ea typeface="Courier New" panose="02070309020205020404" pitchFamily="34" charset="-122"/>
                <a:cs typeface="Courier New" panose="02070309020205020404" pitchFamily="34" charset="-120"/>
              </a:rPr>
              <a:t>oldbalanceDest</a:t>
            </a:r>
            <a:endParaRPr lang="en-US" sz="1050" dirty="0"/>
          </a:p>
        </p:txBody>
      </p:sp>
      <p:sp>
        <p:nvSpPr>
          <p:cNvPr id="27" name="Text 25"/>
          <p:cNvSpPr/>
          <p:nvPr/>
        </p:nvSpPr>
        <p:spPr>
          <a:xfrm>
            <a:off x="548640" y="5074920"/>
            <a:ext cx="11064240" cy="548640"/>
          </a:xfrm>
          <a:prstGeom prst="rect">
            <a:avLst/>
          </a:prstGeom>
          <a:noFill/>
        </p:spPr>
        <p:txBody>
          <a:bodyPr wrap="square" lIns="0" tIns="0" rIns="0" bIns="0" rtlCol="0" anchor="ctr"/>
          <a:lstStyle/>
          <a:p>
            <a:pPr marL="0" indent="0">
              <a:lnSpc>
                <a:spcPct val="130000"/>
              </a:lnSpc>
              <a:buNone/>
            </a:pPr>
            <a:r>
              <a:rPr lang="en-US" sz="1200" i="1" dirty="0">
                <a:solidFill>
                  <a:srgbClr val="AAB6E8"/>
                </a:solidFill>
                <a:latin typeface="Calibri" panose="020F0502020204030204" pitchFamily="34" charset="0"/>
                <a:ea typeface="Calibri" panose="020F0502020204030204" pitchFamily="34" charset="-122"/>
                <a:cs typeface="Calibri" panose="020F0502020204030204" pitchFamily="34" charset="-120"/>
              </a:rPr>
              <a:t>Removed: step, nameOrig, nameDest, newbalanceOrig, newbalanceDest — IDs and post-transaction fields unavailable (or irrelevant) at prediction time.</a:t>
            </a:r>
            <a:endParaRPr lang="en-US" sz="1200" dirty="0"/>
          </a:p>
        </p:txBody>
      </p:sp>
      <p:sp>
        <p:nvSpPr>
          <p:cNvPr id="30" name="Text 28"/>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Table 7"/>
          <p:cNvGraphicFramePr/>
          <p:nvPr/>
        </p:nvGraphicFramePr>
        <p:xfrm>
          <a:off x="5280660" y="3035300"/>
          <a:ext cx="6456045" cy="3153410"/>
        </p:xfrm>
        <a:graphic>
          <a:graphicData uri="http://schemas.openxmlformats.org/drawingml/2006/table">
            <a:tbl>
              <a:tblPr firstRow="1" bandRow="1">
                <a:tableStyleId>{5C22544A-7EE6-4342-B048-85BDC9FD1C3A}</a:tableStyleId>
              </a:tblPr>
              <a:tblGrid>
                <a:gridCol w="2152015"/>
                <a:gridCol w="2152015"/>
                <a:gridCol w="2152015"/>
              </a:tblGrid>
              <a:tr h="636270">
                <a:tc>
                  <a:txBody>
                    <a:bodyPr/>
                    <a:p>
                      <a:pPr>
                        <a:buNone/>
                      </a:pPr>
                      <a:r>
                        <a:rPr lang="en-US" altLang="en-US" sz="2400"/>
                        <a:t>Metric</a:t>
                      </a:r>
                      <a:endParaRPr lang="en-US" altLang="en-US" sz="2400"/>
                    </a:p>
                  </a:txBody>
                  <a:tcPr/>
                </a:tc>
                <a:tc>
                  <a:txBody>
                    <a:bodyPr/>
                    <a:p>
                      <a:pPr>
                        <a:buNone/>
                      </a:pPr>
                      <a:r>
                        <a:rPr lang="en-US" altLang="en-US" sz="2400"/>
                        <a:t>Training</a:t>
                      </a:r>
                      <a:endParaRPr lang="en-US" altLang="en-US" sz="2400"/>
                    </a:p>
                  </a:txBody>
                  <a:tcPr/>
                </a:tc>
                <a:tc>
                  <a:txBody>
                    <a:bodyPr/>
                    <a:p>
                      <a:pPr>
                        <a:buNone/>
                      </a:pPr>
                      <a:r>
                        <a:rPr lang="en-US" altLang="en-US" sz="2400"/>
                        <a:t>Testing</a:t>
                      </a:r>
                      <a:endParaRPr lang="en-US" altLang="en-US" sz="2400"/>
                    </a:p>
                  </a:txBody>
                  <a:tcPr/>
                </a:tc>
              </a:tr>
              <a:tr h="636270">
                <a:tc>
                  <a:txBody>
                    <a:bodyPr/>
                    <a:p>
                      <a:pPr algn="ctr"/>
                      <a:r>
                        <a:rPr lang="en-US" altLang="zh-CN" sz="1800"/>
                        <a:t>Accuracy</a:t>
                      </a:r>
                      <a:endParaRPr lang="en-US" altLang="zh-CN" sz="1800"/>
                    </a:p>
                  </a:txBody>
                  <a:tcPr marL="0" marR="0" marT="0" marB="0" anchor="ctr" anchorCtr="0"/>
                </a:tc>
                <a:tc>
                  <a:txBody>
                    <a:bodyPr/>
                    <a:p>
                      <a:pPr algn="ctr"/>
                      <a:r>
                        <a:rPr lang="en-US" altLang="zh-CN" sz="1800"/>
                        <a:t>99.05%</a:t>
                      </a:r>
                      <a:endParaRPr lang="en-US" altLang="zh-CN" sz="1800"/>
                    </a:p>
                  </a:txBody>
                  <a:tcPr marL="0" marR="0" marT="0" marB="0" anchor="ctr" anchorCtr="0"/>
                </a:tc>
                <a:tc>
                  <a:txBody>
                    <a:bodyPr/>
                    <a:p>
                      <a:pPr algn="ctr"/>
                      <a:r>
                        <a:rPr lang="en-US" altLang="zh-CN" sz="1800"/>
                        <a:t>98.65%</a:t>
                      </a:r>
                      <a:endParaRPr lang="en-US" altLang="zh-CN" sz="1800"/>
                    </a:p>
                  </a:txBody>
                  <a:tcPr marL="0" marR="0" marT="0" marB="0" anchor="ctr" anchorCtr="0"/>
                </a:tc>
              </a:tr>
              <a:tr h="608330">
                <a:tc>
                  <a:txBody>
                    <a:bodyPr/>
                    <a:p>
                      <a:pPr algn="ctr"/>
                      <a:r>
                        <a:rPr lang="en-US" altLang="zh-CN" sz="1800"/>
                        <a:t>Precision</a:t>
                      </a:r>
                      <a:endParaRPr lang="en-US" altLang="zh-CN" sz="1800"/>
                    </a:p>
                  </a:txBody>
                  <a:tcPr marL="0" marR="0" marT="0" marB="0" anchor="ctr" anchorCtr="0"/>
                </a:tc>
                <a:tc>
                  <a:txBody>
                    <a:bodyPr/>
                    <a:p>
                      <a:pPr algn="ctr"/>
                      <a:r>
                        <a:rPr lang="en-US" altLang="zh-CN" sz="1800"/>
                        <a:t>91.7%</a:t>
                      </a:r>
                      <a:endParaRPr lang="en-US" altLang="zh-CN" sz="1800"/>
                    </a:p>
                  </a:txBody>
                  <a:tcPr marL="0" marR="0" marT="0" marB="0" anchor="ctr" anchorCtr="0"/>
                </a:tc>
                <a:tc>
                  <a:txBody>
                    <a:bodyPr/>
                    <a:p>
                      <a:pPr algn="ctr"/>
                      <a:r>
                        <a:rPr lang="en-US" altLang="zh-CN" sz="1800"/>
                        <a:t>89.9%</a:t>
                      </a:r>
                      <a:endParaRPr lang="en-US" altLang="zh-CN" sz="1800"/>
                    </a:p>
                  </a:txBody>
                  <a:tcPr marL="0" marR="0" marT="0" marB="0" anchor="ctr" anchorCtr="0"/>
                </a:tc>
              </a:tr>
              <a:tr h="636270">
                <a:tc>
                  <a:txBody>
                    <a:bodyPr/>
                    <a:p>
                      <a:pPr algn="ctr"/>
                      <a:r>
                        <a:rPr lang="en-US" altLang="zh-CN" sz="1800"/>
                        <a:t>Recall</a:t>
                      </a:r>
                      <a:endParaRPr lang="en-US" altLang="zh-CN" sz="1800"/>
                    </a:p>
                  </a:txBody>
                  <a:tcPr marL="0" marR="0" marT="0" marB="0" anchor="ctr" anchorCtr="0"/>
                </a:tc>
                <a:tc>
                  <a:txBody>
                    <a:bodyPr/>
                    <a:p>
                      <a:pPr algn="ctr"/>
                      <a:r>
                        <a:rPr lang="en-US" altLang="zh-CN" sz="1800"/>
                        <a:t>99.8%</a:t>
                      </a:r>
                      <a:endParaRPr lang="en-US" altLang="zh-CN" sz="1800"/>
                    </a:p>
                  </a:txBody>
                  <a:tcPr marL="0" marR="0" marT="0" marB="0" anchor="ctr" anchorCtr="0"/>
                </a:tc>
                <a:tc>
                  <a:txBody>
                    <a:bodyPr/>
                    <a:p>
                      <a:pPr algn="ctr">
                        <a:buNone/>
                      </a:pPr>
                      <a:r>
                        <a:rPr lang="en-US" altLang="en-US" sz="1800"/>
                        <a:t>97.8%</a:t>
                      </a:r>
                      <a:endParaRPr lang="en-US" altLang="en-US" sz="1800"/>
                    </a:p>
                  </a:txBody>
                  <a:tcPr anchor="ctr" anchorCtr="0"/>
                </a:tc>
              </a:tr>
              <a:tr h="636270">
                <a:tc>
                  <a:txBody>
                    <a:bodyPr/>
                    <a:p>
                      <a:pPr algn="ctr"/>
                      <a:r>
                        <a:rPr lang="en-US" altLang="zh-CN" sz="1800"/>
                        <a:t>F1 Score</a:t>
                      </a:r>
                      <a:endParaRPr lang="en-US" altLang="zh-CN" sz="1800"/>
                    </a:p>
                  </a:txBody>
                  <a:tcPr marL="0" marR="0" marT="0" marB="0" anchor="ctr" anchorCtr="0"/>
                </a:tc>
                <a:tc>
                  <a:txBody>
                    <a:bodyPr/>
                    <a:p>
                      <a:pPr algn="ctr">
                        <a:buNone/>
                      </a:pPr>
                      <a:r>
                        <a:rPr lang="en-US" altLang="en-US" sz="1800"/>
                        <a:t>95.5%</a:t>
                      </a:r>
                      <a:endParaRPr lang="en-US" altLang="en-US" sz="1800"/>
                    </a:p>
                  </a:txBody>
                  <a:tcPr anchor="ctr" anchorCtr="0"/>
                </a:tc>
                <a:tc>
                  <a:txBody>
                    <a:bodyPr/>
                    <a:p>
                      <a:pPr algn="ctr">
                        <a:buNone/>
                      </a:pPr>
                      <a:r>
                        <a:rPr lang="en-US" altLang="en-US" sz="1800"/>
                        <a:t>93.7%</a:t>
                      </a:r>
                      <a:endParaRPr lang="en-US" altLang="en-US" sz="1800"/>
                    </a:p>
                  </a:txBody>
                  <a:tcPr anchor="ctr" anchorCtr="0"/>
                </a:tc>
              </a:tr>
            </a:tbl>
          </a:graphicData>
        </a:graphic>
      </p:graphicFrame>
      <p:sp>
        <p:nvSpPr>
          <p:cNvPr id="27" name="Text Box 26"/>
          <p:cNvSpPr txBox="1"/>
          <p:nvPr/>
        </p:nvSpPr>
        <p:spPr>
          <a:xfrm>
            <a:off x="416560" y="1511300"/>
            <a:ext cx="4683125" cy="5073650"/>
          </a:xfrm>
          <a:prstGeom prst="rect">
            <a:avLst/>
          </a:prstGeom>
          <a:noFill/>
        </p:spPr>
        <p:txBody>
          <a:bodyPr wrap="square" rtlCol="0">
            <a:noAutofit/>
          </a:bodyPr>
          <a:p>
            <a:r>
              <a:rPr lang="en-US" altLang="en-US"/>
              <a:t>Random Forest achieved very high performance on both training and testing data.</a:t>
            </a:r>
            <a:endParaRPr lang="en-US" altLang="en-US"/>
          </a:p>
          <a:p>
            <a:endParaRPr lang="en-US" altLang="en-US"/>
          </a:p>
          <a:p>
            <a:pPr marL="285750" indent="-285750">
              <a:buFont typeface="Wingdings" panose="05000000000000000000" charset="0"/>
              <a:buChar char="§"/>
            </a:pPr>
            <a:r>
              <a:rPr lang="en-US" altLang="en-US"/>
              <a:t>Accuracy: 98.65% → Almost all test transactions were classified correctly.</a:t>
            </a:r>
            <a:endParaRPr lang="en-US" altLang="en-US"/>
          </a:p>
          <a:p>
            <a:pPr marL="285750" indent="-285750">
              <a:buFont typeface="Wingdings" panose="05000000000000000000" charset="0"/>
              <a:buChar char="§"/>
            </a:pPr>
            <a:r>
              <a:rPr lang="en-US" altLang="en-US"/>
              <a:t>Precision: 89.9% → The model raised about 25 false alarms among 2,001 normal transactions.</a:t>
            </a:r>
            <a:endParaRPr lang="en-US" altLang="en-US"/>
          </a:p>
          <a:p>
            <a:pPr marL="285750" indent="-285750">
              <a:buFont typeface="Wingdings" panose="05000000000000000000" charset="0"/>
              <a:buChar char="§"/>
            </a:pPr>
            <a:r>
              <a:rPr lang="en-US" altLang="en-US"/>
              <a:t>Recall: 97.8% → The model detected about 97 out of every 100 actual fraud transactions.</a:t>
            </a:r>
            <a:endParaRPr lang="en-US" altLang="en-US"/>
          </a:p>
          <a:p>
            <a:pPr marL="285750" indent="-285750">
              <a:buFont typeface="Wingdings" panose="05000000000000000000" charset="0"/>
              <a:buChar char="§"/>
            </a:pPr>
            <a:r>
              <a:rPr lang="en-US" altLang="en-US"/>
              <a:t>F1 Score: 93.7% → Shows a strong balance between precision and recall.</a:t>
            </a:r>
            <a:endParaRPr lang="en-US" altLang="en-US"/>
          </a:p>
          <a:p>
            <a:pPr indent="0">
              <a:buFont typeface="Wingdings" panose="05000000000000000000" charset="0"/>
              <a:buNone/>
            </a:pPr>
            <a:endParaRPr lang="en-US" altLang="en-US"/>
          </a:p>
          <a:p>
            <a:pPr indent="0">
              <a:buFont typeface="Wingdings" panose="05000000000000000000" charset="0"/>
              <a:buNone/>
            </a:pPr>
            <a:r>
              <a:rPr lang="en-US" altLang="en-US"/>
              <a:t>The Random Forest model showed strong performance on the test set, particularly in detecting fraudulent transactions, with 97.8% recall and 93.7% F1-score.</a:t>
            </a:r>
            <a:endParaRPr lang="en-US" altLang="en-US"/>
          </a:p>
        </p:txBody>
      </p:sp>
      <p:sp>
        <p:nvSpPr>
          <p:cNvPr id="28" name="Text Box 27"/>
          <p:cNvSpPr txBox="1"/>
          <p:nvPr/>
        </p:nvSpPr>
        <p:spPr>
          <a:xfrm>
            <a:off x="247650" y="133350"/>
            <a:ext cx="11696700" cy="1220470"/>
          </a:xfrm>
          <a:prstGeom prst="rect">
            <a:avLst/>
          </a:prstGeom>
          <a:solidFill>
            <a:schemeClr val="accent1">
              <a:lumMod val="50000"/>
            </a:schemeClr>
          </a:solidFill>
        </p:spPr>
        <p:txBody>
          <a:bodyPr wrap="square" rtlCol="0">
            <a:noAutofit/>
          </a:bodyPr>
          <a:p>
            <a:r>
              <a:rPr lang="en-US" altLang="en-US" sz="3200" b="1">
                <a:solidFill>
                  <a:schemeClr val="bg1"/>
                </a:solidFill>
              </a:rPr>
              <a:t>Random Forest — Training &amp; Testing Performance</a:t>
            </a:r>
            <a:endParaRPr lang="en-US" altLang="en-US" sz="3200" b="1">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Key Insights</a:t>
            </a:r>
            <a:endParaRPr lang="en-US" sz="3200" dirty="0"/>
          </a:p>
        </p:txBody>
      </p:sp>
      <p:sp>
        <p:nvSpPr>
          <p:cNvPr id="3" name="Text 1"/>
          <p:cNvSpPr/>
          <p:nvPr/>
        </p:nvSpPr>
        <p:spPr>
          <a:xfrm>
            <a:off x="548640" y="1005840"/>
            <a:ext cx="100584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What the data, the models, and the validation checks revealed</a:t>
            </a:r>
            <a:endParaRPr lang="en-US" sz="1300" dirty="0"/>
          </a:p>
        </p:txBody>
      </p:sp>
      <p:sp>
        <p:nvSpPr>
          <p:cNvPr id="4" name="Shape 2"/>
          <p:cNvSpPr/>
          <p:nvPr/>
        </p:nvSpPr>
        <p:spPr>
          <a:xfrm>
            <a:off x="548640" y="1600200"/>
            <a:ext cx="5440680" cy="2148840"/>
          </a:xfrm>
          <a:prstGeom prst="roundRect">
            <a:avLst>
              <a:gd name="adj" fmla="val 4255"/>
            </a:avLst>
          </a:prstGeom>
          <a:solidFill>
            <a:srgbClr val="F4F6FC"/>
          </a:solidFill>
          <a:effectLst>
            <a:outerShdw blurRad="63500" dist="25400" dir="5400000" algn="bl" rotWithShape="0">
              <a:srgbClr val="1E2761">
                <a:alpha val="10000"/>
              </a:srgbClr>
            </a:outerShdw>
          </a:effectLst>
        </p:spPr>
      </p:sp>
      <p:sp>
        <p:nvSpPr>
          <p:cNvPr id="5" name="Shape 3"/>
          <p:cNvSpPr/>
          <p:nvPr/>
        </p:nvSpPr>
        <p:spPr>
          <a:xfrm>
            <a:off x="548640" y="1600200"/>
            <a:ext cx="82296" cy="2148840"/>
          </a:xfrm>
          <a:prstGeom prst="rect">
            <a:avLst/>
          </a:prstGeom>
          <a:solidFill>
            <a:srgbClr val="1E2761"/>
          </a:solidFill>
        </p:spPr>
      </p:sp>
      <p:sp>
        <p:nvSpPr>
          <p:cNvPr id="6" name="Shape 4"/>
          <p:cNvSpPr/>
          <p:nvPr/>
        </p:nvSpPr>
        <p:spPr>
          <a:xfrm>
            <a:off x="822960" y="1801368"/>
            <a:ext cx="1554480" cy="329184"/>
          </a:xfrm>
          <a:prstGeom prst="roundRect">
            <a:avLst>
              <a:gd name="adj" fmla="val 50000"/>
            </a:avLst>
          </a:prstGeom>
          <a:solidFill>
            <a:srgbClr val="1E2761"/>
          </a:solidFill>
        </p:spPr>
      </p:sp>
      <p:sp>
        <p:nvSpPr>
          <p:cNvPr id="7" name="Text 5"/>
          <p:cNvSpPr/>
          <p:nvPr/>
        </p:nvSpPr>
        <p:spPr>
          <a:xfrm>
            <a:off x="822960" y="1801368"/>
            <a:ext cx="1554480" cy="329184"/>
          </a:xfrm>
          <a:prstGeom prst="rect">
            <a:avLst/>
          </a:prstGeom>
          <a:noFill/>
        </p:spPr>
        <p:txBody>
          <a:bodyPr wrap="square" lIns="0" tIns="0" rIns="0" bIns="0" rtlCol="0" anchor="ctr"/>
          <a:lstStyle/>
          <a:p>
            <a:pPr marL="0" indent="0" algn="ctr">
              <a:buNone/>
            </a:pPr>
            <a:r>
              <a:rPr lang="en-US" sz="10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DATA</a:t>
            </a:r>
            <a:endParaRPr lang="en-US" sz="1050" dirty="0"/>
          </a:p>
        </p:txBody>
      </p:sp>
      <p:sp>
        <p:nvSpPr>
          <p:cNvPr id="8" name="Text 6"/>
          <p:cNvSpPr/>
          <p:nvPr/>
        </p:nvSpPr>
        <p:spPr>
          <a:xfrm>
            <a:off x="822960" y="2258568"/>
            <a:ext cx="228600" cy="457200"/>
          </a:xfrm>
          <a:prstGeom prst="rect">
            <a:avLst/>
          </a:prstGeom>
          <a:noFill/>
        </p:spPr>
        <p:txBody>
          <a:bodyPr wrap="square" lIns="0" tIns="0" rIns="0" bIns="0" rtlCol="0" anchor="ctr"/>
          <a:lstStyle/>
          <a:p>
            <a:pPr marL="0" indent="0">
              <a:buNone/>
            </a:pPr>
            <a:r>
              <a:rPr lang="en-US" sz="1300" b="1" dirty="0">
                <a:solidFill>
                  <a:srgbClr val="1E2761"/>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9" name="Text 7"/>
          <p:cNvSpPr/>
          <p:nvPr/>
        </p:nvSpPr>
        <p:spPr>
          <a:xfrm>
            <a:off x="1078992" y="2258568"/>
            <a:ext cx="4617720" cy="457200"/>
          </a:xfrm>
          <a:prstGeom prst="rect">
            <a:avLst/>
          </a:prstGeom>
          <a:noFill/>
        </p:spPr>
        <p:txBody>
          <a:bodyPr wrap="square" lIns="0" tIns="0" rIns="0" bIns="0" rtlCol="0" anchor="ctr"/>
          <a:lstStyle/>
          <a:p>
            <a:pPr marL="0" indent="0">
              <a:lnSpc>
                <a:spcPct val="115000"/>
              </a:lnSpc>
              <a:buNone/>
            </a:pPr>
            <a:r>
              <a:rPr lang="en-US" sz="1100" dirty="0">
                <a:solidFill>
                  <a:srgbClr val="1B1F3B"/>
                </a:solidFill>
                <a:latin typeface="Calibri" panose="020F0502020204030204" pitchFamily="34" charset="0"/>
                <a:ea typeface="Calibri" panose="020F0502020204030204" pitchFamily="34" charset="-122"/>
                <a:cs typeface="Calibri" panose="020F0502020204030204" pitchFamily="34" charset="-120"/>
              </a:rPr>
              <a:t>Fraud is rare but severe — only 10.25% of transactions</a:t>
            </a:r>
            <a:endParaRPr lang="en-US" sz="1100" dirty="0"/>
          </a:p>
        </p:txBody>
      </p:sp>
      <p:sp>
        <p:nvSpPr>
          <p:cNvPr id="10" name="Text 8"/>
          <p:cNvSpPr/>
          <p:nvPr/>
        </p:nvSpPr>
        <p:spPr>
          <a:xfrm>
            <a:off x="822960" y="2743200"/>
            <a:ext cx="228600" cy="457200"/>
          </a:xfrm>
          <a:prstGeom prst="rect">
            <a:avLst/>
          </a:prstGeom>
          <a:noFill/>
        </p:spPr>
        <p:txBody>
          <a:bodyPr wrap="square" lIns="0" tIns="0" rIns="0" bIns="0" rtlCol="0" anchor="ctr"/>
          <a:lstStyle/>
          <a:p>
            <a:pPr marL="0" indent="0">
              <a:buNone/>
            </a:pPr>
            <a:r>
              <a:rPr lang="en-US" sz="1300" b="1" dirty="0">
                <a:solidFill>
                  <a:srgbClr val="1E2761"/>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11" name="Text 9"/>
          <p:cNvSpPr/>
          <p:nvPr/>
        </p:nvSpPr>
        <p:spPr>
          <a:xfrm>
            <a:off x="1078992" y="2743200"/>
            <a:ext cx="4617720" cy="457200"/>
          </a:xfrm>
          <a:prstGeom prst="rect">
            <a:avLst/>
          </a:prstGeom>
          <a:noFill/>
        </p:spPr>
        <p:txBody>
          <a:bodyPr wrap="square" lIns="0" tIns="0" rIns="0" bIns="0" rtlCol="0" anchor="ctr"/>
          <a:lstStyle/>
          <a:p>
            <a:pPr marL="0" indent="0">
              <a:lnSpc>
                <a:spcPct val="115000"/>
              </a:lnSpc>
              <a:buNone/>
            </a:pPr>
            <a:r>
              <a:rPr lang="en-US" sz="1100" dirty="0">
                <a:solidFill>
                  <a:srgbClr val="1B1F3B"/>
                </a:solidFill>
                <a:latin typeface="Calibri" panose="020F0502020204030204" pitchFamily="34" charset="0"/>
                <a:ea typeface="Calibri" panose="020F0502020204030204" pitchFamily="34" charset="-122"/>
                <a:cs typeface="Calibri" panose="020F0502020204030204" pitchFamily="34" charset="-120"/>
              </a:rPr>
              <a:t>Concentrated entirely in TRANSFER &amp; CASH_OUT types</a:t>
            </a:r>
            <a:endParaRPr lang="en-US" sz="1100" dirty="0"/>
          </a:p>
        </p:txBody>
      </p:sp>
      <p:sp>
        <p:nvSpPr>
          <p:cNvPr id="12" name="Text 10"/>
          <p:cNvSpPr/>
          <p:nvPr/>
        </p:nvSpPr>
        <p:spPr>
          <a:xfrm>
            <a:off x="822960" y="3227832"/>
            <a:ext cx="228600" cy="457200"/>
          </a:xfrm>
          <a:prstGeom prst="rect">
            <a:avLst/>
          </a:prstGeom>
          <a:noFill/>
        </p:spPr>
        <p:txBody>
          <a:bodyPr wrap="square" lIns="0" tIns="0" rIns="0" bIns="0" rtlCol="0" anchor="ctr"/>
          <a:lstStyle/>
          <a:p>
            <a:pPr marL="0" indent="0">
              <a:buNone/>
            </a:pPr>
            <a:r>
              <a:rPr lang="en-US" sz="1300" b="1" dirty="0">
                <a:solidFill>
                  <a:srgbClr val="1E2761"/>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13" name="Text 11"/>
          <p:cNvSpPr/>
          <p:nvPr/>
        </p:nvSpPr>
        <p:spPr>
          <a:xfrm>
            <a:off x="1078992" y="3227832"/>
            <a:ext cx="4617720" cy="457200"/>
          </a:xfrm>
          <a:prstGeom prst="rect">
            <a:avLst/>
          </a:prstGeom>
          <a:noFill/>
        </p:spPr>
        <p:txBody>
          <a:bodyPr wrap="square" lIns="0" tIns="0" rIns="0" bIns="0" rtlCol="0" anchor="ctr"/>
          <a:lstStyle/>
          <a:p>
            <a:pPr marL="0" indent="0">
              <a:lnSpc>
                <a:spcPct val="115000"/>
              </a:lnSpc>
              <a:buNone/>
            </a:pPr>
            <a:r>
              <a:rPr lang="en-US" sz="1100" dirty="0">
                <a:solidFill>
                  <a:srgbClr val="1B1F3B"/>
                </a:solidFill>
                <a:latin typeface="Calibri" panose="020F0502020204030204" pitchFamily="34" charset="0"/>
                <a:ea typeface="Calibri" panose="020F0502020204030204" pitchFamily="34" charset="-122"/>
                <a:cs typeface="Calibri" panose="020F0502020204030204" pitchFamily="34" charset="-120"/>
              </a:rPr>
              <a:t>Fraud pattern: large amounts that drain the origin account</a:t>
            </a:r>
            <a:endParaRPr lang="en-US" sz="1100" dirty="0"/>
          </a:p>
        </p:txBody>
      </p:sp>
      <p:sp>
        <p:nvSpPr>
          <p:cNvPr id="14" name="Shape 12"/>
          <p:cNvSpPr/>
          <p:nvPr/>
        </p:nvSpPr>
        <p:spPr>
          <a:xfrm>
            <a:off x="6263640" y="1600200"/>
            <a:ext cx="5440680" cy="2148840"/>
          </a:xfrm>
          <a:prstGeom prst="roundRect">
            <a:avLst>
              <a:gd name="adj" fmla="val 4255"/>
            </a:avLst>
          </a:prstGeom>
          <a:solidFill>
            <a:srgbClr val="F4F6FC"/>
          </a:solidFill>
          <a:effectLst>
            <a:outerShdw blurRad="63500" dist="25400" dir="5400000" algn="bl" rotWithShape="0">
              <a:srgbClr val="1E2761">
                <a:alpha val="10000"/>
              </a:srgbClr>
            </a:outerShdw>
          </a:effectLst>
        </p:spPr>
      </p:sp>
      <p:sp>
        <p:nvSpPr>
          <p:cNvPr id="15" name="Shape 13"/>
          <p:cNvSpPr/>
          <p:nvPr/>
        </p:nvSpPr>
        <p:spPr>
          <a:xfrm>
            <a:off x="6263640" y="1600200"/>
            <a:ext cx="82296" cy="2148840"/>
          </a:xfrm>
          <a:prstGeom prst="rect">
            <a:avLst/>
          </a:prstGeom>
          <a:solidFill>
            <a:srgbClr val="6B7BC4"/>
          </a:solidFill>
        </p:spPr>
      </p:sp>
      <p:sp>
        <p:nvSpPr>
          <p:cNvPr id="16" name="Shape 14"/>
          <p:cNvSpPr/>
          <p:nvPr/>
        </p:nvSpPr>
        <p:spPr>
          <a:xfrm>
            <a:off x="6537960" y="1801368"/>
            <a:ext cx="1554480" cy="329184"/>
          </a:xfrm>
          <a:prstGeom prst="roundRect">
            <a:avLst>
              <a:gd name="adj" fmla="val 50000"/>
            </a:avLst>
          </a:prstGeom>
          <a:solidFill>
            <a:srgbClr val="6B7BC4"/>
          </a:solidFill>
        </p:spPr>
      </p:sp>
      <p:sp>
        <p:nvSpPr>
          <p:cNvPr id="17" name="Text 15"/>
          <p:cNvSpPr/>
          <p:nvPr/>
        </p:nvSpPr>
        <p:spPr>
          <a:xfrm>
            <a:off x="6537960" y="1801368"/>
            <a:ext cx="1554480" cy="329184"/>
          </a:xfrm>
          <a:prstGeom prst="rect">
            <a:avLst/>
          </a:prstGeom>
          <a:noFill/>
        </p:spPr>
        <p:txBody>
          <a:bodyPr wrap="square" lIns="0" tIns="0" rIns="0" bIns="0" rtlCol="0" anchor="ctr"/>
          <a:lstStyle/>
          <a:p>
            <a:pPr marL="0" indent="0" algn="ctr">
              <a:buNone/>
            </a:pPr>
            <a:r>
              <a:rPr lang="en-US" sz="10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MODELING</a:t>
            </a:r>
            <a:endParaRPr lang="en-US" sz="1050" dirty="0"/>
          </a:p>
        </p:txBody>
      </p:sp>
      <p:sp>
        <p:nvSpPr>
          <p:cNvPr id="18" name="Text 16"/>
          <p:cNvSpPr/>
          <p:nvPr/>
        </p:nvSpPr>
        <p:spPr>
          <a:xfrm>
            <a:off x="6537960" y="2258568"/>
            <a:ext cx="228600" cy="457200"/>
          </a:xfrm>
          <a:prstGeom prst="rect">
            <a:avLst/>
          </a:prstGeom>
          <a:noFill/>
        </p:spPr>
        <p:txBody>
          <a:bodyPr wrap="square" lIns="0" tIns="0" rIns="0" bIns="0" rtlCol="0" anchor="ctr"/>
          <a:lstStyle/>
          <a:p>
            <a:pPr marL="0" indent="0">
              <a:buNone/>
            </a:pPr>
            <a:r>
              <a:rPr lang="en-US" sz="1300" b="1" dirty="0">
                <a:solidFill>
                  <a:srgbClr val="6B7BC4"/>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19" name="Text 17"/>
          <p:cNvSpPr/>
          <p:nvPr/>
        </p:nvSpPr>
        <p:spPr>
          <a:xfrm>
            <a:off x="6793992" y="2258568"/>
            <a:ext cx="4617720" cy="457200"/>
          </a:xfrm>
          <a:prstGeom prst="rect">
            <a:avLst/>
          </a:prstGeom>
          <a:noFill/>
        </p:spPr>
        <p:txBody>
          <a:bodyPr wrap="square" lIns="0" tIns="0" rIns="0" bIns="0" rtlCol="0" anchor="ctr"/>
          <a:lstStyle/>
          <a:p>
            <a:pPr marL="0" indent="0">
              <a:lnSpc>
                <a:spcPct val="115000"/>
              </a:lnSpc>
              <a:buNone/>
            </a:pPr>
            <a:r>
              <a:rPr lang="en-US" sz="1100" dirty="0">
                <a:solidFill>
                  <a:srgbClr val="1B1F3B"/>
                </a:solidFill>
                <a:latin typeface="Calibri" panose="020F0502020204030204" pitchFamily="34" charset="0"/>
                <a:ea typeface="Calibri" panose="020F0502020204030204" pitchFamily="34" charset="-122"/>
                <a:cs typeface="Calibri" panose="020F0502020204030204" pitchFamily="34" charset="-120"/>
              </a:rPr>
              <a:t>Linear model underperforms — Logistic Regression: 0.87 recall</a:t>
            </a:r>
            <a:endParaRPr lang="en-US" sz="1100" dirty="0"/>
          </a:p>
        </p:txBody>
      </p:sp>
      <p:sp>
        <p:nvSpPr>
          <p:cNvPr id="20" name="Text 18"/>
          <p:cNvSpPr/>
          <p:nvPr/>
        </p:nvSpPr>
        <p:spPr>
          <a:xfrm>
            <a:off x="6537960" y="2743200"/>
            <a:ext cx="228600" cy="457200"/>
          </a:xfrm>
          <a:prstGeom prst="rect">
            <a:avLst/>
          </a:prstGeom>
          <a:noFill/>
        </p:spPr>
        <p:txBody>
          <a:bodyPr wrap="square" lIns="0" tIns="0" rIns="0" bIns="0" rtlCol="0" anchor="ctr"/>
          <a:lstStyle/>
          <a:p>
            <a:pPr marL="0" indent="0">
              <a:buNone/>
            </a:pPr>
            <a:r>
              <a:rPr lang="en-US" sz="1300" b="1" dirty="0">
                <a:solidFill>
                  <a:srgbClr val="6B7BC4"/>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21" name="Text 19"/>
          <p:cNvSpPr/>
          <p:nvPr/>
        </p:nvSpPr>
        <p:spPr>
          <a:xfrm>
            <a:off x="6793992" y="2743200"/>
            <a:ext cx="4617720" cy="457200"/>
          </a:xfrm>
          <a:prstGeom prst="rect">
            <a:avLst/>
          </a:prstGeom>
          <a:noFill/>
        </p:spPr>
        <p:txBody>
          <a:bodyPr wrap="square" lIns="0" tIns="0" rIns="0" bIns="0" rtlCol="0" anchor="ctr"/>
          <a:lstStyle/>
          <a:p>
            <a:pPr marL="0" indent="0">
              <a:lnSpc>
                <a:spcPct val="115000"/>
              </a:lnSpc>
              <a:buNone/>
            </a:pPr>
            <a:r>
              <a:rPr lang="en-US" sz="1100" dirty="0">
                <a:solidFill>
                  <a:srgbClr val="1B1F3B"/>
                </a:solidFill>
                <a:latin typeface="Calibri" panose="020F0502020204030204" pitchFamily="34" charset="0"/>
                <a:ea typeface="Calibri" panose="020F0502020204030204" pitchFamily="34" charset="-122"/>
                <a:cs typeface="Calibri" panose="020F0502020204030204" pitchFamily="34" charset="-120"/>
              </a:rPr>
              <a:t>Random Forest &amp; XGBoost all most same at 0.96–0.97 recall</a:t>
            </a:r>
            <a:endParaRPr lang="en-US" sz="1100" dirty="0"/>
          </a:p>
        </p:txBody>
      </p:sp>
      <p:sp>
        <p:nvSpPr>
          <p:cNvPr id="22" name="Text 20"/>
          <p:cNvSpPr/>
          <p:nvPr/>
        </p:nvSpPr>
        <p:spPr>
          <a:xfrm>
            <a:off x="6537960" y="3227832"/>
            <a:ext cx="228600" cy="457200"/>
          </a:xfrm>
          <a:prstGeom prst="rect">
            <a:avLst/>
          </a:prstGeom>
          <a:noFill/>
        </p:spPr>
        <p:txBody>
          <a:bodyPr wrap="square" lIns="0" tIns="0" rIns="0" bIns="0" rtlCol="0" anchor="ctr"/>
          <a:lstStyle/>
          <a:p>
            <a:pPr marL="0" indent="0">
              <a:buNone/>
            </a:pPr>
            <a:r>
              <a:rPr lang="en-US" sz="1300" b="1" dirty="0">
                <a:solidFill>
                  <a:srgbClr val="6B7BC4"/>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23" name="Text 21"/>
          <p:cNvSpPr/>
          <p:nvPr/>
        </p:nvSpPr>
        <p:spPr>
          <a:xfrm>
            <a:off x="6793992" y="3227832"/>
            <a:ext cx="4617720" cy="457200"/>
          </a:xfrm>
          <a:prstGeom prst="rect">
            <a:avLst/>
          </a:prstGeom>
          <a:noFill/>
        </p:spPr>
        <p:txBody>
          <a:bodyPr wrap="square" lIns="0" tIns="0" rIns="0" bIns="0" rtlCol="0" anchor="ctr"/>
          <a:lstStyle/>
          <a:p>
            <a:pPr marL="0" indent="0">
              <a:lnSpc>
                <a:spcPct val="115000"/>
              </a:lnSpc>
              <a:buNone/>
            </a:pPr>
            <a:r>
              <a:rPr lang="en-US" sz="1100" dirty="0">
                <a:solidFill>
                  <a:srgbClr val="1B1F3B"/>
                </a:solidFill>
                <a:latin typeface="Calibri" panose="020F0502020204030204" pitchFamily="34" charset="0"/>
                <a:ea typeface="Calibri" panose="020F0502020204030204" pitchFamily="34" charset="-122"/>
                <a:cs typeface="Calibri" panose="020F0502020204030204" pitchFamily="34" charset="-120"/>
              </a:rPr>
              <a:t>Stratified split kept fraud ratio fair across train/test</a:t>
            </a:r>
            <a:endParaRPr lang="en-US" sz="1100" dirty="0"/>
          </a:p>
        </p:txBody>
      </p:sp>
      <p:sp>
        <p:nvSpPr>
          <p:cNvPr id="24" name="Shape 22"/>
          <p:cNvSpPr/>
          <p:nvPr/>
        </p:nvSpPr>
        <p:spPr>
          <a:xfrm>
            <a:off x="548640" y="3977640"/>
            <a:ext cx="5440680" cy="2148840"/>
          </a:xfrm>
          <a:prstGeom prst="roundRect">
            <a:avLst>
              <a:gd name="adj" fmla="val 4255"/>
            </a:avLst>
          </a:prstGeom>
          <a:solidFill>
            <a:srgbClr val="F4F6FC"/>
          </a:solidFill>
          <a:effectLst>
            <a:outerShdw blurRad="63500" dist="25400" dir="5400000" algn="bl" rotWithShape="0">
              <a:srgbClr val="1E2761">
                <a:alpha val="10000"/>
              </a:srgbClr>
            </a:outerShdw>
          </a:effectLst>
        </p:spPr>
      </p:sp>
      <p:sp>
        <p:nvSpPr>
          <p:cNvPr id="25" name="Shape 23"/>
          <p:cNvSpPr/>
          <p:nvPr/>
        </p:nvSpPr>
        <p:spPr>
          <a:xfrm>
            <a:off x="548640" y="3977640"/>
            <a:ext cx="82296" cy="2148840"/>
          </a:xfrm>
          <a:prstGeom prst="rect">
            <a:avLst/>
          </a:prstGeom>
          <a:solidFill>
            <a:srgbClr val="1E8E5A"/>
          </a:solidFill>
        </p:spPr>
      </p:sp>
      <p:sp>
        <p:nvSpPr>
          <p:cNvPr id="26" name="Shape 24"/>
          <p:cNvSpPr/>
          <p:nvPr/>
        </p:nvSpPr>
        <p:spPr>
          <a:xfrm>
            <a:off x="822960" y="4178808"/>
            <a:ext cx="1554480" cy="329184"/>
          </a:xfrm>
          <a:prstGeom prst="roundRect">
            <a:avLst>
              <a:gd name="adj" fmla="val 50000"/>
            </a:avLst>
          </a:prstGeom>
          <a:solidFill>
            <a:srgbClr val="1E8E5A"/>
          </a:solidFill>
        </p:spPr>
      </p:sp>
      <p:sp>
        <p:nvSpPr>
          <p:cNvPr id="27" name="Text 25"/>
          <p:cNvSpPr/>
          <p:nvPr/>
        </p:nvSpPr>
        <p:spPr>
          <a:xfrm>
            <a:off x="822960" y="4178808"/>
            <a:ext cx="1554480" cy="329184"/>
          </a:xfrm>
          <a:prstGeom prst="rect">
            <a:avLst/>
          </a:prstGeom>
          <a:noFill/>
        </p:spPr>
        <p:txBody>
          <a:bodyPr wrap="square" lIns="0" tIns="0" rIns="0" bIns="0" rtlCol="0" anchor="ctr"/>
          <a:lstStyle/>
          <a:p>
            <a:pPr marL="0" indent="0" algn="ctr">
              <a:buNone/>
            </a:pPr>
            <a:r>
              <a:rPr lang="en-US" sz="105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VALIDATION</a:t>
            </a:r>
            <a:endParaRPr lang="en-US" sz="1050" dirty="0"/>
          </a:p>
        </p:txBody>
      </p:sp>
      <p:sp>
        <p:nvSpPr>
          <p:cNvPr id="28" name="Text 26"/>
          <p:cNvSpPr/>
          <p:nvPr/>
        </p:nvSpPr>
        <p:spPr>
          <a:xfrm>
            <a:off x="822960" y="4636008"/>
            <a:ext cx="228600" cy="457200"/>
          </a:xfrm>
          <a:prstGeom prst="rect">
            <a:avLst/>
          </a:prstGeom>
          <a:noFill/>
        </p:spPr>
        <p:txBody>
          <a:bodyPr wrap="square" lIns="0" tIns="0" rIns="0" bIns="0" rtlCol="0" anchor="ctr"/>
          <a:lstStyle/>
          <a:p>
            <a:pPr marL="0" indent="0">
              <a:buNone/>
            </a:pPr>
            <a:r>
              <a:rPr lang="en-US" sz="1300" b="1" dirty="0">
                <a:solidFill>
                  <a:srgbClr val="1E8E5A"/>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29" name="Text 27"/>
          <p:cNvSpPr/>
          <p:nvPr/>
        </p:nvSpPr>
        <p:spPr>
          <a:xfrm>
            <a:off x="1078992" y="4636008"/>
            <a:ext cx="4617720" cy="457200"/>
          </a:xfrm>
          <a:prstGeom prst="rect">
            <a:avLst/>
          </a:prstGeom>
          <a:noFill/>
        </p:spPr>
        <p:txBody>
          <a:bodyPr wrap="square" lIns="0" tIns="0" rIns="0" bIns="0" rtlCol="0" anchor="ctr"/>
          <a:lstStyle/>
          <a:p>
            <a:pPr marL="0" indent="0">
              <a:lnSpc>
                <a:spcPct val="115000"/>
              </a:lnSpc>
              <a:buNone/>
            </a:pPr>
            <a:r>
              <a:rPr lang="en-US" sz="1100" dirty="0">
                <a:solidFill>
                  <a:srgbClr val="1B1F3B"/>
                </a:solidFill>
                <a:latin typeface="Calibri" panose="020F0502020204030204" pitchFamily="34" charset="0"/>
                <a:ea typeface="Calibri" panose="020F0502020204030204" pitchFamily="34" charset="-122"/>
                <a:cs typeface="Calibri" panose="020F0502020204030204" pitchFamily="34" charset="-120"/>
              </a:rPr>
              <a:t>No overfitting </a:t>
            </a:r>
            <a:endParaRPr lang="en-US" sz="1100" dirty="0"/>
          </a:p>
        </p:txBody>
      </p:sp>
      <p:sp>
        <p:nvSpPr>
          <p:cNvPr id="30" name="Text 28"/>
          <p:cNvSpPr/>
          <p:nvPr/>
        </p:nvSpPr>
        <p:spPr>
          <a:xfrm>
            <a:off x="822960" y="5120640"/>
            <a:ext cx="228600" cy="457200"/>
          </a:xfrm>
          <a:prstGeom prst="rect">
            <a:avLst/>
          </a:prstGeom>
          <a:noFill/>
        </p:spPr>
        <p:txBody>
          <a:bodyPr wrap="square" lIns="0" tIns="0" rIns="0" bIns="0" rtlCol="0" anchor="ctr"/>
          <a:lstStyle/>
          <a:p>
            <a:pPr marL="0" indent="0">
              <a:buNone/>
            </a:pPr>
            <a:r>
              <a:rPr lang="en-US" sz="1300" b="1" dirty="0">
                <a:solidFill>
                  <a:srgbClr val="1E8E5A"/>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31" name="Text 29"/>
          <p:cNvSpPr/>
          <p:nvPr/>
        </p:nvSpPr>
        <p:spPr>
          <a:xfrm>
            <a:off x="1078992" y="5120640"/>
            <a:ext cx="4617720" cy="457200"/>
          </a:xfrm>
          <a:prstGeom prst="rect">
            <a:avLst/>
          </a:prstGeom>
          <a:noFill/>
        </p:spPr>
        <p:txBody>
          <a:bodyPr wrap="square" lIns="0" tIns="0" rIns="0" bIns="0" rtlCol="0" anchor="ctr"/>
          <a:lstStyle/>
          <a:p>
            <a:pPr marL="0" indent="0">
              <a:lnSpc>
                <a:spcPct val="115000"/>
              </a:lnSpc>
              <a:buNone/>
            </a:pPr>
            <a:r>
              <a:rPr lang="en-US" sz="1100" dirty="0">
                <a:solidFill>
                  <a:srgbClr val="1B1F3B"/>
                </a:solidFill>
                <a:latin typeface="Calibri" panose="020F0502020204030204" pitchFamily="34" charset="0"/>
                <a:ea typeface="Calibri" panose="020F0502020204030204" pitchFamily="34" charset="-122"/>
                <a:cs typeface="Calibri" panose="020F0502020204030204" pitchFamily="34" charset="-120"/>
              </a:rPr>
              <a:t> leakage found and removed risky features</a:t>
            </a:r>
            <a:endParaRPr lang="en-US" sz="1100" dirty="0"/>
          </a:p>
        </p:txBody>
      </p:sp>
      <p:sp>
        <p:nvSpPr>
          <p:cNvPr id="33" name="Text 31"/>
          <p:cNvSpPr/>
          <p:nvPr/>
        </p:nvSpPr>
        <p:spPr>
          <a:xfrm>
            <a:off x="1078992" y="5605272"/>
            <a:ext cx="4617720" cy="457200"/>
          </a:xfrm>
          <a:prstGeom prst="rect">
            <a:avLst/>
          </a:prstGeom>
          <a:noFill/>
        </p:spPr>
        <p:txBody>
          <a:bodyPr wrap="square" lIns="0" tIns="0" rIns="0" bIns="0" rtlCol="0" anchor="ctr"/>
          <a:lstStyle/>
          <a:p>
            <a:pPr marL="0" indent="0">
              <a:lnSpc>
                <a:spcPct val="115000"/>
              </a:lnSpc>
              <a:buNone/>
            </a:pPr>
            <a:endParaRPr lang="en-US" sz="1100" dirty="0"/>
          </a:p>
        </p:txBody>
      </p:sp>
      <p:sp>
        <p:nvSpPr>
          <p:cNvPr id="34" name="Shape 32"/>
          <p:cNvSpPr/>
          <p:nvPr/>
        </p:nvSpPr>
        <p:spPr>
          <a:xfrm>
            <a:off x="6263640" y="3977640"/>
            <a:ext cx="5440680" cy="2148840"/>
          </a:xfrm>
          <a:prstGeom prst="roundRect">
            <a:avLst>
              <a:gd name="adj" fmla="val 4255"/>
            </a:avLst>
          </a:prstGeom>
          <a:solidFill>
            <a:srgbClr val="F4F6FC"/>
          </a:solidFill>
          <a:effectLst>
            <a:outerShdw blurRad="63500" dist="25400" dir="5400000" algn="bl" rotWithShape="0">
              <a:srgbClr val="1E2761">
                <a:alpha val="10000"/>
              </a:srgbClr>
            </a:outerShdw>
          </a:effectLst>
        </p:spPr>
      </p:sp>
      <p:sp>
        <p:nvSpPr>
          <p:cNvPr id="35" name="Shape 33"/>
          <p:cNvSpPr/>
          <p:nvPr/>
        </p:nvSpPr>
        <p:spPr>
          <a:xfrm>
            <a:off x="6263640" y="3977640"/>
            <a:ext cx="82296" cy="2148840"/>
          </a:xfrm>
          <a:prstGeom prst="rect">
            <a:avLst/>
          </a:prstGeom>
          <a:solidFill>
            <a:srgbClr val="C0392B"/>
          </a:solidFill>
        </p:spPr>
      </p:sp>
      <p:sp>
        <p:nvSpPr>
          <p:cNvPr id="36" name="Shape 34"/>
          <p:cNvSpPr/>
          <p:nvPr/>
        </p:nvSpPr>
        <p:spPr>
          <a:xfrm>
            <a:off x="6537960" y="4178935"/>
            <a:ext cx="1554480" cy="328930"/>
          </a:xfrm>
          <a:prstGeom prst="roundRect">
            <a:avLst>
              <a:gd name="adj" fmla="val 50000"/>
            </a:avLst>
          </a:prstGeom>
          <a:solidFill>
            <a:srgbClr val="C0392B"/>
          </a:solidFill>
        </p:spPr>
        <p:txBody>
          <a:bodyPr/>
          <a:p>
            <a:r>
              <a:rPr lang="en-US" altLang="en-US" sz="1600" b="1">
                <a:solidFill>
                  <a:schemeClr val="bg1"/>
                </a:solidFill>
              </a:rPr>
              <a:t>DEPLOYMEN</a:t>
            </a:r>
            <a:r>
              <a:rPr lang="en-US" altLang="en-US" b="1">
                <a:solidFill>
                  <a:schemeClr val="bg1"/>
                </a:solidFill>
              </a:rPr>
              <a:t>T</a:t>
            </a:r>
            <a:endParaRPr lang="en-US" altLang="en-US" b="1">
              <a:solidFill>
                <a:schemeClr val="bg1"/>
              </a:solidFill>
            </a:endParaRPr>
          </a:p>
        </p:txBody>
      </p:sp>
      <p:sp>
        <p:nvSpPr>
          <p:cNvPr id="37" name="Text 35"/>
          <p:cNvSpPr/>
          <p:nvPr/>
        </p:nvSpPr>
        <p:spPr>
          <a:xfrm flipV="1">
            <a:off x="8778240" y="4178935"/>
            <a:ext cx="1318895" cy="234950"/>
          </a:xfrm>
          <a:prstGeom prst="rect">
            <a:avLst/>
          </a:prstGeom>
          <a:noFill/>
        </p:spPr>
        <p:txBody>
          <a:bodyPr wrap="square" lIns="0" tIns="0" rIns="0" bIns="0" rtlCol="0" anchor="ctr"/>
          <a:lstStyle/>
          <a:p>
            <a:pPr marL="0" indent="0" algn="ctr">
              <a:buNone/>
            </a:pPr>
            <a:endParaRPr lang="en-US" sz="1050" dirty="0"/>
          </a:p>
        </p:txBody>
      </p:sp>
      <p:sp>
        <p:nvSpPr>
          <p:cNvPr id="38" name="Text 36"/>
          <p:cNvSpPr/>
          <p:nvPr/>
        </p:nvSpPr>
        <p:spPr>
          <a:xfrm>
            <a:off x="6537960" y="4636008"/>
            <a:ext cx="228600" cy="457200"/>
          </a:xfrm>
          <a:prstGeom prst="rect">
            <a:avLst/>
          </a:prstGeom>
          <a:noFill/>
        </p:spPr>
        <p:txBody>
          <a:bodyPr wrap="square" lIns="0" tIns="0" rIns="0" bIns="0" rtlCol="0" anchor="ctr"/>
          <a:lstStyle/>
          <a:p>
            <a:pPr marL="0" indent="0">
              <a:buNone/>
            </a:pPr>
            <a:r>
              <a:rPr lang="en-US" sz="1300" b="1" dirty="0">
                <a:solidFill>
                  <a:srgbClr val="C0392B"/>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39" name="Text 37"/>
          <p:cNvSpPr/>
          <p:nvPr/>
        </p:nvSpPr>
        <p:spPr>
          <a:xfrm>
            <a:off x="6793992" y="4636008"/>
            <a:ext cx="4617720" cy="457200"/>
          </a:xfrm>
          <a:prstGeom prst="rect">
            <a:avLst/>
          </a:prstGeom>
          <a:noFill/>
        </p:spPr>
        <p:txBody>
          <a:bodyPr wrap="square" lIns="0" tIns="0" rIns="0" bIns="0" rtlCol="0" anchor="ctr"/>
          <a:lstStyle/>
          <a:p>
            <a:pPr marL="0" indent="0">
              <a:lnSpc>
                <a:spcPct val="115000"/>
              </a:lnSpc>
              <a:buNone/>
            </a:pPr>
            <a:r>
              <a:rPr lang="en-US" sz="1100" dirty="0">
                <a:solidFill>
                  <a:srgbClr val="1B1F3B"/>
                </a:solidFill>
                <a:latin typeface="Calibri" panose="020F0502020204030204" pitchFamily="34" charset="0"/>
                <a:ea typeface="Calibri" panose="020F0502020204030204" pitchFamily="34" charset="-122"/>
                <a:cs typeface="Calibri" panose="020F0502020204030204" pitchFamily="34" charset="-120"/>
              </a:rPr>
              <a:t>Model uses only pre-transaction, real-time-available data</a:t>
            </a:r>
            <a:endParaRPr lang="en-US" sz="1100" dirty="0"/>
          </a:p>
        </p:txBody>
      </p:sp>
      <p:sp>
        <p:nvSpPr>
          <p:cNvPr id="40" name="Text 38"/>
          <p:cNvSpPr/>
          <p:nvPr/>
        </p:nvSpPr>
        <p:spPr>
          <a:xfrm>
            <a:off x="6537960" y="5120640"/>
            <a:ext cx="228600" cy="457200"/>
          </a:xfrm>
          <a:prstGeom prst="rect">
            <a:avLst/>
          </a:prstGeom>
          <a:noFill/>
        </p:spPr>
        <p:txBody>
          <a:bodyPr wrap="square" lIns="0" tIns="0" rIns="0" bIns="0" rtlCol="0" anchor="ctr"/>
          <a:lstStyle/>
          <a:p>
            <a:pPr marL="0" indent="0">
              <a:buNone/>
            </a:pPr>
            <a:r>
              <a:rPr lang="en-US" sz="1300" b="1" dirty="0">
                <a:solidFill>
                  <a:srgbClr val="C0392B"/>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41" name="Text 39"/>
          <p:cNvSpPr/>
          <p:nvPr/>
        </p:nvSpPr>
        <p:spPr>
          <a:xfrm>
            <a:off x="6793992" y="5120640"/>
            <a:ext cx="4617720" cy="457200"/>
          </a:xfrm>
          <a:prstGeom prst="rect">
            <a:avLst/>
          </a:prstGeom>
          <a:noFill/>
        </p:spPr>
        <p:txBody>
          <a:bodyPr wrap="square" lIns="0" tIns="0" rIns="0" bIns="0" rtlCol="0" anchor="ctr"/>
          <a:lstStyle/>
          <a:p>
            <a:pPr marL="0" indent="0">
              <a:lnSpc>
                <a:spcPct val="115000"/>
              </a:lnSpc>
              <a:buNone/>
            </a:pPr>
            <a:r>
              <a:rPr lang="en-US" sz="1100" dirty="0">
                <a:solidFill>
                  <a:srgbClr val="1B1F3B"/>
                </a:solidFill>
                <a:latin typeface="Calibri" panose="020F0502020204030204" pitchFamily="34" charset="0"/>
                <a:ea typeface="Calibri" panose="020F0502020204030204" pitchFamily="34" charset="-122"/>
                <a:cs typeface="Calibri" panose="020F0502020204030204" pitchFamily="34" charset="-120"/>
              </a:rPr>
              <a:t>25 false alarms; only 4 of 228 frauds missed in testing</a:t>
            </a:r>
            <a:endParaRPr lang="en-US" sz="1100" dirty="0"/>
          </a:p>
        </p:txBody>
      </p:sp>
      <p:sp>
        <p:nvSpPr>
          <p:cNvPr id="42" name="Text 40"/>
          <p:cNvSpPr/>
          <p:nvPr/>
        </p:nvSpPr>
        <p:spPr>
          <a:xfrm>
            <a:off x="6537960" y="5605272"/>
            <a:ext cx="228600" cy="457200"/>
          </a:xfrm>
          <a:prstGeom prst="rect">
            <a:avLst/>
          </a:prstGeom>
          <a:noFill/>
        </p:spPr>
        <p:txBody>
          <a:bodyPr wrap="square" lIns="0" tIns="0" rIns="0" bIns="0" rtlCol="0" anchor="ctr"/>
          <a:lstStyle/>
          <a:p>
            <a:pPr marL="0" indent="0">
              <a:buNone/>
            </a:pPr>
            <a:r>
              <a:rPr lang="en-US" sz="1300" b="1" dirty="0">
                <a:solidFill>
                  <a:srgbClr val="C0392B"/>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43" name="Text 41"/>
          <p:cNvSpPr/>
          <p:nvPr/>
        </p:nvSpPr>
        <p:spPr>
          <a:xfrm>
            <a:off x="6793992" y="5605272"/>
            <a:ext cx="4617720" cy="457200"/>
          </a:xfrm>
          <a:prstGeom prst="rect">
            <a:avLst/>
          </a:prstGeom>
          <a:noFill/>
        </p:spPr>
        <p:txBody>
          <a:bodyPr wrap="square" lIns="0" tIns="0" rIns="0" bIns="0" rtlCol="0" anchor="ctr"/>
          <a:lstStyle/>
          <a:p>
            <a:pPr marL="0" indent="0">
              <a:lnSpc>
                <a:spcPct val="115000"/>
              </a:lnSpc>
              <a:buNone/>
            </a:pPr>
            <a:r>
              <a:rPr lang="en-US" sz="1100" dirty="0">
                <a:solidFill>
                  <a:srgbClr val="1B1F3B"/>
                </a:solidFill>
                <a:latin typeface="Calibri" panose="020F0502020204030204" pitchFamily="34" charset="0"/>
                <a:ea typeface="Calibri" panose="020F0502020204030204" pitchFamily="34" charset="-122"/>
                <a:cs typeface="Calibri" panose="020F0502020204030204" pitchFamily="34" charset="-120"/>
              </a:rPr>
              <a:t>Random Forest: best balance of accuracy and simplicity</a:t>
            </a:r>
            <a:endParaRPr lang="en-US" sz="1100" dirty="0"/>
          </a:p>
        </p:txBody>
      </p:sp>
      <p:sp>
        <p:nvSpPr>
          <p:cNvPr id="44" name="Text 42"/>
          <p:cNvSpPr/>
          <p:nvPr/>
        </p:nvSpPr>
        <p:spPr>
          <a:xfrm>
            <a:off x="457200" y="6537960"/>
            <a:ext cx="5486400" cy="274320"/>
          </a:xfrm>
          <a:prstGeom prst="rect">
            <a:avLst/>
          </a:prstGeom>
          <a:noFill/>
        </p:spPr>
        <p:txBody>
          <a:bodyPr wrap="square" lIns="0" tIns="0" rIns="0" bIns="0" rtlCol="0" anchor="ctr"/>
          <a:lstStyle/>
          <a:p>
            <a:pPr marL="0" indent="0" algn="l">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DETECTION ML PIPELINE</a:t>
            </a:r>
            <a:endParaRPr lang="en-US" sz="900" dirty="0"/>
          </a:p>
        </p:txBody>
      </p:sp>
      <p:sp>
        <p:nvSpPr>
          <p:cNvPr id="45" name="Text 43"/>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lIns="0" tIns="0" rIns="0" bIns="0" rtlCol="0" anchor="ctr"/>
          <a:lstStyle/>
          <a:p>
            <a:pPr marL="0" indent="0">
              <a:buNone/>
            </a:pPr>
            <a:r>
              <a:rPr lang="en-US" sz="3200" b="1" dirty="0">
                <a:solidFill>
                  <a:srgbClr val="1E2761"/>
                </a:solidFill>
                <a:latin typeface="Cambria" panose="02040503050406030204" pitchFamily="34" charset="0"/>
                <a:ea typeface="Cambria" panose="02040503050406030204" pitchFamily="34" charset="-122"/>
                <a:cs typeface="Cambria" panose="02040503050406030204" pitchFamily="34" charset="-120"/>
              </a:rPr>
              <a:t>Deployment Architecture</a:t>
            </a:r>
            <a:endParaRPr lang="en-US" sz="3200" dirty="0"/>
          </a:p>
        </p:txBody>
      </p:sp>
      <p:sp>
        <p:nvSpPr>
          <p:cNvPr id="3" name="Text 1"/>
          <p:cNvSpPr/>
          <p:nvPr/>
        </p:nvSpPr>
        <p:spPr>
          <a:xfrm>
            <a:off x="548640" y="1005840"/>
            <a:ext cx="9144000" cy="365760"/>
          </a:xfrm>
          <a:prstGeom prst="rect">
            <a:avLst/>
          </a:prstGeom>
          <a:noFill/>
        </p:spPr>
        <p:txBody>
          <a:bodyPr wrap="square" lIns="0" tIns="0" rIns="0" bIns="0" rtlCol="0" anchor="ctr"/>
          <a:lstStyle/>
          <a:p>
            <a:pPr marL="0" indent="0">
              <a:buNone/>
            </a:pPr>
            <a:r>
              <a:rPr lang="en-US" sz="1300" dirty="0">
                <a:solidFill>
                  <a:srgbClr val="5A6285"/>
                </a:solidFill>
                <a:latin typeface="Calibri" panose="020F0502020204030204" pitchFamily="34" charset="0"/>
                <a:ea typeface="Calibri" panose="020F0502020204030204" pitchFamily="34" charset="-122"/>
                <a:cs typeface="Calibri" panose="020F0502020204030204" pitchFamily="34" charset="-120"/>
              </a:rPr>
              <a:t>Training and inference are two separate, independent phases</a:t>
            </a:r>
            <a:endParaRPr lang="en-US" sz="1300" dirty="0"/>
          </a:p>
        </p:txBody>
      </p:sp>
      <p:sp>
        <p:nvSpPr>
          <p:cNvPr id="4" name="Shape 2"/>
          <p:cNvSpPr/>
          <p:nvPr/>
        </p:nvSpPr>
        <p:spPr>
          <a:xfrm>
            <a:off x="548640" y="1737360"/>
            <a:ext cx="5394960" cy="4297680"/>
          </a:xfrm>
          <a:prstGeom prst="roundRect">
            <a:avLst>
              <a:gd name="adj" fmla="val 2553"/>
            </a:avLst>
          </a:prstGeom>
          <a:solidFill>
            <a:srgbClr val="F4F6FC"/>
          </a:solidFill>
        </p:spPr>
      </p:sp>
      <p:sp>
        <p:nvSpPr>
          <p:cNvPr id="5" name="Shape 3"/>
          <p:cNvSpPr/>
          <p:nvPr/>
        </p:nvSpPr>
        <p:spPr>
          <a:xfrm>
            <a:off x="822960" y="1965960"/>
            <a:ext cx="2011680" cy="365760"/>
          </a:xfrm>
          <a:prstGeom prst="roundRect">
            <a:avLst>
              <a:gd name="adj" fmla="val 50000"/>
            </a:avLst>
          </a:prstGeom>
          <a:solidFill>
            <a:srgbClr val="1E2761"/>
          </a:solidFill>
        </p:spPr>
      </p:sp>
      <p:sp>
        <p:nvSpPr>
          <p:cNvPr id="6" name="Text 4"/>
          <p:cNvSpPr/>
          <p:nvPr/>
        </p:nvSpPr>
        <p:spPr>
          <a:xfrm>
            <a:off x="822960" y="1965960"/>
            <a:ext cx="20116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PHASE 1 · TRAINING</a:t>
            </a:r>
            <a:endParaRPr lang="en-US" sz="1000" dirty="0"/>
          </a:p>
        </p:txBody>
      </p:sp>
      <p:sp>
        <p:nvSpPr>
          <p:cNvPr id="7" name="Text 5"/>
          <p:cNvSpPr/>
          <p:nvPr/>
        </p:nvSpPr>
        <p:spPr>
          <a:xfrm>
            <a:off x="822960" y="2468880"/>
            <a:ext cx="4846320" cy="411480"/>
          </a:xfrm>
          <a:prstGeom prst="rect">
            <a:avLst/>
          </a:prstGeom>
          <a:noFill/>
        </p:spPr>
        <p:txBody>
          <a:bodyPr wrap="square" lIns="0" tIns="0" rIns="0" bIns="0" rtlCol="0" anchor="ctr"/>
          <a:lstStyle/>
          <a:p>
            <a:pPr marL="0" indent="0">
              <a:buNone/>
            </a:pPr>
            <a:r>
              <a:rPr lang="en-US" sz="1700" b="1" dirty="0">
                <a:solidFill>
                  <a:srgbClr val="1E2761"/>
                </a:solidFill>
                <a:latin typeface="Cambria" panose="02040503050406030204" pitchFamily="34" charset="0"/>
                <a:ea typeface="Cambria" panose="02040503050406030204" pitchFamily="34" charset="-122"/>
                <a:cs typeface="Cambria" panose="02040503050406030204" pitchFamily="34" charset="-120"/>
              </a:rPr>
              <a:t>Spyder / Jupyter Notebook</a:t>
            </a:r>
            <a:endParaRPr lang="en-US" sz="1700" dirty="0"/>
          </a:p>
        </p:txBody>
      </p:sp>
      <p:sp>
        <p:nvSpPr>
          <p:cNvPr id="8" name="Shape 6"/>
          <p:cNvSpPr/>
          <p:nvPr/>
        </p:nvSpPr>
        <p:spPr>
          <a:xfrm>
            <a:off x="950976" y="2999232"/>
            <a:ext cx="292608" cy="292608"/>
          </a:xfrm>
          <a:prstGeom prst="ellipse">
            <a:avLst/>
          </a:prstGeom>
          <a:solidFill>
            <a:srgbClr val="1E2761"/>
          </a:solidFill>
        </p:spPr>
      </p:sp>
      <p:sp>
        <p:nvSpPr>
          <p:cNvPr id="9" name="Text 7"/>
          <p:cNvSpPr/>
          <p:nvPr/>
        </p:nvSpPr>
        <p:spPr>
          <a:xfrm>
            <a:off x="950976" y="2999232"/>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100" dirty="0"/>
          </a:p>
        </p:txBody>
      </p:sp>
      <p:sp>
        <p:nvSpPr>
          <p:cNvPr id="10" name="Text 8"/>
          <p:cNvSpPr/>
          <p:nvPr/>
        </p:nvSpPr>
        <p:spPr>
          <a:xfrm>
            <a:off x="1417320" y="3017520"/>
            <a:ext cx="4343400" cy="457200"/>
          </a:xfrm>
          <a:prstGeom prst="rect">
            <a:avLst/>
          </a:prstGeom>
          <a:noFill/>
        </p:spPr>
        <p:txBody>
          <a:bodyPr wrap="square" lIns="0" tIns="0" rIns="0" bIns="0" rtlCol="0" anchor="ctr"/>
          <a:lstStyle/>
          <a:p>
            <a:pPr marL="0" indent="0">
              <a:buNone/>
            </a:pPr>
            <a:r>
              <a:rPr lang="en-US" sz="1150" dirty="0">
                <a:solidFill>
                  <a:srgbClr val="1B1F3B"/>
                </a:solidFill>
                <a:latin typeface="Calibri" panose="020F0502020204030204" pitchFamily="34" charset="0"/>
                <a:ea typeface="Calibri" panose="020F0502020204030204" pitchFamily="34" charset="-122"/>
                <a:cs typeface="Calibri" panose="020F0502020204030204" pitchFamily="34" charset="-120"/>
              </a:rPr>
              <a:t>MySQL database → SQLAlchemy + PyMySQL</a:t>
            </a:r>
            <a:endParaRPr lang="en-US" sz="1150" dirty="0"/>
          </a:p>
        </p:txBody>
      </p:sp>
      <p:sp>
        <p:nvSpPr>
          <p:cNvPr id="11" name="Shape 9"/>
          <p:cNvSpPr/>
          <p:nvPr/>
        </p:nvSpPr>
        <p:spPr>
          <a:xfrm>
            <a:off x="950976" y="3502152"/>
            <a:ext cx="292608" cy="292608"/>
          </a:xfrm>
          <a:prstGeom prst="ellipse">
            <a:avLst/>
          </a:prstGeom>
          <a:solidFill>
            <a:srgbClr val="1E2761"/>
          </a:solidFill>
        </p:spPr>
      </p:sp>
      <p:sp>
        <p:nvSpPr>
          <p:cNvPr id="12" name="Text 10"/>
          <p:cNvSpPr/>
          <p:nvPr/>
        </p:nvSpPr>
        <p:spPr>
          <a:xfrm>
            <a:off x="950976" y="3502152"/>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100" dirty="0"/>
          </a:p>
        </p:txBody>
      </p:sp>
      <p:sp>
        <p:nvSpPr>
          <p:cNvPr id="13" name="Text 11"/>
          <p:cNvSpPr/>
          <p:nvPr/>
        </p:nvSpPr>
        <p:spPr>
          <a:xfrm>
            <a:off x="1417320" y="3520440"/>
            <a:ext cx="4343400" cy="457200"/>
          </a:xfrm>
          <a:prstGeom prst="rect">
            <a:avLst/>
          </a:prstGeom>
          <a:noFill/>
        </p:spPr>
        <p:txBody>
          <a:bodyPr wrap="square" lIns="0" tIns="0" rIns="0" bIns="0" rtlCol="0" anchor="ctr"/>
          <a:lstStyle/>
          <a:p>
            <a:pPr marL="0" indent="0">
              <a:buNone/>
            </a:pPr>
            <a:r>
              <a:rPr lang="en-US" sz="1150" dirty="0">
                <a:solidFill>
                  <a:srgbClr val="1B1F3B"/>
                </a:solidFill>
                <a:latin typeface="Calibri" panose="020F0502020204030204" pitchFamily="34" charset="0"/>
                <a:ea typeface="Calibri" panose="020F0502020204030204" pitchFamily="34" charset="-122"/>
                <a:cs typeface="Calibri" panose="020F0502020204030204" pitchFamily="34" charset="-120"/>
              </a:rPr>
              <a:t>Clean columns, drop IDs &amp; leaky features</a:t>
            </a:r>
            <a:endParaRPr lang="en-US" sz="1150" dirty="0"/>
          </a:p>
        </p:txBody>
      </p:sp>
      <p:sp>
        <p:nvSpPr>
          <p:cNvPr id="14" name="Shape 12"/>
          <p:cNvSpPr/>
          <p:nvPr/>
        </p:nvSpPr>
        <p:spPr>
          <a:xfrm>
            <a:off x="950976" y="4005072"/>
            <a:ext cx="292608" cy="292608"/>
          </a:xfrm>
          <a:prstGeom prst="ellipse">
            <a:avLst/>
          </a:prstGeom>
          <a:solidFill>
            <a:srgbClr val="1E2761"/>
          </a:solidFill>
        </p:spPr>
      </p:sp>
      <p:sp>
        <p:nvSpPr>
          <p:cNvPr id="15" name="Text 13"/>
          <p:cNvSpPr/>
          <p:nvPr/>
        </p:nvSpPr>
        <p:spPr>
          <a:xfrm>
            <a:off x="950976" y="4005072"/>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100" dirty="0"/>
          </a:p>
        </p:txBody>
      </p:sp>
      <p:sp>
        <p:nvSpPr>
          <p:cNvPr id="16" name="Text 14"/>
          <p:cNvSpPr/>
          <p:nvPr/>
        </p:nvSpPr>
        <p:spPr>
          <a:xfrm>
            <a:off x="1417320" y="4023360"/>
            <a:ext cx="4343400" cy="457200"/>
          </a:xfrm>
          <a:prstGeom prst="rect">
            <a:avLst/>
          </a:prstGeom>
          <a:noFill/>
        </p:spPr>
        <p:txBody>
          <a:bodyPr wrap="square" lIns="0" tIns="0" rIns="0" bIns="0" rtlCol="0" anchor="ctr"/>
          <a:lstStyle/>
          <a:p>
            <a:pPr marL="0" indent="0">
              <a:buNone/>
            </a:pPr>
            <a:r>
              <a:rPr lang="en-US" sz="1150" dirty="0">
                <a:solidFill>
                  <a:srgbClr val="1B1F3B"/>
                </a:solidFill>
                <a:latin typeface="Calibri" panose="020F0502020204030204" pitchFamily="34" charset="0"/>
                <a:ea typeface="Calibri" panose="020F0502020204030204" pitchFamily="34" charset="-122"/>
                <a:cs typeface="Calibri" panose="020F0502020204030204" pitchFamily="34" charset="-120"/>
              </a:rPr>
              <a:t>One-hot encode, scale, train/test split</a:t>
            </a:r>
            <a:endParaRPr lang="en-US" sz="1150" dirty="0"/>
          </a:p>
        </p:txBody>
      </p:sp>
      <p:sp>
        <p:nvSpPr>
          <p:cNvPr id="17" name="Shape 15"/>
          <p:cNvSpPr/>
          <p:nvPr/>
        </p:nvSpPr>
        <p:spPr>
          <a:xfrm>
            <a:off x="950976" y="4507992"/>
            <a:ext cx="292608" cy="292608"/>
          </a:xfrm>
          <a:prstGeom prst="ellipse">
            <a:avLst/>
          </a:prstGeom>
          <a:solidFill>
            <a:srgbClr val="1E2761"/>
          </a:solidFill>
        </p:spPr>
      </p:sp>
      <p:sp>
        <p:nvSpPr>
          <p:cNvPr id="18" name="Text 16"/>
          <p:cNvSpPr/>
          <p:nvPr/>
        </p:nvSpPr>
        <p:spPr>
          <a:xfrm>
            <a:off x="950976" y="4507992"/>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100" dirty="0"/>
          </a:p>
        </p:txBody>
      </p:sp>
      <p:sp>
        <p:nvSpPr>
          <p:cNvPr id="19" name="Text 17"/>
          <p:cNvSpPr/>
          <p:nvPr/>
        </p:nvSpPr>
        <p:spPr>
          <a:xfrm>
            <a:off x="1417320" y="4526280"/>
            <a:ext cx="4343400" cy="457200"/>
          </a:xfrm>
          <a:prstGeom prst="rect">
            <a:avLst/>
          </a:prstGeom>
          <a:noFill/>
        </p:spPr>
        <p:txBody>
          <a:bodyPr wrap="square" lIns="0" tIns="0" rIns="0" bIns="0" rtlCol="0" anchor="ctr"/>
          <a:lstStyle/>
          <a:p>
            <a:pPr marL="0" indent="0">
              <a:buNone/>
            </a:pPr>
            <a:r>
              <a:rPr lang="en-US" sz="1150" dirty="0">
                <a:solidFill>
                  <a:srgbClr val="1B1F3B"/>
                </a:solidFill>
                <a:latin typeface="Calibri" panose="020F0502020204030204" pitchFamily="34" charset="0"/>
                <a:ea typeface="Calibri" panose="020F0502020204030204" pitchFamily="34" charset="-122"/>
                <a:cs typeface="Calibri" panose="020F0502020204030204" pitchFamily="34" charset="-120"/>
              </a:rPr>
              <a:t>Fit RandomForestClassifier</a:t>
            </a:r>
            <a:endParaRPr lang="en-US" sz="1150" dirty="0"/>
          </a:p>
        </p:txBody>
      </p:sp>
      <p:sp>
        <p:nvSpPr>
          <p:cNvPr id="20" name="Shape 18"/>
          <p:cNvSpPr/>
          <p:nvPr/>
        </p:nvSpPr>
        <p:spPr>
          <a:xfrm>
            <a:off x="950976" y="5010912"/>
            <a:ext cx="292608" cy="292608"/>
          </a:xfrm>
          <a:prstGeom prst="ellipse">
            <a:avLst/>
          </a:prstGeom>
          <a:solidFill>
            <a:srgbClr val="1E2761"/>
          </a:solidFill>
        </p:spPr>
      </p:sp>
      <p:sp>
        <p:nvSpPr>
          <p:cNvPr id="21" name="Text 19"/>
          <p:cNvSpPr/>
          <p:nvPr/>
        </p:nvSpPr>
        <p:spPr>
          <a:xfrm>
            <a:off x="950976" y="5010912"/>
            <a:ext cx="292608" cy="292608"/>
          </a:xfrm>
          <a:prstGeom prst="rect">
            <a:avLst/>
          </a:prstGeom>
          <a:noFill/>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1100" dirty="0"/>
          </a:p>
        </p:txBody>
      </p:sp>
      <p:sp>
        <p:nvSpPr>
          <p:cNvPr id="22" name="Text 20"/>
          <p:cNvSpPr/>
          <p:nvPr/>
        </p:nvSpPr>
        <p:spPr>
          <a:xfrm>
            <a:off x="1417320" y="5029200"/>
            <a:ext cx="4343400" cy="457200"/>
          </a:xfrm>
          <a:prstGeom prst="rect">
            <a:avLst/>
          </a:prstGeom>
          <a:noFill/>
        </p:spPr>
        <p:txBody>
          <a:bodyPr wrap="square" lIns="0" tIns="0" rIns="0" bIns="0" rtlCol="0" anchor="ctr"/>
          <a:lstStyle/>
          <a:p>
            <a:pPr marL="0" indent="0">
              <a:buNone/>
            </a:pPr>
            <a:r>
              <a:rPr lang="en-US" sz="1150" dirty="0">
                <a:solidFill>
                  <a:srgbClr val="1B1F3B"/>
                </a:solidFill>
                <a:latin typeface="Calibri" panose="020F0502020204030204" pitchFamily="34" charset="0"/>
                <a:ea typeface="Calibri" panose="020F0502020204030204" pitchFamily="34" charset="-122"/>
                <a:cs typeface="Calibri" panose="020F0502020204030204" pitchFamily="34" charset="-120"/>
              </a:rPr>
              <a:t>Save model.pkl, scaler.pkl, columns.pkl</a:t>
            </a:r>
            <a:endParaRPr lang="en-US" sz="1150" dirty="0"/>
          </a:p>
        </p:txBody>
      </p:sp>
      <p:sp>
        <p:nvSpPr>
          <p:cNvPr id="23" name="Shape 21"/>
          <p:cNvSpPr/>
          <p:nvPr/>
        </p:nvSpPr>
        <p:spPr>
          <a:xfrm>
            <a:off x="6217920" y="1737360"/>
            <a:ext cx="5394960" cy="4297680"/>
          </a:xfrm>
          <a:prstGeom prst="roundRect">
            <a:avLst>
              <a:gd name="adj" fmla="val 2553"/>
            </a:avLst>
          </a:prstGeom>
          <a:solidFill>
            <a:srgbClr val="1E2761"/>
          </a:solidFill>
        </p:spPr>
      </p:sp>
      <p:sp>
        <p:nvSpPr>
          <p:cNvPr id="24" name="Shape 22"/>
          <p:cNvSpPr/>
          <p:nvPr/>
        </p:nvSpPr>
        <p:spPr>
          <a:xfrm>
            <a:off x="6492240" y="1965960"/>
            <a:ext cx="2011680" cy="365760"/>
          </a:xfrm>
          <a:prstGeom prst="roundRect">
            <a:avLst>
              <a:gd name="adj" fmla="val 50000"/>
            </a:avLst>
          </a:prstGeom>
          <a:solidFill>
            <a:srgbClr val="CADCFC"/>
          </a:solidFill>
        </p:spPr>
      </p:sp>
      <p:sp>
        <p:nvSpPr>
          <p:cNvPr id="25" name="Text 23"/>
          <p:cNvSpPr/>
          <p:nvPr/>
        </p:nvSpPr>
        <p:spPr>
          <a:xfrm>
            <a:off x="6492240" y="1965960"/>
            <a:ext cx="2011680" cy="365760"/>
          </a:xfrm>
          <a:prstGeom prst="rect">
            <a:avLst/>
          </a:prstGeom>
          <a:noFill/>
        </p:spPr>
        <p:txBody>
          <a:bodyPr wrap="square" lIns="0" tIns="0" rIns="0" bIns="0" rtlCol="0" anchor="ctr"/>
          <a:lstStyle/>
          <a:p>
            <a:pPr marL="0" indent="0" algn="ctr">
              <a:buNone/>
            </a:pPr>
            <a:r>
              <a:rPr lang="en-US" sz="1000" b="1" dirty="0">
                <a:solidFill>
                  <a:srgbClr val="1E2761"/>
                </a:solidFill>
                <a:latin typeface="Calibri" panose="020F0502020204030204" pitchFamily="34" charset="0"/>
                <a:ea typeface="Calibri" panose="020F0502020204030204" pitchFamily="34" charset="-122"/>
                <a:cs typeface="Calibri" panose="020F0502020204030204" pitchFamily="34" charset="-120"/>
              </a:rPr>
              <a:t>PHASE 2 · INFERENCE</a:t>
            </a:r>
            <a:endParaRPr lang="en-US" sz="1000" dirty="0"/>
          </a:p>
        </p:txBody>
      </p:sp>
      <p:sp>
        <p:nvSpPr>
          <p:cNvPr id="26" name="Text 24"/>
          <p:cNvSpPr/>
          <p:nvPr/>
        </p:nvSpPr>
        <p:spPr>
          <a:xfrm>
            <a:off x="6492240" y="2468880"/>
            <a:ext cx="4846320" cy="411480"/>
          </a:xfrm>
          <a:prstGeom prst="rect">
            <a:avLst/>
          </a:prstGeom>
          <a:noFill/>
        </p:spPr>
        <p:txBody>
          <a:bodyPr wrap="square" lIns="0" tIns="0" rIns="0" bIns="0" rtlCol="0" anchor="ctr"/>
          <a:lstStyle/>
          <a:p>
            <a:pPr marL="0" indent="0">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Streamlit Web App</a:t>
            </a:r>
            <a:endParaRPr lang="en-US" sz="1700" dirty="0"/>
          </a:p>
        </p:txBody>
      </p:sp>
      <p:sp>
        <p:nvSpPr>
          <p:cNvPr id="27" name="Shape 25"/>
          <p:cNvSpPr/>
          <p:nvPr/>
        </p:nvSpPr>
        <p:spPr>
          <a:xfrm>
            <a:off x="6620256" y="2999232"/>
            <a:ext cx="292608" cy="292608"/>
          </a:xfrm>
          <a:prstGeom prst="ellipse">
            <a:avLst/>
          </a:prstGeom>
          <a:solidFill>
            <a:srgbClr val="CADCFC"/>
          </a:solidFill>
        </p:spPr>
      </p:sp>
      <p:sp>
        <p:nvSpPr>
          <p:cNvPr id="28" name="Text 26"/>
          <p:cNvSpPr/>
          <p:nvPr/>
        </p:nvSpPr>
        <p:spPr>
          <a:xfrm>
            <a:off x="6620256" y="2999232"/>
            <a:ext cx="292608" cy="292608"/>
          </a:xfrm>
          <a:prstGeom prst="rect">
            <a:avLst/>
          </a:prstGeom>
          <a:noFill/>
        </p:spPr>
        <p:txBody>
          <a:bodyPr wrap="square" lIns="0" tIns="0" rIns="0" bIns="0" rtlCol="0" anchor="ctr"/>
          <a:lstStyle/>
          <a:p>
            <a:pPr marL="0" indent="0" algn="ctr">
              <a:buNone/>
            </a:pPr>
            <a:r>
              <a:rPr lang="en-US" sz="1100" b="1" dirty="0">
                <a:solidFill>
                  <a:srgbClr val="1E2761"/>
                </a:solidFill>
                <a:latin typeface="Arial" panose="020B0604020202020204" pitchFamily="34" charset="0"/>
                <a:ea typeface="Arial" panose="020B0604020202020204" pitchFamily="34" charset="-122"/>
                <a:cs typeface="Arial" panose="020B0604020202020204" pitchFamily="34" charset="-120"/>
              </a:rPr>
              <a:t>1</a:t>
            </a:r>
            <a:endParaRPr lang="en-US" sz="1100" dirty="0"/>
          </a:p>
        </p:txBody>
      </p:sp>
      <p:sp>
        <p:nvSpPr>
          <p:cNvPr id="29" name="Text 27"/>
          <p:cNvSpPr/>
          <p:nvPr/>
        </p:nvSpPr>
        <p:spPr>
          <a:xfrm>
            <a:off x="7086600" y="3017520"/>
            <a:ext cx="4343400" cy="457200"/>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Load model.pkl, scaler.pkl, columns.pkl</a:t>
            </a:r>
            <a:endParaRPr lang="en-US" sz="1150" dirty="0"/>
          </a:p>
        </p:txBody>
      </p:sp>
      <p:sp>
        <p:nvSpPr>
          <p:cNvPr id="30" name="Shape 28"/>
          <p:cNvSpPr/>
          <p:nvPr/>
        </p:nvSpPr>
        <p:spPr>
          <a:xfrm>
            <a:off x="6620256" y="3502152"/>
            <a:ext cx="292608" cy="292608"/>
          </a:xfrm>
          <a:prstGeom prst="ellipse">
            <a:avLst/>
          </a:prstGeom>
          <a:solidFill>
            <a:srgbClr val="CADCFC"/>
          </a:solidFill>
        </p:spPr>
      </p:sp>
      <p:sp>
        <p:nvSpPr>
          <p:cNvPr id="31" name="Text 29"/>
          <p:cNvSpPr/>
          <p:nvPr/>
        </p:nvSpPr>
        <p:spPr>
          <a:xfrm>
            <a:off x="6620256" y="3502152"/>
            <a:ext cx="292608" cy="292608"/>
          </a:xfrm>
          <a:prstGeom prst="rect">
            <a:avLst/>
          </a:prstGeom>
          <a:noFill/>
        </p:spPr>
        <p:txBody>
          <a:bodyPr wrap="square" lIns="0" tIns="0" rIns="0" bIns="0" rtlCol="0" anchor="ctr"/>
          <a:lstStyle/>
          <a:p>
            <a:pPr marL="0" indent="0" algn="ctr">
              <a:buNone/>
            </a:pPr>
            <a:r>
              <a:rPr lang="en-US" sz="1100" b="1" dirty="0">
                <a:solidFill>
                  <a:srgbClr val="1E2761"/>
                </a:solidFill>
                <a:latin typeface="Arial" panose="020B0604020202020204" pitchFamily="34" charset="0"/>
                <a:ea typeface="Arial" panose="020B0604020202020204" pitchFamily="34" charset="-122"/>
                <a:cs typeface="Arial" panose="020B0604020202020204" pitchFamily="34" charset="-120"/>
              </a:rPr>
              <a:t>2</a:t>
            </a:r>
            <a:endParaRPr lang="en-US" sz="1100" dirty="0"/>
          </a:p>
        </p:txBody>
      </p:sp>
      <p:sp>
        <p:nvSpPr>
          <p:cNvPr id="32" name="Text 30"/>
          <p:cNvSpPr/>
          <p:nvPr/>
        </p:nvSpPr>
        <p:spPr>
          <a:xfrm>
            <a:off x="7086600" y="3520440"/>
            <a:ext cx="4343400" cy="457200"/>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User enters one new transaction</a:t>
            </a:r>
            <a:endParaRPr lang="en-US" sz="1150" dirty="0"/>
          </a:p>
        </p:txBody>
      </p:sp>
      <p:sp>
        <p:nvSpPr>
          <p:cNvPr id="33" name="Shape 31"/>
          <p:cNvSpPr/>
          <p:nvPr/>
        </p:nvSpPr>
        <p:spPr>
          <a:xfrm>
            <a:off x="6620256" y="4005072"/>
            <a:ext cx="292608" cy="292608"/>
          </a:xfrm>
          <a:prstGeom prst="ellipse">
            <a:avLst/>
          </a:prstGeom>
          <a:solidFill>
            <a:srgbClr val="CADCFC"/>
          </a:solidFill>
        </p:spPr>
      </p:sp>
      <p:sp>
        <p:nvSpPr>
          <p:cNvPr id="34" name="Text 32"/>
          <p:cNvSpPr/>
          <p:nvPr/>
        </p:nvSpPr>
        <p:spPr>
          <a:xfrm>
            <a:off x="6620256" y="4005072"/>
            <a:ext cx="292608" cy="292608"/>
          </a:xfrm>
          <a:prstGeom prst="rect">
            <a:avLst/>
          </a:prstGeom>
          <a:noFill/>
        </p:spPr>
        <p:txBody>
          <a:bodyPr wrap="square" lIns="0" tIns="0" rIns="0" bIns="0" rtlCol="0" anchor="ctr"/>
          <a:lstStyle/>
          <a:p>
            <a:pPr marL="0" indent="0" algn="ctr">
              <a:buNone/>
            </a:pPr>
            <a:r>
              <a:rPr lang="en-US" sz="1100" b="1" dirty="0">
                <a:solidFill>
                  <a:srgbClr val="1E2761"/>
                </a:solidFill>
                <a:latin typeface="Arial" panose="020B0604020202020204" pitchFamily="34" charset="0"/>
                <a:ea typeface="Arial" panose="020B0604020202020204" pitchFamily="34" charset="-122"/>
                <a:cs typeface="Arial" panose="020B0604020202020204" pitchFamily="34" charset="-120"/>
              </a:rPr>
              <a:t>3</a:t>
            </a:r>
            <a:endParaRPr lang="en-US" sz="1100" dirty="0"/>
          </a:p>
        </p:txBody>
      </p:sp>
      <p:sp>
        <p:nvSpPr>
          <p:cNvPr id="35" name="Text 33"/>
          <p:cNvSpPr/>
          <p:nvPr/>
        </p:nvSpPr>
        <p:spPr>
          <a:xfrm>
            <a:off x="7086600" y="4023360"/>
            <a:ext cx="4343400" cy="457200"/>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Encode &amp; scale to match training format</a:t>
            </a:r>
            <a:endParaRPr lang="en-US" sz="1150" dirty="0"/>
          </a:p>
        </p:txBody>
      </p:sp>
      <p:sp>
        <p:nvSpPr>
          <p:cNvPr id="36" name="Shape 34"/>
          <p:cNvSpPr/>
          <p:nvPr/>
        </p:nvSpPr>
        <p:spPr>
          <a:xfrm>
            <a:off x="6620256" y="4507992"/>
            <a:ext cx="292608" cy="292608"/>
          </a:xfrm>
          <a:prstGeom prst="ellipse">
            <a:avLst/>
          </a:prstGeom>
          <a:solidFill>
            <a:srgbClr val="CADCFC"/>
          </a:solidFill>
        </p:spPr>
      </p:sp>
      <p:sp>
        <p:nvSpPr>
          <p:cNvPr id="37" name="Text 35"/>
          <p:cNvSpPr/>
          <p:nvPr/>
        </p:nvSpPr>
        <p:spPr>
          <a:xfrm>
            <a:off x="6620256" y="4507992"/>
            <a:ext cx="292608" cy="292608"/>
          </a:xfrm>
          <a:prstGeom prst="rect">
            <a:avLst/>
          </a:prstGeom>
          <a:noFill/>
        </p:spPr>
        <p:txBody>
          <a:bodyPr wrap="square" lIns="0" tIns="0" rIns="0" bIns="0" rtlCol="0" anchor="ctr"/>
          <a:lstStyle/>
          <a:p>
            <a:pPr marL="0" indent="0" algn="ctr">
              <a:buNone/>
            </a:pPr>
            <a:r>
              <a:rPr lang="en-US" sz="1100" b="1" dirty="0">
                <a:solidFill>
                  <a:srgbClr val="1E2761"/>
                </a:solidFill>
                <a:latin typeface="Arial" panose="020B0604020202020204" pitchFamily="34" charset="0"/>
                <a:ea typeface="Arial" panose="020B0604020202020204" pitchFamily="34" charset="-122"/>
                <a:cs typeface="Arial" panose="020B0604020202020204" pitchFamily="34" charset="-120"/>
              </a:rPr>
              <a:t>4</a:t>
            </a:r>
            <a:endParaRPr lang="en-US" sz="1100" dirty="0"/>
          </a:p>
        </p:txBody>
      </p:sp>
      <p:sp>
        <p:nvSpPr>
          <p:cNvPr id="38" name="Text 36"/>
          <p:cNvSpPr/>
          <p:nvPr/>
        </p:nvSpPr>
        <p:spPr>
          <a:xfrm>
            <a:off x="7086600" y="4526280"/>
            <a:ext cx="4343400" cy="457200"/>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model.predict() + predict_proba()</a:t>
            </a:r>
            <a:endParaRPr lang="en-US" sz="1150" dirty="0"/>
          </a:p>
        </p:txBody>
      </p:sp>
      <p:sp>
        <p:nvSpPr>
          <p:cNvPr id="39" name="Shape 37"/>
          <p:cNvSpPr/>
          <p:nvPr/>
        </p:nvSpPr>
        <p:spPr>
          <a:xfrm>
            <a:off x="6620256" y="5010912"/>
            <a:ext cx="292608" cy="292608"/>
          </a:xfrm>
          <a:prstGeom prst="ellipse">
            <a:avLst/>
          </a:prstGeom>
          <a:solidFill>
            <a:srgbClr val="CADCFC"/>
          </a:solidFill>
        </p:spPr>
      </p:sp>
      <p:sp>
        <p:nvSpPr>
          <p:cNvPr id="40" name="Text 38"/>
          <p:cNvSpPr/>
          <p:nvPr/>
        </p:nvSpPr>
        <p:spPr>
          <a:xfrm>
            <a:off x="6620256" y="5010912"/>
            <a:ext cx="292608" cy="292608"/>
          </a:xfrm>
          <a:prstGeom prst="rect">
            <a:avLst/>
          </a:prstGeom>
          <a:noFill/>
        </p:spPr>
        <p:txBody>
          <a:bodyPr wrap="square" lIns="0" tIns="0" rIns="0" bIns="0" rtlCol="0" anchor="ctr"/>
          <a:lstStyle/>
          <a:p>
            <a:pPr marL="0" indent="0" algn="ctr">
              <a:buNone/>
            </a:pPr>
            <a:r>
              <a:rPr lang="en-US" sz="1100" b="1" dirty="0">
                <a:solidFill>
                  <a:srgbClr val="1E2761"/>
                </a:solidFill>
                <a:latin typeface="Arial" panose="020B0604020202020204" pitchFamily="34" charset="0"/>
                <a:ea typeface="Arial" panose="020B0604020202020204" pitchFamily="34" charset="-122"/>
                <a:cs typeface="Arial" panose="020B0604020202020204" pitchFamily="34" charset="-120"/>
              </a:rPr>
              <a:t>5</a:t>
            </a:r>
            <a:endParaRPr lang="en-US" sz="1100" dirty="0"/>
          </a:p>
        </p:txBody>
      </p:sp>
      <p:sp>
        <p:nvSpPr>
          <p:cNvPr id="41" name="Text 39"/>
          <p:cNvSpPr/>
          <p:nvPr/>
        </p:nvSpPr>
        <p:spPr>
          <a:xfrm>
            <a:off x="7086600" y="5029200"/>
            <a:ext cx="4343400" cy="457200"/>
          </a:xfrm>
          <a:prstGeom prst="rect">
            <a:avLst/>
          </a:prstGeom>
          <a:noFill/>
        </p:spPr>
        <p:txBody>
          <a:bodyPr wrap="square" lIns="0" tIns="0" rIns="0" bIns="0" rtlCol="0" anchor="ctr"/>
          <a:lstStyle/>
          <a:p>
            <a:pPr marL="0" indent="0">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Display Fraud / Not-Fraud with confidence</a:t>
            </a:r>
            <a:endParaRPr lang="en-US" sz="1150" dirty="0"/>
          </a:p>
        </p:txBody>
      </p:sp>
      <p:sp>
        <p:nvSpPr>
          <p:cNvPr id="42" name="Text 40"/>
          <p:cNvSpPr/>
          <p:nvPr/>
        </p:nvSpPr>
        <p:spPr>
          <a:xfrm>
            <a:off x="548640" y="6172200"/>
            <a:ext cx="11064240" cy="365760"/>
          </a:xfrm>
          <a:prstGeom prst="rect">
            <a:avLst/>
          </a:prstGeom>
          <a:noFill/>
        </p:spPr>
        <p:txBody>
          <a:bodyPr wrap="square" lIns="0" tIns="0" rIns="0" bIns="0" rtlCol="0" anchor="ctr"/>
          <a:lstStyle/>
          <a:p>
            <a:pPr marL="0" indent="0" algn="ctr">
              <a:buNone/>
            </a:pPr>
            <a:r>
              <a:rPr lang="en-US" sz="1150" i="1" dirty="0">
                <a:solidFill>
                  <a:srgbClr val="5A6285"/>
                </a:solidFill>
                <a:latin typeface="Calibri" panose="020F0502020204030204" pitchFamily="34" charset="0"/>
                <a:ea typeface="Calibri" panose="020F0502020204030204" pitchFamily="34" charset="-122"/>
                <a:cs typeface="Calibri" panose="020F0502020204030204" pitchFamily="34" charset="-120"/>
              </a:rPr>
              <a:t>No SQL connection at runtime — the trained model is self-contained; the app needs only the .pkl files.</a:t>
            </a:r>
            <a:endParaRPr lang="en-US" sz="1150" dirty="0"/>
          </a:p>
        </p:txBody>
      </p:sp>
      <p:sp>
        <p:nvSpPr>
          <p:cNvPr id="43" name="Text 41"/>
          <p:cNvSpPr/>
          <p:nvPr/>
        </p:nvSpPr>
        <p:spPr>
          <a:xfrm>
            <a:off x="457200" y="6537960"/>
            <a:ext cx="5486400" cy="274320"/>
          </a:xfrm>
          <a:prstGeom prst="rect">
            <a:avLst/>
          </a:prstGeom>
          <a:noFill/>
        </p:spPr>
        <p:txBody>
          <a:bodyPr wrap="square" lIns="0" tIns="0" rIns="0" bIns="0" rtlCol="0" anchor="ctr"/>
          <a:lstStyle/>
          <a:p>
            <a:pPr marL="0" indent="0" algn="l">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FRAUD DETECTION ML PIPELINE</a:t>
            </a:r>
            <a:endParaRPr lang="en-US" sz="900" dirty="0"/>
          </a:p>
        </p:txBody>
      </p:sp>
      <p:sp>
        <p:nvSpPr>
          <p:cNvPr id="44" name="Text 42"/>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5A6285"/>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6-09-17 213625"/>
          <p:cNvPicPr>
            <a:picLocks noChangeAspect="1"/>
          </p:cNvPicPr>
          <p:nvPr/>
        </p:nvPicPr>
        <p:blipFill>
          <a:blip r:embed="rId1"/>
          <a:stretch>
            <a:fillRect/>
          </a:stretch>
        </p:blipFill>
        <p:spPr>
          <a:xfrm>
            <a:off x="1041400" y="854710"/>
            <a:ext cx="10108565" cy="5812790"/>
          </a:xfrm>
          <a:prstGeom prst="rect">
            <a:avLst/>
          </a:prstGeom>
        </p:spPr>
      </p:pic>
      <p:sp>
        <p:nvSpPr>
          <p:cNvPr id="4" name="Text Box 3"/>
          <p:cNvSpPr txBox="1"/>
          <p:nvPr/>
        </p:nvSpPr>
        <p:spPr>
          <a:xfrm>
            <a:off x="1041400" y="293370"/>
            <a:ext cx="9399905" cy="521970"/>
          </a:xfrm>
          <a:prstGeom prst="rect">
            <a:avLst/>
          </a:prstGeom>
          <a:noFill/>
        </p:spPr>
        <p:txBody>
          <a:bodyPr wrap="square" rtlCol="0">
            <a:spAutoFit/>
          </a:bodyPr>
          <a:p>
            <a:pPr algn="ctr"/>
            <a:r>
              <a:rPr lang="en-US" sz="2800" b="1"/>
              <a:t>DASHBOARD ON POWER BI</a:t>
            </a:r>
            <a:endParaRPr lang="en-US" sz="280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37185" y="248285"/>
            <a:ext cx="7688580" cy="694690"/>
          </a:xfrm>
          <a:prstGeom prst="rect">
            <a:avLst/>
          </a:prstGeom>
          <a:noFill/>
        </p:spPr>
        <p:txBody>
          <a:bodyPr wrap="square" rtlCol="0">
            <a:noAutofit/>
          </a:bodyPr>
          <a:p>
            <a:r>
              <a:rPr lang="en-US" sz="3600" b="1">
                <a:solidFill>
                  <a:schemeClr val="tx2">
                    <a:lumMod val="75000"/>
                  </a:schemeClr>
                </a:solidFill>
              </a:rPr>
              <a:t>STREAMLIT APPLICATION</a:t>
            </a:r>
            <a:endParaRPr lang="en-US" sz="3600" b="1">
              <a:solidFill>
                <a:schemeClr val="tx2">
                  <a:lumMod val="75000"/>
                </a:schemeClr>
              </a:solidFill>
            </a:endParaRPr>
          </a:p>
        </p:txBody>
      </p:sp>
      <p:pic>
        <p:nvPicPr>
          <p:cNvPr id="4" name="Picture 3" descr="Screenshot 2026-09-28 194749"/>
          <p:cNvPicPr>
            <a:picLocks noChangeAspect="1"/>
          </p:cNvPicPr>
          <p:nvPr/>
        </p:nvPicPr>
        <p:blipFill>
          <a:blip r:embed="rId1"/>
          <a:stretch>
            <a:fillRect/>
          </a:stretch>
        </p:blipFill>
        <p:spPr>
          <a:xfrm>
            <a:off x="1809750" y="942975"/>
            <a:ext cx="8201660" cy="55689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822960" y="822960"/>
            <a:ext cx="9601200" cy="73152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Conclusion </a:t>
            </a:r>
            <a:endParaRPr lang="en-US" sz="3400" dirty="0"/>
          </a:p>
        </p:txBody>
      </p:sp>
      <p:sp>
        <p:nvSpPr>
          <p:cNvPr id="4" name="Text 2"/>
          <p:cNvSpPr/>
          <p:nvPr/>
        </p:nvSpPr>
        <p:spPr>
          <a:xfrm>
            <a:off x="822960" y="1691640"/>
            <a:ext cx="9875520" cy="3775710"/>
          </a:xfrm>
          <a:prstGeom prst="rect">
            <a:avLst/>
          </a:prstGeom>
          <a:noFill/>
        </p:spPr>
        <p:txBody>
          <a:bodyPr wrap="square" lIns="0" tIns="0" rIns="0" bIns="0" rtlCol="0" anchor="ctr"/>
          <a:lstStyle/>
          <a:p>
            <a:pPr marL="0" indent="0">
              <a:lnSpc>
                <a:spcPct val="140000"/>
              </a:lnSpc>
              <a:buNone/>
            </a:pPr>
            <a:r>
              <a:rPr lang="en-US" sz="2000" b="1" dirty="0">
                <a:solidFill>
                  <a:schemeClr val="bg1"/>
                </a:solidFill>
                <a:latin typeface="Calibri" panose="020F0502020204030204" pitchFamily="34" charset="0"/>
                <a:ea typeface="Calibri" panose="020F0502020204030204" pitchFamily="34" charset="-122"/>
                <a:cs typeface="Calibri" panose="020F0502020204030204" pitchFamily="34" charset="-120"/>
              </a:rPr>
              <a:t>A Random Forest model, validated against overfitting and data leakage, and is deployed as a live Streamlit application.</a:t>
            </a:r>
            <a:endParaRPr lang="en-US" sz="2000" b="1"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40000"/>
              </a:lnSpc>
              <a:buNone/>
            </a:pPr>
            <a:r>
              <a:rPr lang="en-US" altLang="en-US" sz="2000" b="1" dirty="0">
                <a:solidFill>
                  <a:schemeClr val="bg1"/>
                </a:solidFill>
                <a:latin typeface="Calibri" panose="020F0502020204030204" pitchFamily="34" charset="0"/>
                <a:ea typeface="Calibri" panose="020F0502020204030204" pitchFamily="34" charset="-122"/>
                <a:cs typeface="Calibri" panose="020F0502020204030204" pitchFamily="34" charset="-120"/>
              </a:rPr>
              <a:t>project developed an end-to-end fraud detection system using SQL, Python, Machine Learning, and Power BI. Through EDA and feature engineering, we identified useful transaction patterns and trained three ML models. Random Forest was selected for deployment based on the evaluation results. The Power BI dashboard provides an easy way to monitor and analyze fraudulent transactions.</a:t>
            </a:r>
            <a:endParaRPr lang="en-US" altLang="en-US" sz="2000" b="1"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822960" y="5989320"/>
            <a:ext cx="5486400" cy="457200"/>
          </a:xfrm>
          <a:prstGeom prst="rect">
            <a:avLst/>
          </a:prstGeom>
          <a:noFill/>
        </p:spPr>
        <p:txBody>
          <a:bodyPr wrap="square" lIns="0" tIns="0" rIns="0" bIns="0" rtlCol="0" anchor="ctr"/>
          <a:lstStyle/>
          <a:p>
            <a:pPr marL="0" indent="0">
              <a:buNone/>
            </a:pPr>
            <a:r>
              <a:rPr lang="en-US" sz="1600" i="1" dirty="0">
                <a:solidFill>
                  <a:srgbClr val="AAB6E8"/>
                </a:solidFill>
                <a:latin typeface="Cambria" panose="02040503050406030204" pitchFamily="34" charset="0"/>
                <a:ea typeface="Cambria" panose="02040503050406030204" pitchFamily="34" charset="-122"/>
                <a:cs typeface="Cambria" panose="02040503050406030204" pitchFamily="34" charset="-120"/>
              </a:rPr>
              <a:t>Thank you</a:t>
            </a:r>
            <a:endParaRPr lang="en-US" sz="1600" dirty="0"/>
          </a:p>
        </p:txBody>
      </p:sp>
      <p:sp>
        <p:nvSpPr>
          <p:cNvPr id="18" name="Text 16"/>
          <p:cNvSpPr/>
          <p:nvPr/>
        </p:nvSpPr>
        <p:spPr>
          <a:xfrm>
            <a:off x="457200" y="6537960"/>
            <a:ext cx="54864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FRAUD DETECTION ML PIPELINE</a:t>
            </a:r>
            <a:endParaRPr lang="en-US" sz="900" dirty="0"/>
          </a:p>
        </p:txBody>
      </p:sp>
      <p:sp>
        <p:nvSpPr>
          <p:cNvPr id="19" name="Text 17"/>
          <p:cNvSpPr/>
          <p:nvPr/>
        </p:nvSpPr>
        <p:spPr>
          <a:xfrm>
            <a:off x="11338560" y="6537960"/>
            <a:ext cx="36576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9485</Words>
  <Application>WPS Presentation</Application>
  <PresentationFormat>On-screen Show (16:9)</PresentationFormat>
  <Paragraphs>634</Paragraphs>
  <Slides>20</Slides>
  <Notes>16</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20</vt:i4>
      </vt:variant>
    </vt:vector>
  </HeadingPairs>
  <TitlesOfParts>
    <vt:vector size="44" baseType="lpstr">
      <vt:lpstr>Arial</vt:lpstr>
      <vt:lpstr>SimSun</vt:lpstr>
      <vt:lpstr>Wingdings</vt:lpstr>
      <vt:lpstr>Cambria</vt:lpstr>
      <vt:lpstr>Cambria</vt:lpstr>
      <vt:lpstr>Cambria</vt:lpstr>
      <vt:lpstr>Calibri</vt:lpstr>
      <vt:lpstr>Calibri</vt:lpstr>
      <vt:lpstr>Calibri</vt:lpstr>
      <vt:lpstr>Wingdings</vt:lpstr>
      <vt:lpstr>Arial</vt:lpstr>
      <vt:lpstr>Arial</vt:lpstr>
      <vt:lpstr>Arial</vt:lpstr>
      <vt:lpstr>Calibri</vt:lpstr>
      <vt:lpstr>Courier New</vt:lpstr>
      <vt:lpstr>Courier New</vt:lpstr>
      <vt:lpstr>Courier New</vt:lpstr>
      <vt:lpstr>Microsoft YaHei</vt:lpstr>
      <vt:lpstr>Arial Unicode MS</vt:lpstr>
      <vt:lpstr>Calibri Light</vt:lpstr>
      <vt:lpstr>等线</vt:lpstr>
      <vt:lpstr>Algerian</vt:lpstr>
      <vt:lpstr>Arial Black</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Shahistha Khan</cp:lastModifiedBy>
  <cp:revision>6</cp:revision>
  <dcterms:created xsi:type="dcterms:W3CDTF">2026-09-17T06:17:00Z</dcterms:created>
  <dcterms:modified xsi:type="dcterms:W3CDTF">2026-09-28T14:24:43Z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94C4E501782E4413A25CC0D04BCDCB6B_13</vt:lpwstr>
  </property>
</Properties>
</file>